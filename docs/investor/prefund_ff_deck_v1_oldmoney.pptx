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personally: why you are showing this to them specifically. One sentence on what this is: a systematic trading program I built and run with my own money, now opening a small friends-and-family phase. Read the proposition sentence slowly — it is the whole deck in one line. Set expectations: this is a discussion, not a sales pitch; there is a formal legal step before any money moves.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this stage people invest in you, not in a pipeline. Speak plainly about your background and why you built this. The single most important sentence on this slide: the same systems run live on my own account since [date]. If your live history is short, say so plainly — honesty here buys trust for every later slide.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earns the rest of the deck: it names the problem before offering the solution. Do not attack fund managers or anyone in the room — the contrast is with how individuals typically run their own money, which every listener recognizes in themselves. One sentence to land it: the biggest risk in investing is not the market, it is the person making unrecorded, untested, emotional decisions — so I removed that person from the loop.</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the first real question — what am I joining — before any research talk. Be explicit that structure is pending legal review; that increases credibility, not decreases it. Walk the three sleeves in one sentence each: rotation, momentum, mean-reversion — three different return sources. Point at the labeling card: every number they will ever see from you is tagged backtest / paper / live.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message is NOT 'we discovered momentum'. It is: known anomalies are raw material; the work is verifying that a specific, tradable implementation still works after realism. Use the paper card to show this isn't your invention — it's science you re-verify independently. If asked for other edges: mention you research several families (trend, mean-reversion, structural flows) and most candidates get rejected — bridge to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your strongest differentiation vs. 'a guy with a backtest'. Walk the funnel top to bottom in 45 seconds. Emphasize the order: statistical signal evidence first (IC at the signal stage), then realistic portfolio backtest, then out-of-sample and path-risk bootstrap on the full return stream. The red panel is the punchline: most ideas die. Give the real X-to-Y count — it is the most memorable number in the deck.</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Counter-intuitive but powerful: showing a strategy you refused to trade builds more trust than another winning chart. Tell it as a story: found a real anomaly, gross results looked excellent, then realistic costs and a recent-period check killed it, and it never got a shekel. Punchline: every strategy that IS live survived exactly this treatment.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answers the question every friend actually has: what will my 100K do in a normal month, and how bad can it get? Explain the method in one sentence: we resample the portfolio's own daily returns in blocks thousands of times and read off the distribution — no fantasy assumptions. Never give a single number; always a range plus a bad case. The navy banner line is worth saying out loud — it separates you from every promise-maker they've met.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Counter-intuitively, this is a trust slide — naming the failure modes yourself means no one can ambush you with them later, and it separates you from every pitch that only shows upside. Walk each card in one sentence and connect it to a control the deck already showed: losing periods → the scenario slide; edge decay → live monitoring and retirement; overfitting → the rejection funnel; execution → halts and reconciliation. Close with the banner line, verbatim.</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this brief — two minutes. The theme: the same rigor that filters ideas also runs the live money. If the listener is technical, the reconciliation card is the interesting one: live fills are compared daily against what the model expected, and a divergence halts the sleeve. If non-technical, summarize: everything is rules, logged, and checked every day — no moods, no overrides.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growth story: the engine is market-agnostic, so each new exchange is a new, weakly correlated return source rather than more of the same U.S. risk. Canada and Australia are near-term because the data vendor already covers them to the same standard. Save the enthusiasm for TASE: a less crowded home market, and you are building the point-in-time database yourself before running a single backtest — that ordering (data before backtest) is the credibility point. Do not give dates; this is a roadmap, not a promise.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oversell here. State the terms, state that nothing is final until counsel signs off, and give the milestone path: you are early, and being early is the deal — better terms in exchange for backing the phase where the track record is built. End with one concrete next step: 'if this is interesting, the next conversation is the numbers pack for the exact portfolio, and the legal structure once counsel finalizes it.' Then stop talking.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C35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11480"/>
            <a:ext cx="11274552" cy="6035040"/>
          </a:xfrm>
          <a:prstGeom prst="rect">
            <a:avLst/>
          </a:prstGeom>
          <a:noFill/>
          <a:ln w="15240">
            <a:solidFill>
              <a:srgbClr val="8C7B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85216" y="539496"/>
            <a:ext cx="11018520" cy="5779008"/>
          </a:xfrm>
          <a:prstGeom prst="rect">
            <a:avLst/>
          </a:prstGeom>
          <a:noFill/>
          <a:ln w="6350">
            <a:solidFill>
              <a:srgbClr val="8C7B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554480" y="1371600"/>
            <a:ext cx="9079992" cy="320040"/>
          </a:xfrm>
          <a:prstGeom prst="rect">
            <a:avLst/>
          </a:prstGeom>
          <a:noFill/>
        </p:spPr>
        <p:txBody>
          <a:bodyPr wrap="square" lIns="0" rIns="0" tIns="0" bIns="0" anchor="t">
            <a:spAutoFit/>
          </a:bodyPr>
          <a:lstStyle/>
          <a:p>
            <a:pPr algn="ctr"/>
            <a:r>
              <a:rPr sz="1150" b="1" i="0" spc="300">
                <a:solidFill>
                  <a:srgbClr val="E4D9BE"/>
                </a:solidFill>
                <a:latin typeface="Cambria"/>
              </a:rPr>
              <a:t>PRE-FUND  ·  FRIENDS &amp; FAMILY  ·  CONFIDENTIAL</a:t>
            </a:r>
          </a:p>
        </p:txBody>
      </p:sp>
      <p:sp>
        <p:nvSpPr>
          <p:cNvPr id="6" name="TextBox 5"/>
          <p:cNvSpPr txBox="1"/>
          <p:nvPr/>
        </p:nvSpPr>
        <p:spPr>
          <a:xfrm>
            <a:off x="1554480" y="2057400"/>
            <a:ext cx="9079992" cy="914400"/>
          </a:xfrm>
          <a:prstGeom prst="rect">
            <a:avLst/>
          </a:prstGeom>
          <a:noFill/>
        </p:spPr>
        <p:txBody>
          <a:bodyPr wrap="square" lIns="0" rIns="0" tIns="0" bIns="0" anchor="t">
            <a:spAutoFit/>
          </a:bodyPr>
          <a:lstStyle/>
          <a:p>
            <a:pPr algn="ctr"/>
            <a:r>
              <a:rPr sz="4400" b="1" i="0">
                <a:solidFill>
                  <a:srgbClr val="FFFFFF"/>
                </a:solidFill>
                <a:latin typeface="Palatino Linotype"/>
              </a:rPr>
              <a:t>[ Program Name ]</a:t>
            </a:r>
          </a:p>
        </p:txBody>
      </p:sp>
      <p:sp>
        <p:nvSpPr>
          <p:cNvPr id="7" name="Rounded Rectangle 6"/>
          <p:cNvSpPr/>
          <p:nvPr/>
        </p:nvSpPr>
        <p:spPr>
          <a:xfrm>
            <a:off x="4910328" y="3154680"/>
            <a:ext cx="2377440" cy="292608"/>
          </a:xfrm>
          <a:prstGeom prst="roundRect">
            <a:avLst>
              <a:gd name="adj" fmla="val 50000"/>
            </a:avLst>
          </a:prstGeom>
          <a:solidFill>
            <a:srgbClr val="F0E7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0056" y="3154680"/>
            <a:ext cx="2157984" cy="292608"/>
          </a:xfrm>
          <a:prstGeom prst="rect">
            <a:avLst/>
          </a:prstGeom>
          <a:noFill/>
        </p:spPr>
        <p:txBody>
          <a:bodyPr wrap="square" lIns="0" rIns="0" tIns="0" bIns="0" anchor="ctr">
            <a:spAutoFit/>
          </a:bodyPr>
          <a:lstStyle/>
          <a:p>
            <a:pPr algn="l"/>
            <a:r>
              <a:rPr sz="1050" b="1" i="0">
                <a:solidFill>
                  <a:srgbClr val="8C6D1F"/>
                </a:solidFill>
                <a:latin typeface="Cambria"/>
              </a:rPr>
              <a:t>YOU:  pick a program name</a:t>
            </a:r>
          </a:p>
        </p:txBody>
      </p:sp>
      <p:sp>
        <p:nvSpPr>
          <p:cNvPr id="9" name="TextBox 8"/>
          <p:cNvSpPr txBox="1"/>
          <p:nvPr/>
        </p:nvSpPr>
        <p:spPr>
          <a:xfrm>
            <a:off x="2011680" y="3703320"/>
            <a:ext cx="8165592" cy="1143000"/>
          </a:xfrm>
          <a:prstGeom prst="rect">
            <a:avLst/>
          </a:prstGeom>
          <a:noFill/>
        </p:spPr>
        <p:txBody>
          <a:bodyPr wrap="square" lIns="0" rIns="0" tIns="0" bIns="0" anchor="t">
            <a:spAutoFit/>
          </a:bodyPr>
          <a:lstStyle/>
          <a:p>
            <a:pPr algn="ctr">
              <a:lnSpc>
                <a:spcPct val="120000"/>
              </a:lnSpc>
            </a:pPr>
            <a:r>
              <a:rPr sz="1600" b="0" i="0">
                <a:solidFill>
                  <a:srgbClr val="E4D9BE"/>
                </a:solidFill>
                <a:latin typeface="Cambria"/>
              </a:rPr>
              <a:t>A portfolio of independent, explainable market edges — funded only after each one survives causal research, realistic execution testing, and portfolio-level risk analysis.</a:t>
            </a:r>
          </a:p>
        </p:txBody>
      </p:sp>
      <p:sp>
        <p:nvSpPr>
          <p:cNvPr id="10" name="TextBox 9"/>
          <p:cNvSpPr txBox="1"/>
          <p:nvPr/>
        </p:nvSpPr>
        <p:spPr>
          <a:xfrm>
            <a:off x="1554480" y="5074920"/>
            <a:ext cx="9079992" cy="320040"/>
          </a:xfrm>
          <a:prstGeom prst="rect">
            <a:avLst/>
          </a:prstGeom>
          <a:noFill/>
        </p:spPr>
        <p:txBody>
          <a:bodyPr wrap="square" lIns="0" rIns="0" tIns="0" bIns="0" anchor="t">
            <a:spAutoFit/>
          </a:bodyPr>
          <a:lstStyle/>
          <a:p>
            <a:pPr algn="ctr"/>
            <a:r>
              <a:rPr sz="1300" b="1" i="0">
                <a:solidFill>
                  <a:srgbClr val="FFFFFF"/>
                </a:solidFill>
                <a:latin typeface="Cambria"/>
              </a:rPr>
              <a:t>Loren [ surname ]   ·   July 2026</a:t>
            </a:r>
          </a:p>
        </p:txBody>
      </p:sp>
      <p:sp>
        <p:nvSpPr>
          <p:cNvPr id="11" name="Rounded Rectangle 10"/>
          <p:cNvSpPr/>
          <p:nvPr/>
        </p:nvSpPr>
        <p:spPr>
          <a:xfrm>
            <a:off x="5047488" y="5468112"/>
            <a:ext cx="2103120" cy="292608"/>
          </a:xfrm>
          <a:prstGeom prst="roundRect">
            <a:avLst>
              <a:gd name="adj" fmla="val 50000"/>
            </a:avLst>
          </a:prstGeom>
          <a:solidFill>
            <a:srgbClr val="F0E7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157216" y="5468112"/>
            <a:ext cx="1883663" cy="292608"/>
          </a:xfrm>
          <a:prstGeom prst="rect">
            <a:avLst/>
          </a:prstGeom>
          <a:noFill/>
        </p:spPr>
        <p:txBody>
          <a:bodyPr wrap="square" lIns="0" rIns="0" tIns="0" bIns="0" anchor="ctr">
            <a:spAutoFit/>
          </a:bodyPr>
          <a:lstStyle/>
          <a:p>
            <a:pPr algn="l"/>
            <a:r>
              <a:rPr sz="1050" b="1" i="0">
                <a:solidFill>
                  <a:srgbClr val="8C6D1F"/>
                </a:solidFill>
                <a:latin typeface="Cambria"/>
              </a:rPr>
              <a:t>YOU:  add full name</a:t>
            </a:r>
          </a:p>
        </p:txBody>
      </p:sp>
      <p:sp>
        <p:nvSpPr>
          <p:cNvPr id="13" name="TextBox 12"/>
          <p:cNvSpPr txBox="1"/>
          <p:nvPr/>
        </p:nvSpPr>
        <p:spPr>
          <a:xfrm>
            <a:off x="1554480" y="5989320"/>
            <a:ext cx="9079992" cy="274320"/>
          </a:xfrm>
          <a:prstGeom prst="rect">
            <a:avLst/>
          </a:prstGeom>
          <a:noFill/>
        </p:spPr>
        <p:txBody>
          <a:bodyPr wrap="square" lIns="0" rIns="0" tIns="0" bIns="0" anchor="t">
            <a:spAutoFit/>
          </a:bodyPr>
          <a:lstStyle/>
          <a:p>
            <a:pPr algn="ctr"/>
            <a:r>
              <a:rPr sz="850" b="0" i="0">
                <a:solidFill>
                  <a:srgbClr val="AFA37D"/>
                </a:solidFill>
                <a:latin typeface="Cambria"/>
              </a:rPr>
              <a:t>Private discussion document for a limited number of acquaintances. Not an offer of securities or investment advice.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9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10972800" cy="274320"/>
          </a:xfrm>
          <a:prstGeom prst="rect">
            <a:avLst/>
          </a:prstGeom>
          <a:noFill/>
        </p:spPr>
        <p:txBody>
          <a:bodyPr wrap="square" lIns="0" rIns="0" tIns="0" bIns="0" anchor="t">
            <a:spAutoFit/>
          </a:bodyPr>
          <a:lstStyle/>
          <a:p>
            <a:pPr algn="l"/>
            <a:r>
              <a:rPr sz="1100" b="1" i="0" spc="220">
                <a:solidFill>
                  <a:srgbClr val="8C7B4F"/>
                </a:solidFill>
                <a:latin typeface="Cambria"/>
              </a:rPr>
              <a:t>WHO IS BEHIND THIS</a:t>
            </a:r>
          </a:p>
        </p:txBody>
      </p:sp>
      <p:sp>
        <p:nvSpPr>
          <p:cNvPr id="4" name="TextBox 3"/>
          <p:cNvSpPr txBox="1"/>
          <p:nvPr/>
        </p:nvSpPr>
        <p:spPr>
          <a:xfrm>
            <a:off x="640080" y="658368"/>
            <a:ext cx="10972800" cy="685800"/>
          </a:xfrm>
          <a:prstGeom prst="rect">
            <a:avLst/>
          </a:prstGeom>
          <a:noFill/>
        </p:spPr>
        <p:txBody>
          <a:bodyPr wrap="square" lIns="0" rIns="0" tIns="0" bIns="0" anchor="t">
            <a:spAutoFit/>
          </a:bodyPr>
          <a:lstStyle/>
          <a:p>
            <a:pPr algn="l"/>
            <a:r>
              <a:rPr sz="3000" b="1" i="0">
                <a:solidFill>
                  <a:srgbClr val="1C3527"/>
                </a:solidFill>
                <a:latin typeface="Palatino Linotype"/>
              </a:rPr>
              <a:t>One founder, own capital, full stack</a:t>
            </a:r>
          </a:p>
        </p:txBody>
      </p:sp>
      <p:sp>
        <p:nvSpPr>
          <p:cNvPr id="5" name="Rounded Rectangle 4"/>
          <p:cNvSpPr/>
          <p:nvPr/>
        </p:nvSpPr>
        <p:spPr>
          <a:xfrm>
            <a:off x="640080" y="1554480"/>
            <a:ext cx="3017520" cy="3657600"/>
          </a:xfrm>
          <a:prstGeom prst="roundRect">
            <a:avLst>
              <a:gd name="adj" fmla="val 4000"/>
            </a:avLst>
          </a:prstGeom>
          <a:solidFill>
            <a:srgbClr val="F7F9FC"/>
          </a:solidFill>
          <a:ln w="15240">
            <a:solidFill>
              <a:srgbClr val="8C6D1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554480"/>
            <a:ext cx="2560320" cy="3657600"/>
          </a:xfrm>
          <a:prstGeom prst="rect">
            <a:avLst/>
          </a:prstGeom>
          <a:noFill/>
        </p:spPr>
        <p:txBody>
          <a:bodyPr wrap="square" lIns="0" rIns="0" tIns="0" bIns="0" anchor="ctr">
            <a:spAutoFit/>
          </a:bodyPr>
          <a:lstStyle/>
          <a:p>
            <a:pPr algn="ctr"/>
            <a:r>
              <a:rPr sz="1200" b="0" i="0">
                <a:solidFill>
                  <a:srgbClr val="8C6D1F"/>
                </a:solidFill>
                <a:latin typeface="Cambria"/>
              </a:rPr>
              <a:t>YOUR PHOTO
(professional, simple background)</a:t>
            </a:r>
          </a:p>
        </p:txBody>
      </p:sp>
      <p:sp>
        <p:nvSpPr>
          <p:cNvPr id="7" name="Rounded Rectangle 6"/>
          <p:cNvSpPr/>
          <p:nvPr/>
        </p:nvSpPr>
        <p:spPr>
          <a:xfrm>
            <a:off x="640080" y="5349240"/>
            <a:ext cx="3017520" cy="292608"/>
          </a:xfrm>
          <a:prstGeom prst="roundRect">
            <a:avLst>
              <a:gd name="adj" fmla="val 50000"/>
            </a:avLst>
          </a:prstGeom>
          <a:solidFill>
            <a:srgbClr val="F0E7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5349240"/>
            <a:ext cx="2798063" cy="292608"/>
          </a:xfrm>
          <a:prstGeom prst="rect">
            <a:avLst/>
          </a:prstGeom>
          <a:noFill/>
        </p:spPr>
        <p:txBody>
          <a:bodyPr wrap="square" lIns="0" rIns="0" tIns="0" bIns="0" anchor="ctr">
            <a:spAutoFit/>
          </a:bodyPr>
          <a:lstStyle/>
          <a:p>
            <a:pPr algn="l"/>
            <a:r>
              <a:rPr sz="1050" b="1" i="0">
                <a:solidFill>
                  <a:srgbClr val="8C6D1F"/>
                </a:solidFill>
                <a:latin typeface="Cambria"/>
              </a:rPr>
              <a:t>YOU:  add photo + short bio line</a:t>
            </a:r>
          </a:p>
        </p:txBody>
      </p:sp>
      <p:sp>
        <p:nvSpPr>
          <p:cNvPr id="9" name="Rounded Rectangle 8"/>
          <p:cNvSpPr/>
          <p:nvPr/>
        </p:nvSpPr>
        <p:spPr>
          <a:xfrm>
            <a:off x="4114800" y="1645920"/>
            <a:ext cx="566928" cy="566928"/>
          </a:xfrm>
          <a:prstGeom prst="roundRect">
            <a:avLst>
              <a:gd name="adj" fmla="val 50000"/>
            </a:avLst>
          </a:prstGeom>
          <a:solidFill>
            <a:srgbClr val="F3ED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user.png"/>
          <p:cNvPicPr>
            <a:picLocks noChangeAspect="1"/>
          </p:cNvPicPr>
          <p:nvPr/>
        </p:nvPicPr>
        <p:blipFill>
          <a:blip r:embed="rId2"/>
          <a:stretch>
            <a:fillRect/>
          </a:stretch>
        </p:blipFill>
        <p:spPr>
          <a:xfrm>
            <a:off x="4239524" y="1770644"/>
            <a:ext cx="317479" cy="317479"/>
          </a:xfrm>
          <a:prstGeom prst="rect">
            <a:avLst/>
          </a:prstGeom>
        </p:spPr>
      </p:pic>
      <p:sp>
        <p:nvSpPr>
          <p:cNvPr id="11" name="TextBox 10"/>
          <p:cNvSpPr txBox="1"/>
          <p:nvPr/>
        </p:nvSpPr>
        <p:spPr>
          <a:xfrm>
            <a:off x="4892040" y="1600200"/>
            <a:ext cx="6583680" cy="292608"/>
          </a:xfrm>
          <a:prstGeom prst="rect">
            <a:avLst/>
          </a:prstGeom>
          <a:noFill/>
        </p:spPr>
        <p:txBody>
          <a:bodyPr wrap="square" lIns="0" rIns="0" tIns="0" bIns="0" anchor="t">
            <a:spAutoFit/>
          </a:bodyPr>
          <a:lstStyle/>
          <a:p>
            <a:pPr algn="l"/>
            <a:r>
              <a:rPr sz="1600" b="1" i="0">
                <a:solidFill>
                  <a:srgbClr val="1C3527"/>
                </a:solidFill>
                <a:latin typeface="Palatino Linotype"/>
              </a:rPr>
              <a:t>Background</a:t>
            </a:r>
          </a:p>
        </p:txBody>
      </p:sp>
      <p:sp>
        <p:nvSpPr>
          <p:cNvPr id="12" name="TextBox 11"/>
          <p:cNvSpPr txBox="1"/>
          <p:nvPr/>
        </p:nvSpPr>
        <p:spPr>
          <a:xfrm>
            <a:off x="4892040" y="1947672"/>
            <a:ext cx="6583680" cy="777240"/>
          </a:xfrm>
          <a:prstGeom prst="rect">
            <a:avLst/>
          </a:prstGeom>
          <a:noFill/>
        </p:spPr>
        <p:txBody>
          <a:bodyPr wrap="square" lIns="0" rIns="0" tIns="0" bIns="0" anchor="t">
            <a:spAutoFit/>
          </a:bodyPr>
          <a:lstStyle/>
          <a:p>
            <a:pPr algn="l">
              <a:lnSpc>
                <a:spcPct val="110000"/>
              </a:lnSpc>
            </a:pPr>
            <a:r>
              <a:rPr sz="1300" b="0" i="0">
                <a:solidFill>
                  <a:srgbClr val="2C2A24"/>
                </a:solidFill>
                <a:latin typeface="Cambria"/>
              </a:rPr>
              <a:t>[ 1–2 lines: your professional background, quant/engineering experience, since when you trade ]</a:t>
            </a:r>
          </a:p>
        </p:txBody>
      </p:sp>
      <p:sp>
        <p:nvSpPr>
          <p:cNvPr id="13" name="Rounded Rectangle 12"/>
          <p:cNvSpPr/>
          <p:nvPr/>
        </p:nvSpPr>
        <p:spPr>
          <a:xfrm>
            <a:off x="4114800" y="2971800"/>
            <a:ext cx="566928" cy="566928"/>
          </a:xfrm>
          <a:prstGeom prst="roundRect">
            <a:avLst>
              <a:gd name="adj" fmla="val 50000"/>
            </a:avLst>
          </a:prstGeom>
          <a:solidFill>
            <a:srgbClr val="F3ED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chart.png"/>
          <p:cNvPicPr>
            <a:picLocks noChangeAspect="1"/>
          </p:cNvPicPr>
          <p:nvPr/>
        </p:nvPicPr>
        <p:blipFill>
          <a:blip r:embed="rId3"/>
          <a:stretch>
            <a:fillRect/>
          </a:stretch>
        </p:blipFill>
        <p:spPr>
          <a:xfrm>
            <a:off x="4239524" y="3096524"/>
            <a:ext cx="317479" cy="317479"/>
          </a:xfrm>
          <a:prstGeom prst="rect">
            <a:avLst/>
          </a:prstGeom>
        </p:spPr>
      </p:pic>
      <p:sp>
        <p:nvSpPr>
          <p:cNvPr id="15" name="TextBox 14"/>
          <p:cNvSpPr txBox="1"/>
          <p:nvPr/>
        </p:nvSpPr>
        <p:spPr>
          <a:xfrm>
            <a:off x="4892040" y="2926080"/>
            <a:ext cx="6583680" cy="292608"/>
          </a:xfrm>
          <a:prstGeom prst="rect">
            <a:avLst/>
          </a:prstGeom>
          <a:noFill/>
        </p:spPr>
        <p:txBody>
          <a:bodyPr wrap="square" lIns="0" rIns="0" tIns="0" bIns="0" anchor="t">
            <a:spAutoFit/>
          </a:bodyPr>
          <a:lstStyle/>
          <a:p>
            <a:pPr algn="l"/>
            <a:r>
              <a:rPr sz="1600" b="1" i="0">
                <a:solidFill>
                  <a:srgbClr val="1C3527"/>
                </a:solidFill>
                <a:latin typeface="Palatino Linotype"/>
              </a:rPr>
              <a:t>Live, with my own capital</a:t>
            </a:r>
          </a:p>
        </p:txBody>
      </p:sp>
      <p:sp>
        <p:nvSpPr>
          <p:cNvPr id="16" name="TextBox 15"/>
          <p:cNvSpPr txBox="1"/>
          <p:nvPr/>
        </p:nvSpPr>
        <p:spPr>
          <a:xfrm>
            <a:off x="4892040" y="3273552"/>
            <a:ext cx="6583680" cy="777240"/>
          </a:xfrm>
          <a:prstGeom prst="rect">
            <a:avLst/>
          </a:prstGeom>
          <a:noFill/>
        </p:spPr>
        <p:txBody>
          <a:bodyPr wrap="square" lIns="0" rIns="0" tIns="0" bIns="0" anchor="t">
            <a:spAutoFit/>
          </a:bodyPr>
          <a:lstStyle/>
          <a:p>
            <a:pPr algn="l">
              <a:lnSpc>
                <a:spcPct val="110000"/>
              </a:lnSpc>
            </a:pPr>
            <a:r>
              <a:rPr sz="1300" b="0" i="0">
                <a:solidFill>
                  <a:srgbClr val="2C2A24"/>
                </a:solidFill>
                <a:latin typeface="Cambria"/>
              </a:rPr>
              <a:t>The exact systems in this deck run live on my personal account since [ date ], currently [ $ amount ] deployed. I eat my own cooking first.</a:t>
            </a:r>
          </a:p>
        </p:txBody>
      </p:sp>
      <p:sp>
        <p:nvSpPr>
          <p:cNvPr id="17" name="Rounded Rectangle 16"/>
          <p:cNvSpPr/>
          <p:nvPr/>
        </p:nvSpPr>
        <p:spPr>
          <a:xfrm>
            <a:off x="4114800" y="4297680"/>
            <a:ext cx="566928" cy="566928"/>
          </a:xfrm>
          <a:prstGeom prst="roundRect">
            <a:avLst>
              <a:gd name="adj" fmla="val 50000"/>
            </a:avLst>
          </a:prstGeom>
          <a:solidFill>
            <a:srgbClr val="F3ED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target.png"/>
          <p:cNvPicPr>
            <a:picLocks noChangeAspect="1"/>
          </p:cNvPicPr>
          <p:nvPr/>
        </p:nvPicPr>
        <p:blipFill>
          <a:blip r:embed="rId4"/>
          <a:stretch>
            <a:fillRect/>
          </a:stretch>
        </p:blipFill>
        <p:spPr>
          <a:xfrm>
            <a:off x="4239524" y="4422404"/>
            <a:ext cx="317479" cy="317479"/>
          </a:xfrm>
          <a:prstGeom prst="rect">
            <a:avLst/>
          </a:prstGeom>
        </p:spPr>
      </p:pic>
      <p:sp>
        <p:nvSpPr>
          <p:cNvPr id="19" name="TextBox 18"/>
          <p:cNvSpPr txBox="1"/>
          <p:nvPr/>
        </p:nvSpPr>
        <p:spPr>
          <a:xfrm>
            <a:off x="4892040" y="4251960"/>
            <a:ext cx="6583680" cy="292608"/>
          </a:xfrm>
          <a:prstGeom prst="rect">
            <a:avLst/>
          </a:prstGeom>
          <a:noFill/>
        </p:spPr>
        <p:txBody>
          <a:bodyPr wrap="square" lIns="0" rIns="0" tIns="0" bIns="0" anchor="t">
            <a:spAutoFit/>
          </a:bodyPr>
          <a:lstStyle/>
          <a:p>
            <a:pPr algn="l"/>
            <a:r>
              <a:rPr sz="1600" b="1" i="0">
                <a:solidFill>
                  <a:srgbClr val="1C3527"/>
                </a:solidFill>
                <a:latin typeface="Palatino Linotype"/>
              </a:rPr>
              <a:t>Alignment</a:t>
            </a:r>
          </a:p>
        </p:txBody>
      </p:sp>
      <p:sp>
        <p:nvSpPr>
          <p:cNvPr id="20" name="TextBox 19"/>
          <p:cNvSpPr txBox="1"/>
          <p:nvPr/>
        </p:nvSpPr>
        <p:spPr>
          <a:xfrm>
            <a:off x="4892040" y="4599432"/>
            <a:ext cx="6583680" cy="777240"/>
          </a:xfrm>
          <a:prstGeom prst="rect">
            <a:avLst/>
          </a:prstGeom>
          <a:noFill/>
        </p:spPr>
        <p:txBody>
          <a:bodyPr wrap="square" lIns="0" rIns="0" tIns="0" bIns="0" anchor="t">
            <a:spAutoFit/>
          </a:bodyPr>
          <a:lstStyle/>
          <a:p>
            <a:pPr algn="l">
              <a:lnSpc>
                <a:spcPct val="110000"/>
              </a:lnSpc>
            </a:pPr>
            <a:r>
              <a:rPr sz="1300" b="0" i="0">
                <a:solidFill>
                  <a:srgbClr val="2C2A24"/>
                </a:solidFill>
                <a:latin typeface="Cambria"/>
              </a:rPr>
              <a:t>Same portfolio, same execution, same risk limits for my money and yours. You will always know which results are live and which are simulated.</a:t>
            </a:r>
          </a:p>
        </p:txBody>
      </p:sp>
      <p:sp>
        <p:nvSpPr>
          <p:cNvPr id="21" name="Rounded Rectangle 20"/>
          <p:cNvSpPr/>
          <p:nvPr/>
        </p:nvSpPr>
        <p:spPr>
          <a:xfrm>
            <a:off x="4892040" y="5623560"/>
            <a:ext cx="4206240" cy="292608"/>
          </a:xfrm>
          <a:prstGeom prst="roundRect">
            <a:avLst>
              <a:gd name="adj" fmla="val 50000"/>
            </a:avLst>
          </a:prstGeom>
          <a:solidFill>
            <a:srgbClr val="F0E7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001768" y="5623560"/>
            <a:ext cx="3986783" cy="292608"/>
          </a:xfrm>
          <a:prstGeom prst="rect">
            <a:avLst/>
          </a:prstGeom>
          <a:noFill/>
        </p:spPr>
        <p:txBody>
          <a:bodyPr wrap="square" lIns="0" rIns="0" tIns="0" bIns="0" anchor="ctr">
            <a:spAutoFit/>
          </a:bodyPr>
          <a:lstStyle/>
          <a:p>
            <a:pPr algn="l"/>
            <a:r>
              <a:rPr sz="1050" b="1" i="0">
                <a:solidFill>
                  <a:srgbClr val="8C6D1F"/>
                </a:solidFill>
                <a:latin typeface="Cambria"/>
              </a:rPr>
              <a:t>YOU:  fill background, live-since date, deployed amount</a:t>
            </a:r>
          </a:p>
        </p:txBody>
      </p:sp>
      <p:sp>
        <p:nvSpPr>
          <p:cNvPr id="23" name="TextBox 22"/>
          <p:cNvSpPr txBox="1"/>
          <p:nvPr/>
        </p:nvSpPr>
        <p:spPr>
          <a:xfrm>
            <a:off x="640080" y="6473952"/>
            <a:ext cx="8229600" cy="274320"/>
          </a:xfrm>
          <a:prstGeom prst="rect">
            <a:avLst/>
          </a:prstGeom>
          <a:noFill/>
        </p:spPr>
        <p:txBody>
          <a:bodyPr wrap="square" lIns="0" rIns="0" tIns="0" bIns="0" anchor="t">
            <a:spAutoFit/>
          </a:bodyPr>
          <a:lstStyle/>
          <a:p>
            <a:pPr algn="l"/>
            <a:r>
              <a:rPr sz="850" b="0" i="0">
                <a:solidFill>
                  <a:srgbClr val="9C937F"/>
                </a:solidFill>
                <a:latin typeface="Cambria"/>
              </a:rPr>
              <a:t>Confidential — private discussion document. Not an offer of securities or investment advice.</a:t>
            </a:r>
          </a:p>
        </p:txBody>
      </p:sp>
      <p:sp>
        <p:nvSpPr>
          <p:cNvPr id="24" name="TextBox 23"/>
          <p:cNvSpPr txBox="1"/>
          <p:nvPr/>
        </p:nvSpPr>
        <p:spPr>
          <a:xfrm>
            <a:off x="11247120" y="6473952"/>
            <a:ext cx="365760" cy="274320"/>
          </a:xfrm>
          <a:prstGeom prst="rect">
            <a:avLst/>
          </a:prstGeom>
          <a:noFill/>
        </p:spPr>
        <p:txBody>
          <a:bodyPr wrap="square" lIns="0" rIns="0" tIns="0" bIns="0" anchor="t">
            <a:spAutoFit/>
          </a:bodyPr>
          <a:lstStyle/>
          <a:p>
            <a:pPr algn="r"/>
            <a:r>
              <a:rPr sz="900" b="0" i="0">
                <a:solidFill>
                  <a:srgbClr val="9C937F"/>
                </a:solidFill>
                <a:latin typeface="Cambria"/>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9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10972800" cy="274320"/>
          </a:xfrm>
          <a:prstGeom prst="rect">
            <a:avLst/>
          </a:prstGeom>
          <a:noFill/>
        </p:spPr>
        <p:txBody>
          <a:bodyPr wrap="square" lIns="0" rIns="0" tIns="0" bIns="0" anchor="t">
            <a:spAutoFit/>
          </a:bodyPr>
          <a:lstStyle/>
          <a:p>
            <a:pPr algn="l"/>
            <a:r>
              <a:rPr sz="1100" b="1" i="0" spc="220">
                <a:solidFill>
                  <a:srgbClr val="8C7B4F"/>
                </a:solidFill>
                <a:latin typeface="Cambria"/>
              </a:rPr>
              <a:t>WHY SYSTEMATIC</a:t>
            </a:r>
          </a:p>
        </p:txBody>
      </p:sp>
      <p:sp>
        <p:nvSpPr>
          <p:cNvPr id="4" name="TextBox 3"/>
          <p:cNvSpPr txBox="1"/>
          <p:nvPr/>
        </p:nvSpPr>
        <p:spPr>
          <a:xfrm>
            <a:off x="640080" y="658368"/>
            <a:ext cx="10972800" cy="685800"/>
          </a:xfrm>
          <a:prstGeom prst="rect">
            <a:avLst/>
          </a:prstGeom>
          <a:noFill/>
        </p:spPr>
        <p:txBody>
          <a:bodyPr wrap="square" lIns="0" rIns="0" tIns="0" bIns="0" anchor="t">
            <a:spAutoFit/>
          </a:bodyPr>
          <a:lstStyle/>
          <a:p>
            <a:pPr algn="l"/>
            <a:r>
              <a:rPr sz="3000" b="1" i="0">
                <a:solidFill>
                  <a:srgbClr val="1C3527"/>
                </a:solidFill>
                <a:latin typeface="Palatino Linotype"/>
              </a:rPr>
              <a:t>Markets punish improvisation</a:t>
            </a:r>
          </a:p>
        </p:txBody>
      </p:sp>
      <p:sp>
        <p:nvSpPr>
          <p:cNvPr id="5" name="Rounded Rectangle 4"/>
          <p:cNvSpPr/>
          <p:nvPr/>
        </p:nvSpPr>
        <p:spPr>
          <a:xfrm>
            <a:off x="640080" y="1554480"/>
            <a:ext cx="5349240" cy="4160520"/>
          </a:xfrm>
          <a:prstGeom prst="roundRect">
            <a:avLst>
              <a:gd name="adj" fmla="val 6000"/>
            </a:avLst>
          </a:prstGeom>
          <a:solidFill>
            <a:srgbClr val="F5E7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810512"/>
            <a:ext cx="4800600" cy="365760"/>
          </a:xfrm>
          <a:prstGeom prst="rect">
            <a:avLst/>
          </a:prstGeom>
          <a:noFill/>
        </p:spPr>
        <p:txBody>
          <a:bodyPr wrap="square" lIns="0" rIns="0" tIns="0" bIns="0" anchor="t">
            <a:spAutoFit/>
          </a:bodyPr>
          <a:lstStyle/>
          <a:p>
            <a:pPr algn="l"/>
            <a:r>
              <a:rPr sz="1650" b="1" i="0">
                <a:solidFill>
                  <a:srgbClr val="6B2430"/>
                </a:solidFill>
                <a:latin typeface="Palatino Linotype"/>
              </a:rPr>
              <a:t>How most private money is run</a:t>
            </a:r>
          </a:p>
        </p:txBody>
      </p:sp>
      <p:sp>
        <p:nvSpPr>
          <p:cNvPr id="7" name="TextBox 6"/>
          <p:cNvSpPr txBox="1"/>
          <p:nvPr/>
        </p:nvSpPr>
        <p:spPr>
          <a:xfrm>
            <a:off x="914400" y="2331720"/>
            <a:ext cx="4800600" cy="3200400"/>
          </a:xfrm>
          <a:prstGeom prst="rect">
            <a:avLst/>
          </a:prstGeom>
          <a:noFill/>
        </p:spPr>
        <p:txBody>
          <a:bodyPr wrap="square" lIns="0" rIns="0" tIns="0" bIns="0" anchor="t">
            <a:spAutoFit/>
          </a:bodyPr>
          <a:lstStyle/>
          <a:p>
            <a:pPr algn="l">
              <a:lnSpc>
                <a:spcPct val="115000"/>
              </a:lnSpc>
              <a:spcAft>
                <a:spcPts val="1000"/>
              </a:spcAft>
            </a:pPr>
            <a:r>
              <a:rPr sz="1300" b="0" i="0">
                <a:solidFill>
                  <a:srgbClr val="2C2A24"/>
                </a:solidFill>
                <a:latin typeface="Cambria"/>
              </a:rPr>
              <a:t>–  Entries and exits driven by emotion and headlines</a:t>
            </a:r>
          </a:p>
          <a:p>
            <a:pPr algn="l">
              <a:lnSpc>
                <a:spcPct val="115000"/>
              </a:lnSpc>
              <a:spcAft>
                <a:spcPts val="1000"/>
              </a:spcAft>
            </a:pPr>
            <a:r>
              <a:rPr sz="1300" b="0" i="0">
                <a:solidFill>
                  <a:srgbClr val="2C2A24"/>
                </a:solidFill>
                <a:latin typeface="Cambria"/>
              </a:rPr>
              <a:t>–  Ideas adopted from stories and tips — never tested</a:t>
            </a:r>
          </a:p>
          <a:p>
            <a:pPr algn="l">
              <a:lnSpc>
                <a:spcPct val="115000"/>
              </a:lnSpc>
              <a:spcAft>
                <a:spcPts val="1000"/>
              </a:spcAft>
            </a:pPr>
            <a:r>
              <a:rPr sz="1300" b="0" i="0">
                <a:solidFill>
                  <a:srgbClr val="2C2A24"/>
                </a:solidFill>
                <a:latin typeface="Cambria"/>
              </a:rPr>
              <a:t>–  No consistent position sizing or risk budget</a:t>
            </a:r>
          </a:p>
          <a:p>
            <a:pPr algn="l">
              <a:lnSpc>
                <a:spcPct val="115000"/>
              </a:lnSpc>
            </a:pPr>
            <a:r>
              <a:rPr sz="1300" b="0" i="0">
                <a:solidFill>
                  <a:srgbClr val="2C2A24"/>
                </a:solidFill>
                <a:latin typeface="Cambria"/>
              </a:rPr>
              <a:t>–  Mistakes repeat, because nothing is measured</a:t>
            </a:r>
          </a:p>
        </p:txBody>
      </p:sp>
      <p:sp>
        <p:nvSpPr>
          <p:cNvPr id="8" name="Rounded Rectangle 7"/>
          <p:cNvSpPr/>
          <p:nvPr/>
        </p:nvSpPr>
        <p:spPr>
          <a:xfrm>
            <a:off x="6263640" y="1554480"/>
            <a:ext cx="5349240" cy="4160520"/>
          </a:xfrm>
          <a:prstGeom prst="roundRect">
            <a:avLst>
              <a:gd name="adj" fmla="val 6000"/>
            </a:avLst>
          </a:prstGeom>
          <a:solidFill>
            <a:srgbClr val="F3ED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37960" y="1810512"/>
            <a:ext cx="4800600" cy="365760"/>
          </a:xfrm>
          <a:prstGeom prst="rect">
            <a:avLst/>
          </a:prstGeom>
          <a:noFill/>
        </p:spPr>
        <p:txBody>
          <a:bodyPr wrap="square" lIns="0" rIns="0" tIns="0" bIns="0" anchor="t">
            <a:spAutoFit/>
          </a:bodyPr>
          <a:lstStyle/>
          <a:p>
            <a:pPr algn="l"/>
            <a:r>
              <a:rPr sz="1650" b="1" i="0">
                <a:solidFill>
                  <a:srgbClr val="1C3527"/>
                </a:solidFill>
                <a:latin typeface="Palatino Linotype"/>
              </a:rPr>
              <a:t>How this program is run</a:t>
            </a:r>
          </a:p>
        </p:txBody>
      </p:sp>
      <p:sp>
        <p:nvSpPr>
          <p:cNvPr id="10" name="TextBox 9"/>
          <p:cNvSpPr txBox="1"/>
          <p:nvPr/>
        </p:nvSpPr>
        <p:spPr>
          <a:xfrm>
            <a:off x="6537960" y="2331720"/>
            <a:ext cx="4800600" cy="3200400"/>
          </a:xfrm>
          <a:prstGeom prst="rect">
            <a:avLst/>
          </a:prstGeom>
          <a:noFill/>
        </p:spPr>
        <p:txBody>
          <a:bodyPr wrap="square" lIns="0" rIns="0" tIns="0" bIns="0" anchor="t">
            <a:spAutoFit/>
          </a:bodyPr>
          <a:lstStyle/>
          <a:p>
            <a:pPr algn="l">
              <a:lnSpc>
                <a:spcPct val="115000"/>
              </a:lnSpc>
              <a:spcAft>
                <a:spcPts val="1000"/>
              </a:spcAft>
            </a:pPr>
            <a:r>
              <a:rPr sz="1300" b="0" i="0">
                <a:solidFill>
                  <a:srgbClr val="2C2A24"/>
                </a:solidFill>
                <a:latin typeface="Cambria"/>
              </a:rPr>
              <a:t>–  Every rule is written down before money moves</a:t>
            </a:r>
          </a:p>
          <a:p>
            <a:pPr algn="l">
              <a:lnSpc>
                <a:spcPct val="115000"/>
              </a:lnSpc>
              <a:spcAft>
                <a:spcPts val="1000"/>
              </a:spcAft>
            </a:pPr>
            <a:r>
              <a:rPr sz="1300" b="0" i="0">
                <a:solidFill>
                  <a:srgbClr val="2C2A24"/>
                </a:solidFill>
                <a:latin typeface="Cambria"/>
              </a:rPr>
              <a:t>–  Every idea is tested on decades of data first</a:t>
            </a:r>
          </a:p>
          <a:p>
            <a:pPr algn="l">
              <a:lnSpc>
                <a:spcPct val="115000"/>
              </a:lnSpc>
              <a:spcAft>
                <a:spcPts val="1000"/>
              </a:spcAft>
            </a:pPr>
            <a:r>
              <a:rPr sz="1300" b="0" i="0">
                <a:solidFill>
                  <a:srgbClr val="2C2A24"/>
                </a:solidFill>
                <a:latin typeface="Cambria"/>
              </a:rPr>
              <a:t>–  Risk limits and sizing enforced by code, not mood</a:t>
            </a:r>
          </a:p>
          <a:p>
            <a:pPr algn="l">
              <a:lnSpc>
                <a:spcPct val="115000"/>
              </a:lnSpc>
            </a:pPr>
            <a:r>
              <a:rPr sz="1300" b="0" i="0">
                <a:solidFill>
                  <a:srgbClr val="2C2A24"/>
                </a:solidFill>
                <a:latin typeface="Cambria"/>
              </a:rPr>
              <a:t>–  Every decision is logged, measured and auditable</a:t>
            </a:r>
          </a:p>
        </p:txBody>
      </p:sp>
      <p:sp>
        <p:nvSpPr>
          <p:cNvPr id="11" name="TextBox 10"/>
          <p:cNvSpPr txBox="1"/>
          <p:nvPr/>
        </p:nvSpPr>
        <p:spPr>
          <a:xfrm>
            <a:off x="640080" y="6473952"/>
            <a:ext cx="8229600" cy="274320"/>
          </a:xfrm>
          <a:prstGeom prst="rect">
            <a:avLst/>
          </a:prstGeom>
          <a:noFill/>
        </p:spPr>
        <p:txBody>
          <a:bodyPr wrap="square" lIns="0" rIns="0" tIns="0" bIns="0" anchor="t">
            <a:spAutoFit/>
          </a:bodyPr>
          <a:lstStyle/>
          <a:p>
            <a:pPr algn="l"/>
            <a:r>
              <a:rPr sz="850" b="0" i="0">
                <a:solidFill>
                  <a:srgbClr val="9C937F"/>
                </a:solidFill>
                <a:latin typeface="Cambria"/>
              </a:rPr>
              <a:t>Confidential — private discussion document. Not an offer of securities or investment advice.</a:t>
            </a:r>
          </a:p>
        </p:txBody>
      </p:sp>
      <p:sp>
        <p:nvSpPr>
          <p:cNvPr id="12" name="TextBox 11"/>
          <p:cNvSpPr txBox="1"/>
          <p:nvPr/>
        </p:nvSpPr>
        <p:spPr>
          <a:xfrm>
            <a:off x="11247120" y="6473952"/>
            <a:ext cx="365760" cy="274320"/>
          </a:xfrm>
          <a:prstGeom prst="rect">
            <a:avLst/>
          </a:prstGeom>
          <a:noFill/>
        </p:spPr>
        <p:txBody>
          <a:bodyPr wrap="square" lIns="0" rIns="0" tIns="0" bIns="0" anchor="t">
            <a:spAutoFit/>
          </a:bodyPr>
          <a:lstStyle/>
          <a:p>
            <a:pPr algn="r"/>
            <a:r>
              <a:rPr sz="900" b="0" i="0">
                <a:solidFill>
                  <a:srgbClr val="9C937F"/>
                </a:solidFill>
                <a:latin typeface="Cambria"/>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9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10972800" cy="274320"/>
          </a:xfrm>
          <a:prstGeom prst="rect">
            <a:avLst/>
          </a:prstGeom>
          <a:noFill/>
        </p:spPr>
        <p:txBody>
          <a:bodyPr wrap="square" lIns="0" rIns="0" tIns="0" bIns="0" anchor="t">
            <a:spAutoFit/>
          </a:bodyPr>
          <a:lstStyle/>
          <a:p>
            <a:pPr algn="l"/>
            <a:r>
              <a:rPr sz="1100" b="1" i="0" spc="220">
                <a:solidFill>
                  <a:srgbClr val="8C7B4F"/>
                </a:solidFill>
                <a:latin typeface="Cambria"/>
              </a:rPr>
              <a:t>THE PRODUCT</a:t>
            </a:r>
          </a:p>
        </p:txBody>
      </p:sp>
      <p:sp>
        <p:nvSpPr>
          <p:cNvPr id="4" name="TextBox 3"/>
          <p:cNvSpPr txBox="1"/>
          <p:nvPr/>
        </p:nvSpPr>
        <p:spPr>
          <a:xfrm>
            <a:off x="640080" y="658368"/>
            <a:ext cx="10972800" cy="685800"/>
          </a:xfrm>
          <a:prstGeom prst="rect">
            <a:avLst/>
          </a:prstGeom>
          <a:noFill/>
        </p:spPr>
        <p:txBody>
          <a:bodyPr wrap="square" lIns="0" rIns="0" tIns="0" bIns="0" anchor="t">
            <a:spAutoFit/>
          </a:bodyPr>
          <a:lstStyle/>
          <a:p>
            <a:pPr algn="l"/>
            <a:r>
              <a:rPr sz="3000" b="1" i="0">
                <a:solidFill>
                  <a:srgbClr val="1C3527"/>
                </a:solidFill>
                <a:latin typeface="Palatino Linotype"/>
              </a:rPr>
              <a:t>What exactly you would be joining</a:t>
            </a:r>
          </a:p>
        </p:txBody>
      </p:sp>
      <p:sp>
        <p:nvSpPr>
          <p:cNvPr id="5" name="TextBox 4"/>
          <p:cNvSpPr txBox="1"/>
          <p:nvPr/>
        </p:nvSpPr>
        <p:spPr>
          <a:xfrm>
            <a:off x="640080" y="1417320"/>
            <a:ext cx="5120640" cy="274320"/>
          </a:xfrm>
          <a:prstGeom prst="rect">
            <a:avLst/>
          </a:prstGeom>
          <a:noFill/>
        </p:spPr>
        <p:txBody>
          <a:bodyPr wrap="square" lIns="0" rIns="0" tIns="0" bIns="0" anchor="t">
            <a:spAutoFit/>
          </a:bodyPr>
          <a:lstStyle/>
          <a:p>
            <a:pPr algn="l"/>
            <a:r>
              <a:rPr sz="1500" b="1" i="0">
                <a:solidFill>
                  <a:srgbClr val="1C3527"/>
                </a:solidFill>
                <a:latin typeface="Palatino Linotype"/>
              </a:rPr>
              <a:t>Structure</a:t>
            </a:r>
          </a:p>
        </p:txBody>
      </p:sp>
      <p:sp>
        <p:nvSpPr>
          <p:cNvPr id="6" name="TextBox 5"/>
          <p:cNvSpPr txBox="1"/>
          <p:nvPr/>
        </p:nvSpPr>
        <p:spPr>
          <a:xfrm>
            <a:off x="640080" y="1737360"/>
            <a:ext cx="5394960" cy="960120"/>
          </a:xfrm>
          <a:prstGeom prst="rect">
            <a:avLst/>
          </a:prstGeom>
          <a:noFill/>
        </p:spPr>
        <p:txBody>
          <a:bodyPr wrap="square" lIns="0" rIns="0" tIns="0" bIns="0" anchor="t">
            <a:spAutoFit/>
          </a:bodyPr>
          <a:lstStyle/>
          <a:p>
            <a:pPr algn="l">
              <a:lnSpc>
                <a:spcPct val="110000"/>
              </a:lnSpc>
            </a:pPr>
            <a:r>
              <a:rPr sz="1200" b="0" i="0">
                <a:solidFill>
                  <a:srgbClr val="6E6759"/>
                </a:solidFill>
                <a:latin typeface="Cambria"/>
              </a:rPr>
              <a:t>[ To be finalized with Israeli securities counsel: separately managed accounts vs. pooled vehicle. Until then this is a discussion document — no money moves before the structure is legally settled. ]</a:t>
            </a:r>
          </a:p>
        </p:txBody>
      </p:sp>
      <p:sp>
        <p:nvSpPr>
          <p:cNvPr id="7" name="Rounded Rectangle 6"/>
          <p:cNvSpPr/>
          <p:nvPr/>
        </p:nvSpPr>
        <p:spPr>
          <a:xfrm>
            <a:off x="640080" y="2697480"/>
            <a:ext cx="4754880" cy="292608"/>
          </a:xfrm>
          <a:prstGeom prst="roundRect">
            <a:avLst>
              <a:gd name="adj" fmla="val 50000"/>
            </a:avLst>
          </a:prstGeom>
          <a:solidFill>
            <a:srgbClr val="F0E7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697480"/>
            <a:ext cx="4535424" cy="292608"/>
          </a:xfrm>
          <a:prstGeom prst="rect">
            <a:avLst/>
          </a:prstGeom>
          <a:noFill/>
        </p:spPr>
        <p:txBody>
          <a:bodyPr wrap="square" lIns="0" rIns="0" tIns="0" bIns="0" anchor="ctr">
            <a:spAutoFit/>
          </a:bodyPr>
          <a:lstStyle/>
          <a:p>
            <a:pPr algn="l"/>
            <a:r>
              <a:rPr sz="1050" b="1" i="0">
                <a:solidFill>
                  <a:srgbClr val="8C6D1F"/>
                </a:solidFill>
                <a:latin typeface="Cambria"/>
              </a:rPr>
              <a:t>YOU:  confirm legal structure with Israeli counsel</a:t>
            </a:r>
          </a:p>
        </p:txBody>
      </p:sp>
      <p:sp>
        <p:nvSpPr>
          <p:cNvPr id="9" name="TextBox 8"/>
          <p:cNvSpPr txBox="1"/>
          <p:nvPr/>
        </p:nvSpPr>
        <p:spPr>
          <a:xfrm>
            <a:off x="640080" y="3246120"/>
            <a:ext cx="7315200" cy="274320"/>
          </a:xfrm>
          <a:prstGeom prst="rect">
            <a:avLst/>
          </a:prstGeom>
          <a:noFill/>
        </p:spPr>
        <p:txBody>
          <a:bodyPr wrap="square" lIns="0" rIns="0" tIns="0" bIns="0" anchor="t">
            <a:spAutoFit/>
          </a:bodyPr>
          <a:lstStyle/>
          <a:p>
            <a:pPr algn="l"/>
            <a:r>
              <a:rPr sz="1500" b="1" i="0">
                <a:solidFill>
                  <a:srgbClr val="1C3527"/>
                </a:solidFill>
                <a:latin typeface="Palatino Linotype"/>
              </a:rPr>
              <a:t>Candidate portfolio (subject to change)</a:t>
            </a:r>
          </a:p>
        </p:txBody>
      </p:sp>
      <p:sp>
        <p:nvSpPr>
          <p:cNvPr id="10" name="Rounded Rectangle 9"/>
          <p:cNvSpPr/>
          <p:nvPr/>
        </p:nvSpPr>
        <p:spPr>
          <a:xfrm>
            <a:off x="640080" y="3611880"/>
            <a:ext cx="10927080" cy="384048"/>
          </a:xfrm>
          <a:prstGeom prst="roundRect">
            <a:avLst>
              <a:gd name="adj" fmla="val 12000"/>
            </a:avLst>
          </a:prstGeom>
          <a:solidFill>
            <a:srgbClr val="1C35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9808" y="3611880"/>
            <a:ext cx="2286000" cy="384048"/>
          </a:xfrm>
          <a:prstGeom prst="rect">
            <a:avLst/>
          </a:prstGeom>
          <a:noFill/>
        </p:spPr>
        <p:txBody>
          <a:bodyPr wrap="square" lIns="0" rIns="0" tIns="0" bIns="0" anchor="ctr">
            <a:spAutoFit/>
          </a:bodyPr>
          <a:lstStyle/>
          <a:p>
            <a:pPr algn="l"/>
            <a:r>
              <a:rPr sz="1150" b="1" i="0">
                <a:solidFill>
                  <a:srgbClr val="FFFFFF"/>
                </a:solidFill>
                <a:latin typeface="Cambria"/>
              </a:rPr>
              <a:t>Sleeve</a:t>
            </a:r>
          </a:p>
        </p:txBody>
      </p:sp>
      <p:sp>
        <p:nvSpPr>
          <p:cNvPr id="12" name="TextBox 11"/>
          <p:cNvSpPr txBox="1"/>
          <p:nvPr/>
        </p:nvSpPr>
        <p:spPr>
          <a:xfrm>
            <a:off x="3310128" y="3611880"/>
            <a:ext cx="4937759" cy="384048"/>
          </a:xfrm>
          <a:prstGeom prst="rect">
            <a:avLst/>
          </a:prstGeom>
          <a:noFill/>
        </p:spPr>
        <p:txBody>
          <a:bodyPr wrap="square" lIns="0" rIns="0" tIns="0" bIns="0" anchor="ctr">
            <a:spAutoFit/>
          </a:bodyPr>
          <a:lstStyle/>
          <a:p>
            <a:pPr algn="l"/>
            <a:r>
              <a:rPr sz="1150" b="1" i="0">
                <a:solidFill>
                  <a:srgbClr val="FFFFFF"/>
                </a:solidFill>
                <a:latin typeface="Cambria"/>
              </a:rPr>
              <a:t>What it does</a:t>
            </a:r>
          </a:p>
        </p:txBody>
      </p:sp>
      <p:sp>
        <p:nvSpPr>
          <p:cNvPr id="13" name="TextBox 12"/>
          <p:cNvSpPr txBox="1"/>
          <p:nvPr/>
        </p:nvSpPr>
        <p:spPr>
          <a:xfrm>
            <a:off x="8522207" y="3611880"/>
            <a:ext cx="914400" cy="384048"/>
          </a:xfrm>
          <a:prstGeom prst="rect">
            <a:avLst/>
          </a:prstGeom>
          <a:noFill/>
        </p:spPr>
        <p:txBody>
          <a:bodyPr wrap="square" lIns="0" rIns="0" tIns="0" bIns="0" anchor="ctr">
            <a:spAutoFit/>
          </a:bodyPr>
          <a:lstStyle/>
          <a:p>
            <a:pPr algn="l"/>
            <a:r>
              <a:rPr sz="1150" b="1" i="0">
                <a:solidFill>
                  <a:srgbClr val="FFFFFF"/>
                </a:solidFill>
                <a:latin typeface="Cambria"/>
              </a:rPr>
              <a:t>Weight</a:t>
            </a:r>
          </a:p>
        </p:txBody>
      </p:sp>
      <p:sp>
        <p:nvSpPr>
          <p:cNvPr id="14" name="TextBox 13"/>
          <p:cNvSpPr txBox="1"/>
          <p:nvPr/>
        </p:nvSpPr>
        <p:spPr>
          <a:xfrm>
            <a:off x="9710928" y="3611880"/>
            <a:ext cx="1783080" cy="384048"/>
          </a:xfrm>
          <a:prstGeom prst="rect">
            <a:avLst/>
          </a:prstGeom>
          <a:noFill/>
        </p:spPr>
        <p:txBody>
          <a:bodyPr wrap="square" lIns="0" rIns="0" tIns="0" bIns="0" anchor="ctr">
            <a:spAutoFit/>
          </a:bodyPr>
          <a:lstStyle/>
          <a:p>
            <a:pPr algn="l"/>
            <a:r>
              <a:rPr sz="1150" b="1" i="0">
                <a:solidFill>
                  <a:srgbClr val="FFFFFF"/>
                </a:solidFill>
                <a:latin typeface="Cambria"/>
              </a:rPr>
              <a:t>Evidence status</a:t>
            </a:r>
          </a:p>
        </p:txBody>
      </p:sp>
      <p:sp>
        <p:nvSpPr>
          <p:cNvPr id="15" name="Rectangle 14"/>
          <p:cNvSpPr/>
          <p:nvPr/>
        </p:nvSpPr>
        <p:spPr>
          <a:xfrm>
            <a:off x="640080" y="4041648"/>
            <a:ext cx="10927080" cy="566928"/>
          </a:xfrm>
          <a:prstGeom prst="rect">
            <a:avLst/>
          </a:prstGeom>
          <a:solidFill>
            <a:srgbClr val="F3ED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9808" y="4041648"/>
            <a:ext cx="2286000" cy="566928"/>
          </a:xfrm>
          <a:prstGeom prst="rect">
            <a:avLst/>
          </a:prstGeom>
          <a:noFill/>
        </p:spPr>
        <p:txBody>
          <a:bodyPr wrap="square" lIns="0" rIns="0" tIns="0" bIns="0" anchor="ctr">
            <a:spAutoFit/>
          </a:bodyPr>
          <a:lstStyle/>
          <a:p>
            <a:pPr algn="l"/>
            <a:r>
              <a:rPr sz="1200" b="1" i="0">
                <a:solidFill>
                  <a:srgbClr val="2C2A24"/>
                </a:solidFill>
                <a:latin typeface="Cambria"/>
              </a:rPr>
              <a:t>Tactical asset allocation</a:t>
            </a:r>
          </a:p>
        </p:txBody>
      </p:sp>
      <p:sp>
        <p:nvSpPr>
          <p:cNvPr id="17" name="TextBox 16"/>
          <p:cNvSpPr txBox="1"/>
          <p:nvPr/>
        </p:nvSpPr>
        <p:spPr>
          <a:xfrm>
            <a:off x="3310128" y="4041648"/>
            <a:ext cx="4937759" cy="566928"/>
          </a:xfrm>
          <a:prstGeom prst="rect">
            <a:avLst/>
          </a:prstGeom>
          <a:noFill/>
        </p:spPr>
        <p:txBody>
          <a:bodyPr wrap="square" lIns="0" rIns="0" tIns="0" bIns="0" anchor="ctr">
            <a:spAutoFit/>
          </a:bodyPr>
          <a:lstStyle/>
          <a:p>
            <a:pPr algn="l">
              <a:lnSpc>
                <a:spcPct val="100000"/>
              </a:lnSpc>
            </a:pPr>
            <a:r>
              <a:rPr sz="1100" b="0" i="0">
                <a:solidFill>
                  <a:srgbClr val="2C2A24"/>
                </a:solidFill>
                <a:latin typeface="Cambria"/>
              </a:rPr>
              <a:t>Monthly regime-based rotation across equity, bond and defensive ETFs, with an explicit risk-off fallback.</a:t>
            </a:r>
          </a:p>
        </p:txBody>
      </p:sp>
      <p:sp>
        <p:nvSpPr>
          <p:cNvPr id="18" name="TextBox 17"/>
          <p:cNvSpPr txBox="1"/>
          <p:nvPr/>
        </p:nvSpPr>
        <p:spPr>
          <a:xfrm>
            <a:off x="8522207" y="4041648"/>
            <a:ext cx="914400" cy="566928"/>
          </a:xfrm>
          <a:prstGeom prst="rect">
            <a:avLst/>
          </a:prstGeom>
          <a:noFill/>
        </p:spPr>
        <p:txBody>
          <a:bodyPr wrap="square" lIns="0" rIns="0" tIns="0" bIns="0" anchor="ctr">
            <a:spAutoFit/>
          </a:bodyPr>
          <a:lstStyle/>
          <a:p>
            <a:pPr algn="l"/>
            <a:r>
              <a:rPr sz="1300" b="1" i="0">
                <a:solidFill>
                  <a:srgbClr val="1C3527"/>
                </a:solidFill>
                <a:latin typeface="Cambria"/>
              </a:rPr>
              <a:t>50%</a:t>
            </a:r>
          </a:p>
        </p:txBody>
      </p:sp>
      <p:sp>
        <p:nvSpPr>
          <p:cNvPr id="19" name="TextBox 18"/>
          <p:cNvSpPr txBox="1"/>
          <p:nvPr/>
        </p:nvSpPr>
        <p:spPr>
          <a:xfrm>
            <a:off x="9710928" y="4041648"/>
            <a:ext cx="1783080" cy="566928"/>
          </a:xfrm>
          <a:prstGeom prst="rect">
            <a:avLst/>
          </a:prstGeom>
          <a:noFill/>
        </p:spPr>
        <p:txBody>
          <a:bodyPr wrap="square" lIns="0" rIns="0" tIns="0" bIns="0" anchor="ctr">
            <a:spAutoFit/>
          </a:bodyPr>
          <a:lstStyle/>
          <a:p>
            <a:pPr algn="l"/>
            <a:r>
              <a:rPr sz="1000" b="1" i="0">
                <a:solidFill>
                  <a:srgbClr val="8C6D1F"/>
                </a:solidFill>
                <a:latin typeface="Cambria"/>
              </a:rPr>
              <a:t>[ backtest /
paper / live ]</a:t>
            </a:r>
          </a:p>
        </p:txBody>
      </p:sp>
      <p:sp>
        <p:nvSpPr>
          <p:cNvPr id="20" name="TextBox 19"/>
          <p:cNvSpPr txBox="1"/>
          <p:nvPr/>
        </p:nvSpPr>
        <p:spPr>
          <a:xfrm>
            <a:off x="749808" y="4608576"/>
            <a:ext cx="2286000" cy="566928"/>
          </a:xfrm>
          <a:prstGeom prst="rect">
            <a:avLst/>
          </a:prstGeom>
          <a:noFill/>
        </p:spPr>
        <p:txBody>
          <a:bodyPr wrap="square" lIns="0" rIns="0" tIns="0" bIns="0" anchor="ctr">
            <a:spAutoFit/>
          </a:bodyPr>
          <a:lstStyle/>
          <a:p>
            <a:pPr algn="l"/>
            <a:r>
              <a:rPr sz="1200" b="1" i="0">
                <a:solidFill>
                  <a:srgbClr val="2C2A24"/>
                </a:solidFill>
                <a:latin typeface="Cambria"/>
              </a:rPr>
              <a:t>Nasdaq-100 momentum</a:t>
            </a:r>
          </a:p>
        </p:txBody>
      </p:sp>
      <p:sp>
        <p:nvSpPr>
          <p:cNvPr id="21" name="TextBox 20"/>
          <p:cNvSpPr txBox="1"/>
          <p:nvPr/>
        </p:nvSpPr>
        <p:spPr>
          <a:xfrm>
            <a:off x="3310128" y="4608576"/>
            <a:ext cx="4937759" cy="566928"/>
          </a:xfrm>
          <a:prstGeom prst="rect">
            <a:avLst/>
          </a:prstGeom>
          <a:noFill/>
        </p:spPr>
        <p:txBody>
          <a:bodyPr wrap="square" lIns="0" rIns="0" tIns="0" bIns="0" anchor="ctr">
            <a:spAutoFit/>
          </a:bodyPr>
          <a:lstStyle/>
          <a:p>
            <a:pPr algn="l">
              <a:lnSpc>
                <a:spcPct val="100000"/>
              </a:lnSpc>
            </a:pPr>
            <a:r>
              <a:rPr sz="1100" b="0" i="0">
                <a:solidFill>
                  <a:srgbClr val="2C2A24"/>
                </a:solidFill>
                <a:latin typeface="Cambria"/>
              </a:rPr>
              <a:t>Trend-following on NDX names; volatility-normalized sizing, exposure scaled down when implied volatility spikes.</a:t>
            </a:r>
          </a:p>
        </p:txBody>
      </p:sp>
      <p:sp>
        <p:nvSpPr>
          <p:cNvPr id="22" name="TextBox 21"/>
          <p:cNvSpPr txBox="1"/>
          <p:nvPr/>
        </p:nvSpPr>
        <p:spPr>
          <a:xfrm>
            <a:off x="8522207" y="4608576"/>
            <a:ext cx="914400" cy="566928"/>
          </a:xfrm>
          <a:prstGeom prst="rect">
            <a:avLst/>
          </a:prstGeom>
          <a:noFill/>
        </p:spPr>
        <p:txBody>
          <a:bodyPr wrap="square" lIns="0" rIns="0" tIns="0" bIns="0" anchor="ctr">
            <a:spAutoFit/>
          </a:bodyPr>
          <a:lstStyle/>
          <a:p>
            <a:pPr algn="l"/>
            <a:r>
              <a:rPr sz="1300" b="1" i="0">
                <a:solidFill>
                  <a:srgbClr val="1C3527"/>
                </a:solidFill>
                <a:latin typeface="Cambria"/>
              </a:rPr>
              <a:t>30%</a:t>
            </a:r>
          </a:p>
        </p:txBody>
      </p:sp>
      <p:sp>
        <p:nvSpPr>
          <p:cNvPr id="23" name="TextBox 22"/>
          <p:cNvSpPr txBox="1"/>
          <p:nvPr/>
        </p:nvSpPr>
        <p:spPr>
          <a:xfrm>
            <a:off x="9710928" y="4608576"/>
            <a:ext cx="1783080" cy="566928"/>
          </a:xfrm>
          <a:prstGeom prst="rect">
            <a:avLst/>
          </a:prstGeom>
          <a:noFill/>
        </p:spPr>
        <p:txBody>
          <a:bodyPr wrap="square" lIns="0" rIns="0" tIns="0" bIns="0" anchor="ctr">
            <a:spAutoFit/>
          </a:bodyPr>
          <a:lstStyle/>
          <a:p>
            <a:pPr algn="l"/>
            <a:r>
              <a:rPr sz="1000" b="1" i="0">
                <a:solidFill>
                  <a:srgbClr val="8C6D1F"/>
                </a:solidFill>
                <a:latin typeface="Cambria"/>
              </a:rPr>
              <a:t>[ backtest /
paper / live ]</a:t>
            </a:r>
          </a:p>
        </p:txBody>
      </p:sp>
      <p:sp>
        <p:nvSpPr>
          <p:cNvPr id="24" name="Rectangle 23"/>
          <p:cNvSpPr/>
          <p:nvPr/>
        </p:nvSpPr>
        <p:spPr>
          <a:xfrm>
            <a:off x="640080" y="5175504"/>
            <a:ext cx="10927080" cy="566928"/>
          </a:xfrm>
          <a:prstGeom prst="rect">
            <a:avLst/>
          </a:prstGeom>
          <a:solidFill>
            <a:srgbClr val="F3ED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49808" y="5175504"/>
            <a:ext cx="2286000" cy="566928"/>
          </a:xfrm>
          <a:prstGeom prst="rect">
            <a:avLst/>
          </a:prstGeom>
          <a:noFill/>
        </p:spPr>
        <p:txBody>
          <a:bodyPr wrap="square" lIns="0" rIns="0" tIns="0" bIns="0" anchor="ctr">
            <a:spAutoFit/>
          </a:bodyPr>
          <a:lstStyle/>
          <a:p>
            <a:pPr algn="l"/>
            <a:r>
              <a:rPr sz="1200" b="1" i="0">
                <a:solidFill>
                  <a:srgbClr val="2C2A24"/>
                </a:solidFill>
                <a:latin typeface="Cambria"/>
              </a:rPr>
              <a:t>Sector mean-reversion</a:t>
            </a:r>
          </a:p>
        </p:txBody>
      </p:sp>
      <p:sp>
        <p:nvSpPr>
          <p:cNvPr id="26" name="TextBox 25"/>
          <p:cNvSpPr txBox="1"/>
          <p:nvPr/>
        </p:nvSpPr>
        <p:spPr>
          <a:xfrm>
            <a:off x="3310128" y="5175504"/>
            <a:ext cx="4937759" cy="566928"/>
          </a:xfrm>
          <a:prstGeom prst="rect">
            <a:avLst/>
          </a:prstGeom>
          <a:noFill/>
        </p:spPr>
        <p:txBody>
          <a:bodyPr wrap="square" lIns="0" rIns="0" tIns="0" bIns="0" anchor="ctr">
            <a:spAutoFit/>
          </a:bodyPr>
          <a:lstStyle/>
          <a:p>
            <a:pPr algn="l">
              <a:lnSpc>
                <a:spcPct val="100000"/>
              </a:lnSpc>
            </a:pPr>
            <a:r>
              <a:rPr sz="1100" b="0" i="0">
                <a:solidFill>
                  <a:srgbClr val="2C2A24"/>
                </a:solidFill>
                <a:latin typeface="Cambria"/>
              </a:rPr>
              <a:t>Short-horizon reversion in sector ETFs when intra-market dispersion is stretched.</a:t>
            </a:r>
          </a:p>
        </p:txBody>
      </p:sp>
      <p:sp>
        <p:nvSpPr>
          <p:cNvPr id="27" name="TextBox 26"/>
          <p:cNvSpPr txBox="1"/>
          <p:nvPr/>
        </p:nvSpPr>
        <p:spPr>
          <a:xfrm>
            <a:off x="8522207" y="5175504"/>
            <a:ext cx="914400" cy="566928"/>
          </a:xfrm>
          <a:prstGeom prst="rect">
            <a:avLst/>
          </a:prstGeom>
          <a:noFill/>
        </p:spPr>
        <p:txBody>
          <a:bodyPr wrap="square" lIns="0" rIns="0" tIns="0" bIns="0" anchor="ctr">
            <a:spAutoFit/>
          </a:bodyPr>
          <a:lstStyle/>
          <a:p>
            <a:pPr algn="l"/>
            <a:r>
              <a:rPr sz="1300" b="1" i="0">
                <a:solidFill>
                  <a:srgbClr val="1C3527"/>
                </a:solidFill>
                <a:latin typeface="Cambria"/>
              </a:rPr>
              <a:t>20%</a:t>
            </a:r>
          </a:p>
        </p:txBody>
      </p:sp>
      <p:sp>
        <p:nvSpPr>
          <p:cNvPr id="28" name="TextBox 27"/>
          <p:cNvSpPr txBox="1"/>
          <p:nvPr/>
        </p:nvSpPr>
        <p:spPr>
          <a:xfrm>
            <a:off x="9710928" y="5175504"/>
            <a:ext cx="1783080" cy="566928"/>
          </a:xfrm>
          <a:prstGeom prst="rect">
            <a:avLst/>
          </a:prstGeom>
          <a:noFill/>
        </p:spPr>
        <p:txBody>
          <a:bodyPr wrap="square" lIns="0" rIns="0" tIns="0" bIns="0" anchor="ctr">
            <a:spAutoFit/>
          </a:bodyPr>
          <a:lstStyle/>
          <a:p>
            <a:pPr algn="l"/>
            <a:r>
              <a:rPr sz="1000" b="1" i="0">
                <a:solidFill>
                  <a:srgbClr val="8C6D1F"/>
                </a:solidFill>
                <a:latin typeface="Cambria"/>
              </a:rPr>
              <a:t>[ backtest /
paper / live ]</a:t>
            </a:r>
          </a:p>
        </p:txBody>
      </p:sp>
      <p:sp>
        <p:nvSpPr>
          <p:cNvPr id="29" name="Rounded Rectangle 28"/>
          <p:cNvSpPr/>
          <p:nvPr/>
        </p:nvSpPr>
        <p:spPr>
          <a:xfrm>
            <a:off x="640080" y="5852160"/>
            <a:ext cx="5577840" cy="292608"/>
          </a:xfrm>
          <a:prstGeom prst="roundRect">
            <a:avLst>
              <a:gd name="adj" fmla="val 50000"/>
            </a:avLst>
          </a:prstGeom>
          <a:solidFill>
            <a:srgbClr val="F0E7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49808" y="5852160"/>
            <a:ext cx="5358383" cy="292608"/>
          </a:xfrm>
          <a:prstGeom prst="rect">
            <a:avLst/>
          </a:prstGeom>
          <a:noFill/>
        </p:spPr>
        <p:txBody>
          <a:bodyPr wrap="square" lIns="0" rIns="0" tIns="0" bIns="0" anchor="ctr">
            <a:spAutoFit/>
          </a:bodyPr>
          <a:lstStyle/>
          <a:p>
            <a:pPr algn="l"/>
            <a:r>
              <a:rPr sz="1050" b="1" i="0">
                <a:solidFill>
                  <a:srgbClr val="8C6D1F"/>
                </a:solidFill>
                <a:latin typeface="Cambria"/>
              </a:rPr>
              <a:t>YOU:  confirm final pods, weights, and honest evidence status per sleeve</a:t>
            </a:r>
          </a:p>
        </p:txBody>
      </p:sp>
      <p:sp>
        <p:nvSpPr>
          <p:cNvPr id="31" name="Rounded Rectangle 30"/>
          <p:cNvSpPr/>
          <p:nvPr/>
        </p:nvSpPr>
        <p:spPr>
          <a:xfrm>
            <a:off x="6309360" y="1417320"/>
            <a:ext cx="5257800" cy="1600200"/>
          </a:xfrm>
          <a:prstGeom prst="roundRect">
            <a:avLst>
              <a:gd name="adj" fmla="val 6000"/>
            </a:avLst>
          </a:prstGeom>
          <a:solidFill>
            <a:srgbClr val="F3ED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537960" y="1600200"/>
            <a:ext cx="4846320" cy="274320"/>
          </a:xfrm>
          <a:prstGeom prst="rect">
            <a:avLst/>
          </a:prstGeom>
          <a:noFill/>
        </p:spPr>
        <p:txBody>
          <a:bodyPr wrap="square" lIns="0" rIns="0" tIns="0" bIns="0" anchor="t">
            <a:spAutoFit/>
          </a:bodyPr>
          <a:lstStyle/>
          <a:p>
            <a:pPr algn="l"/>
            <a:r>
              <a:rPr sz="1350" b="1" i="0">
                <a:solidFill>
                  <a:srgbClr val="1C3527"/>
                </a:solidFill>
                <a:latin typeface="Palatino Linotype"/>
              </a:rPr>
              <a:t>How results are labeled — always</a:t>
            </a:r>
          </a:p>
        </p:txBody>
      </p:sp>
      <p:sp>
        <p:nvSpPr>
          <p:cNvPr id="33" name="TextBox 32"/>
          <p:cNvSpPr txBox="1"/>
          <p:nvPr/>
        </p:nvSpPr>
        <p:spPr>
          <a:xfrm>
            <a:off x="6537960" y="1938528"/>
            <a:ext cx="4846320" cy="1005840"/>
          </a:xfrm>
          <a:prstGeom prst="rect">
            <a:avLst/>
          </a:prstGeom>
          <a:noFill/>
        </p:spPr>
        <p:txBody>
          <a:bodyPr wrap="square" lIns="0" rIns="0" tIns="0" bIns="0" anchor="t">
            <a:spAutoFit/>
          </a:bodyPr>
          <a:lstStyle/>
          <a:p>
            <a:pPr algn="l">
              <a:spcAft>
                <a:spcPts val="300"/>
              </a:spcAft>
            </a:pPr>
            <a:r>
              <a:rPr sz="1150" b="0" i="0">
                <a:solidFill>
                  <a:srgbClr val="2C2A24"/>
                </a:solidFill>
                <a:latin typeface="Cambria"/>
              </a:rPr>
              <a:t>Backtest — simulated on historical data, realistic costs</a:t>
            </a:r>
          </a:p>
          <a:p>
            <a:pPr algn="l">
              <a:spcAft>
                <a:spcPts val="300"/>
              </a:spcAft>
            </a:pPr>
            <a:r>
              <a:rPr sz="1150" b="0" i="0">
                <a:solidFill>
                  <a:srgbClr val="2C2A24"/>
                </a:solidFill>
                <a:latin typeface="Cambria"/>
              </a:rPr>
              <a:t>Paper — live signals, no real money</a:t>
            </a:r>
          </a:p>
          <a:p>
            <a:pPr algn="l">
              <a:spcAft>
                <a:spcPts val="300"/>
              </a:spcAft>
            </a:pPr>
            <a:r>
              <a:rPr sz="1150" b="0" i="0">
                <a:solidFill>
                  <a:srgbClr val="2C2A24"/>
                </a:solidFill>
                <a:latin typeface="Cambria"/>
              </a:rPr>
              <a:t>Live — real money, real fills, verifiable statements</a:t>
            </a:r>
          </a:p>
        </p:txBody>
      </p:sp>
      <p:sp>
        <p:nvSpPr>
          <p:cNvPr id="34" name="TextBox 33"/>
          <p:cNvSpPr txBox="1"/>
          <p:nvPr/>
        </p:nvSpPr>
        <p:spPr>
          <a:xfrm>
            <a:off x="640080" y="6473952"/>
            <a:ext cx="8229600" cy="274320"/>
          </a:xfrm>
          <a:prstGeom prst="rect">
            <a:avLst/>
          </a:prstGeom>
          <a:noFill/>
        </p:spPr>
        <p:txBody>
          <a:bodyPr wrap="square" lIns="0" rIns="0" tIns="0" bIns="0" anchor="t">
            <a:spAutoFit/>
          </a:bodyPr>
          <a:lstStyle/>
          <a:p>
            <a:pPr algn="l"/>
            <a:r>
              <a:rPr sz="850" b="0" i="0">
                <a:solidFill>
                  <a:srgbClr val="9C937F"/>
                </a:solidFill>
                <a:latin typeface="Cambria"/>
              </a:rPr>
              <a:t>Confidential — private discussion document. Not an offer of securities or investment advice.</a:t>
            </a:r>
          </a:p>
        </p:txBody>
      </p:sp>
      <p:sp>
        <p:nvSpPr>
          <p:cNvPr id="35" name="TextBox 34"/>
          <p:cNvSpPr txBox="1"/>
          <p:nvPr/>
        </p:nvSpPr>
        <p:spPr>
          <a:xfrm>
            <a:off x="11247120" y="6473952"/>
            <a:ext cx="365760" cy="274320"/>
          </a:xfrm>
          <a:prstGeom prst="rect">
            <a:avLst/>
          </a:prstGeom>
          <a:noFill/>
        </p:spPr>
        <p:txBody>
          <a:bodyPr wrap="square" lIns="0" rIns="0" tIns="0" bIns="0" anchor="t">
            <a:spAutoFit/>
          </a:bodyPr>
          <a:lstStyle/>
          <a:p>
            <a:pPr algn="r"/>
            <a:r>
              <a:rPr sz="900" b="0" i="0">
                <a:solidFill>
                  <a:srgbClr val="9C937F"/>
                </a:solidFill>
                <a:latin typeface="Cambria"/>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9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10972800" cy="274320"/>
          </a:xfrm>
          <a:prstGeom prst="rect">
            <a:avLst/>
          </a:prstGeom>
          <a:noFill/>
        </p:spPr>
        <p:txBody>
          <a:bodyPr wrap="square" lIns="0" rIns="0" tIns="0" bIns="0" anchor="t">
            <a:spAutoFit/>
          </a:bodyPr>
          <a:lstStyle/>
          <a:p>
            <a:pPr algn="l"/>
            <a:r>
              <a:rPr sz="1100" b="1" i="0" spc="220">
                <a:solidFill>
                  <a:srgbClr val="8C7B4F"/>
                </a:solidFill>
                <a:latin typeface="Cambria"/>
              </a:rPr>
              <a:t>WHERE RETURNS COME FROM</a:t>
            </a:r>
          </a:p>
        </p:txBody>
      </p:sp>
      <p:sp>
        <p:nvSpPr>
          <p:cNvPr id="4" name="TextBox 3"/>
          <p:cNvSpPr txBox="1"/>
          <p:nvPr/>
        </p:nvSpPr>
        <p:spPr>
          <a:xfrm>
            <a:off x="640080" y="658368"/>
            <a:ext cx="10972800" cy="685800"/>
          </a:xfrm>
          <a:prstGeom prst="rect">
            <a:avLst/>
          </a:prstGeom>
          <a:noFill/>
        </p:spPr>
        <p:txBody>
          <a:bodyPr wrap="square" lIns="0" rIns="0" tIns="0" bIns="0" anchor="t">
            <a:spAutoFit/>
          </a:bodyPr>
          <a:lstStyle/>
          <a:p>
            <a:pPr algn="l"/>
            <a:r>
              <a:rPr sz="3000" b="1" i="0">
                <a:solidFill>
                  <a:srgbClr val="1C3527"/>
                </a:solidFill>
                <a:latin typeface="Palatino Linotype"/>
              </a:rPr>
              <a:t>An edge is a mechanism, not a chart</a:t>
            </a:r>
          </a:p>
        </p:txBody>
      </p:sp>
      <p:sp>
        <p:nvSpPr>
          <p:cNvPr id="5" name="TextBox 4"/>
          <p:cNvSpPr txBox="1"/>
          <p:nvPr/>
        </p:nvSpPr>
        <p:spPr>
          <a:xfrm>
            <a:off x="640080" y="1463040"/>
            <a:ext cx="5669280" cy="320040"/>
          </a:xfrm>
          <a:prstGeom prst="rect">
            <a:avLst/>
          </a:prstGeom>
          <a:noFill/>
        </p:spPr>
        <p:txBody>
          <a:bodyPr wrap="square" lIns="0" rIns="0" tIns="0" bIns="0" anchor="t">
            <a:spAutoFit/>
          </a:bodyPr>
          <a:lstStyle/>
          <a:p>
            <a:pPr algn="l"/>
            <a:r>
              <a:rPr sz="1700" b="1" i="0">
                <a:solidFill>
                  <a:srgbClr val="1C3527"/>
                </a:solidFill>
                <a:latin typeface="Palatino Linotype"/>
              </a:rPr>
              <a:t>Example: momentum</a:t>
            </a:r>
          </a:p>
        </p:txBody>
      </p:sp>
      <p:sp>
        <p:nvSpPr>
          <p:cNvPr id="6" name="TextBox 5"/>
          <p:cNvSpPr txBox="1"/>
          <p:nvPr/>
        </p:nvSpPr>
        <p:spPr>
          <a:xfrm>
            <a:off x="640080" y="1874519"/>
            <a:ext cx="5669280" cy="3017520"/>
          </a:xfrm>
          <a:prstGeom prst="rect">
            <a:avLst/>
          </a:prstGeom>
          <a:noFill/>
        </p:spPr>
        <p:txBody>
          <a:bodyPr wrap="square" lIns="0" rIns="0" tIns="0" bIns="0" anchor="t">
            <a:spAutoFit/>
          </a:bodyPr>
          <a:lstStyle/>
          <a:p>
            <a:pPr algn="l">
              <a:lnSpc>
                <a:spcPct val="108000"/>
              </a:lnSpc>
              <a:spcAft>
                <a:spcPts val="200"/>
              </a:spcAft>
            </a:pPr>
            <a:r>
              <a:rPr sz="1300" b="1" i="0">
                <a:solidFill>
                  <a:srgbClr val="1C3527"/>
                </a:solidFill>
                <a:latin typeface="Cambria"/>
              </a:rPr>
              <a:t>The intuition</a:t>
            </a:r>
          </a:p>
          <a:p>
            <a:pPr algn="l">
              <a:lnSpc>
                <a:spcPct val="108000"/>
              </a:lnSpc>
              <a:spcAft>
                <a:spcPts val="1000"/>
              </a:spcAft>
            </a:pPr>
            <a:r>
              <a:rPr sz="1250" b="0" i="0">
                <a:solidFill>
                  <a:srgbClr val="2C2A24"/>
                </a:solidFill>
                <a:latin typeface="Cambria"/>
              </a:rPr>
              <a:t>Prices absorb news gradually. Stocks that have been strong tend to stay strong for months — documented across countries, asset classes and decades.</a:t>
            </a:r>
          </a:p>
          <a:p>
            <a:pPr algn="l">
              <a:lnSpc>
                <a:spcPct val="108000"/>
              </a:lnSpc>
              <a:spcAft>
                <a:spcPts val="200"/>
              </a:spcAft>
            </a:pPr>
            <a:r>
              <a:rPr sz="1300" b="1" i="0">
                <a:solidFill>
                  <a:srgbClr val="1C3527"/>
                </a:solidFill>
                <a:latin typeface="Cambria"/>
              </a:rPr>
              <a:t>Why it persists</a:t>
            </a:r>
          </a:p>
          <a:p>
            <a:pPr algn="l">
              <a:lnSpc>
                <a:spcPct val="108000"/>
              </a:lnSpc>
              <a:spcAft>
                <a:spcPts val="1000"/>
              </a:spcAft>
            </a:pPr>
            <a:r>
              <a:rPr sz="1250" b="0" i="0">
                <a:solidFill>
                  <a:srgbClr val="2C2A24"/>
                </a:solidFill>
                <a:latin typeface="Cambria"/>
              </a:rPr>
              <a:t>It is uncomfortable to hold: it crashes occasionally and requires discipline. Behavioral, not a free lunch — which is why it hasn't been arbitraged away.</a:t>
            </a:r>
          </a:p>
          <a:p>
            <a:pPr algn="l">
              <a:lnSpc>
                <a:spcPct val="108000"/>
              </a:lnSpc>
              <a:spcAft>
                <a:spcPts val="200"/>
              </a:spcAft>
            </a:pPr>
            <a:r>
              <a:rPr sz="1300" b="1" i="0">
                <a:solidFill>
                  <a:srgbClr val="1C3527"/>
                </a:solidFill>
                <a:latin typeface="Cambria"/>
              </a:rPr>
              <a:t>What we actually do</a:t>
            </a:r>
          </a:p>
          <a:p>
            <a:pPr algn="l">
              <a:lnSpc>
                <a:spcPct val="108000"/>
              </a:lnSpc>
            </a:pPr>
            <a:r>
              <a:rPr sz="1250" b="0" i="0">
                <a:solidFill>
                  <a:srgbClr val="2C2A24"/>
                </a:solidFill>
                <a:latin typeface="Cambria"/>
              </a:rPr>
              <a:t>A known anomaly is only a hypothesis. Our work: verify it on point-in-time universes (no survivorship bias), execute at next-day open prices, size by volatility, and test whether it still earns its place inside the portfolio after costs.</a:t>
            </a:r>
          </a:p>
        </p:txBody>
      </p:sp>
      <p:sp>
        <p:nvSpPr>
          <p:cNvPr id="7" name="Rounded Rectangle 6"/>
          <p:cNvSpPr/>
          <p:nvPr/>
        </p:nvSpPr>
        <p:spPr>
          <a:xfrm>
            <a:off x="6675120" y="1463040"/>
            <a:ext cx="4892040" cy="1783080"/>
          </a:xfrm>
          <a:prstGeom prst="roundRect">
            <a:avLst>
              <a:gd name="adj" fmla="val 6000"/>
            </a:avLst>
          </a:prstGeom>
          <a:solidFill>
            <a:srgbClr val="F3ED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949440" y="1691640"/>
            <a:ext cx="4389120" cy="1417320"/>
          </a:xfrm>
          <a:prstGeom prst="rect">
            <a:avLst/>
          </a:prstGeom>
          <a:noFill/>
        </p:spPr>
        <p:txBody>
          <a:bodyPr wrap="square" lIns="0" rIns="0" tIns="0" bIns="0" anchor="t">
            <a:spAutoFit/>
          </a:bodyPr>
          <a:lstStyle/>
          <a:p>
            <a:pPr algn="l">
              <a:spcAft>
                <a:spcPts val="400"/>
              </a:spcAft>
            </a:pPr>
            <a:r>
              <a:rPr sz="1350" b="0" i="1">
                <a:solidFill>
                  <a:srgbClr val="1C3527"/>
                </a:solidFill>
                <a:latin typeface="Palatino Linotype"/>
              </a:rPr>
              <a:t>“Returns to Buying Winners and Selling Losers”</a:t>
            </a:r>
          </a:p>
          <a:p>
            <a:pPr algn="l">
              <a:spcAft>
                <a:spcPts val="600"/>
              </a:spcAft>
            </a:pPr>
            <a:r>
              <a:rPr sz="1150" b="0" i="0">
                <a:solidFill>
                  <a:srgbClr val="6E6759"/>
                </a:solidFill>
                <a:latin typeface="Cambria"/>
              </a:rPr>
              <a:t>Jegadeesh &amp; Titman — The Journal of Finance, 1993</a:t>
            </a:r>
          </a:p>
          <a:p>
            <a:pPr algn="l"/>
            <a:r>
              <a:rPr sz="1150" b="0" i="0">
                <a:solidFill>
                  <a:srgbClr val="2C2A24"/>
                </a:solidFill>
                <a:latin typeface="Cambria"/>
              </a:rPr>
              <a:t>Replicated for 30+ years, across dozens of markets. One of the most robust anomalies in finance.</a:t>
            </a:r>
          </a:p>
        </p:txBody>
      </p:sp>
      <p:sp>
        <p:nvSpPr>
          <p:cNvPr id="9" name="Rounded Rectangle 8"/>
          <p:cNvSpPr/>
          <p:nvPr/>
        </p:nvSpPr>
        <p:spPr>
          <a:xfrm>
            <a:off x="6675120" y="3429000"/>
            <a:ext cx="4892040" cy="2103120"/>
          </a:xfrm>
          <a:prstGeom prst="roundRect">
            <a:avLst>
              <a:gd name="adj" fmla="val 4000"/>
            </a:avLst>
          </a:prstGeom>
          <a:solidFill>
            <a:srgbClr val="F7F9FC"/>
          </a:solidFill>
          <a:ln w="15240">
            <a:solidFill>
              <a:srgbClr val="8C6D1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903720" y="3429000"/>
            <a:ext cx="4434840" cy="2103120"/>
          </a:xfrm>
          <a:prstGeom prst="rect">
            <a:avLst/>
          </a:prstGeom>
          <a:noFill/>
        </p:spPr>
        <p:txBody>
          <a:bodyPr wrap="square" lIns="0" rIns="0" tIns="0" bIns="0" anchor="ctr">
            <a:spAutoFit/>
          </a:bodyPr>
          <a:lstStyle/>
          <a:p>
            <a:pPr algn="ctr"/>
            <a:r>
              <a:rPr sz="1200" b="0" i="0">
                <a:solidFill>
                  <a:srgbClr val="8C6D1F"/>
                </a:solidFill>
                <a:latin typeface="Cambria"/>
              </a:rPr>
              <a:t>YOUR CHART: internal momentum replication
(equity curve or decile spread, labeled 'Backtest')</a:t>
            </a:r>
          </a:p>
        </p:txBody>
      </p:sp>
      <p:sp>
        <p:nvSpPr>
          <p:cNvPr id="11" name="Rounded Rectangle 10"/>
          <p:cNvSpPr/>
          <p:nvPr/>
        </p:nvSpPr>
        <p:spPr>
          <a:xfrm>
            <a:off x="6675120" y="5623560"/>
            <a:ext cx="4023360" cy="292608"/>
          </a:xfrm>
          <a:prstGeom prst="roundRect">
            <a:avLst>
              <a:gd name="adj" fmla="val 50000"/>
            </a:avLst>
          </a:prstGeom>
          <a:solidFill>
            <a:srgbClr val="F0E7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784848" y="5623560"/>
            <a:ext cx="3803904" cy="292608"/>
          </a:xfrm>
          <a:prstGeom prst="rect">
            <a:avLst/>
          </a:prstGeom>
          <a:noFill/>
        </p:spPr>
        <p:txBody>
          <a:bodyPr wrap="square" lIns="0" rIns="0" tIns="0" bIns="0" anchor="ctr">
            <a:spAutoFit/>
          </a:bodyPr>
          <a:lstStyle/>
          <a:p>
            <a:pPr algn="l"/>
            <a:r>
              <a:rPr sz="1050" b="1" i="0">
                <a:solidFill>
                  <a:srgbClr val="8C6D1F"/>
                </a:solidFill>
                <a:latin typeface="Cambria"/>
              </a:rPr>
              <a:t>YOU:  export one clean replication chart from the engine</a:t>
            </a:r>
          </a:p>
        </p:txBody>
      </p:sp>
      <p:sp>
        <p:nvSpPr>
          <p:cNvPr id="13" name="TextBox 12"/>
          <p:cNvSpPr txBox="1"/>
          <p:nvPr/>
        </p:nvSpPr>
        <p:spPr>
          <a:xfrm>
            <a:off x="640080" y="6473952"/>
            <a:ext cx="8229600" cy="274320"/>
          </a:xfrm>
          <a:prstGeom prst="rect">
            <a:avLst/>
          </a:prstGeom>
          <a:noFill/>
        </p:spPr>
        <p:txBody>
          <a:bodyPr wrap="square" lIns="0" rIns="0" tIns="0" bIns="0" anchor="t">
            <a:spAutoFit/>
          </a:bodyPr>
          <a:lstStyle/>
          <a:p>
            <a:pPr algn="l"/>
            <a:r>
              <a:rPr sz="850" b="0" i="0">
                <a:solidFill>
                  <a:srgbClr val="9C937F"/>
                </a:solidFill>
                <a:latin typeface="Cambria"/>
              </a:rPr>
              <a:t>Confidential — private discussion document. Not an offer of securities or investment advice.</a:t>
            </a:r>
          </a:p>
        </p:txBody>
      </p:sp>
      <p:sp>
        <p:nvSpPr>
          <p:cNvPr id="14" name="TextBox 13"/>
          <p:cNvSpPr txBox="1"/>
          <p:nvPr/>
        </p:nvSpPr>
        <p:spPr>
          <a:xfrm>
            <a:off x="11247120" y="6473952"/>
            <a:ext cx="365760" cy="274320"/>
          </a:xfrm>
          <a:prstGeom prst="rect">
            <a:avLst/>
          </a:prstGeom>
          <a:noFill/>
        </p:spPr>
        <p:txBody>
          <a:bodyPr wrap="square" lIns="0" rIns="0" tIns="0" bIns="0" anchor="t">
            <a:spAutoFit/>
          </a:bodyPr>
          <a:lstStyle/>
          <a:p>
            <a:pPr algn="r"/>
            <a:r>
              <a:rPr sz="900" b="0" i="0">
                <a:solidFill>
                  <a:srgbClr val="9C937F"/>
                </a:solidFill>
                <a:latin typeface="Cambria"/>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9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10972800" cy="274320"/>
          </a:xfrm>
          <a:prstGeom prst="rect">
            <a:avLst/>
          </a:prstGeom>
          <a:noFill/>
        </p:spPr>
        <p:txBody>
          <a:bodyPr wrap="square" lIns="0" rIns="0" tIns="0" bIns="0" anchor="t">
            <a:spAutoFit/>
          </a:bodyPr>
          <a:lstStyle/>
          <a:p>
            <a:pPr algn="l"/>
            <a:r>
              <a:rPr sz="1100" b="1" i="0" spc="220">
                <a:solidFill>
                  <a:srgbClr val="8C7B4F"/>
                </a:solidFill>
                <a:latin typeface="Cambria"/>
              </a:rPr>
              <a:t>FROM IDEA TO PRODUCTION</a:t>
            </a:r>
          </a:p>
        </p:txBody>
      </p:sp>
      <p:sp>
        <p:nvSpPr>
          <p:cNvPr id="4" name="TextBox 3"/>
          <p:cNvSpPr txBox="1"/>
          <p:nvPr/>
        </p:nvSpPr>
        <p:spPr>
          <a:xfrm>
            <a:off x="640080" y="658368"/>
            <a:ext cx="10972800" cy="685800"/>
          </a:xfrm>
          <a:prstGeom prst="rect">
            <a:avLst/>
          </a:prstGeom>
          <a:noFill/>
        </p:spPr>
        <p:txBody>
          <a:bodyPr wrap="square" lIns="0" rIns="0" tIns="0" bIns="0" anchor="t">
            <a:spAutoFit/>
          </a:bodyPr>
          <a:lstStyle/>
          <a:p>
            <a:pPr algn="l"/>
            <a:r>
              <a:rPr sz="3000" b="1" i="0">
                <a:solidFill>
                  <a:srgbClr val="1C3527"/>
                </a:solidFill>
                <a:latin typeface="Palatino Linotype"/>
              </a:rPr>
              <a:t>Most ideas never receive capital</a:t>
            </a:r>
          </a:p>
        </p:txBody>
      </p:sp>
      <p:sp>
        <p:nvSpPr>
          <p:cNvPr id="5" name="Rounded Rectangle 4"/>
          <p:cNvSpPr/>
          <p:nvPr/>
        </p:nvSpPr>
        <p:spPr>
          <a:xfrm>
            <a:off x="548640" y="1481328"/>
            <a:ext cx="6035040" cy="566928"/>
          </a:xfrm>
          <a:prstGeom prst="roundRect">
            <a:avLst>
              <a:gd name="adj" fmla="val 14000"/>
            </a:avLst>
          </a:prstGeom>
          <a:solidFill>
            <a:srgbClr val="F3ED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481328"/>
            <a:ext cx="5760720" cy="566928"/>
          </a:xfrm>
          <a:prstGeom prst="rect">
            <a:avLst/>
          </a:prstGeom>
          <a:noFill/>
        </p:spPr>
        <p:txBody>
          <a:bodyPr wrap="square" lIns="0" rIns="0" tIns="0" bIns="0" anchor="ctr">
            <a:spAutoFit/>
          </a:bodyPr>
          <a:lstStyle/>
          <a:p>
            <a:pPr algn="ctr"/>
            <a:r>
              <a:rPr sz="1150" b="0" i="0">
                <a:solidFill>
                  <a:srgbClr val="2C2A24"/>
                </a:solidFill>
                <a:latin typeface="Cambria"/>
              </a:rPr>
              <a:t>Idea / academic paper / market observation</a:t>
            </a:r>
          </a:p>
        </p:txBody>
      </p:sp>
      <p:sp>
        <p:nvSpPr>
          <p:cNvPr id="7" name="Down Arrow 6"/>
          <p:cNvSpPr/>
          <p:nvPr/>
        </p:nvSpPr>
        <p:spPr>
          <a:xfrm>
            <a:off x="3483864" y="2066544"/>
            <a:ext cx="164592" cy="201168"/>
          </a:xfrm>
          <a:prstGeom prst="downArrow">
            <a:avLst/>
          </a:prstGeom>
          <a:solidFill>
            <a:srgbClr val="BFB2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800100" y="2286000"/>
            <a:ext cx="5532120" cy="566928"/>
          </a:xfrm>
          <a:prstGeom prst="roundRect">
            <a:avLst>
              <a:gd name="adj" fmla="val 14000"/>
            </a:avLst>
          </a:prstGeom>
          <a:solidFill>
            <a:srgbClr val="F3ED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37259" y="2286000"/>
            <a:ext cx="5257800" cy="566928"/>
          </a:xfrm>
          <a:prstGeom prst="rect">
            <a:avLst/>
          </a:prstGeom>
          <a:noFill/>
        </p:spPr>
        <p:txBody>
          <a:bodyPr wrap="square" lIns="0" rIns="0" tIns="0" bIns="0" anchor="ctr">
            <a:spAutoFit/>
          </a:bodyPr>
          <a:lstStyle/>
          <a:p>
            <a:pPr algn="ctr"/>
            <a:r>
              <a:rPr sz="1150" b="0" i="0">
                <a:solidFill>
                  <a:srgbClr val="2C2A24"/>
                </a:solidFill>
                <a:latin typeface="Cambria"/>
              </a:rPr>
              <a:t>Exact economic hypothesis + causal timing</a:t>
            </a:r>
          </a:p>
        </p:txBody>
      </p:sp>
      <p:sp>
        <p:nvSpPr>
          <p:cNvPr id="10" name="Down Arrow 9"/>
          <p:cNvSpPr/>
          <p:nvPr/>
        </p:nvSpPr>
        <p:spPr>
          <a:xfrm>
            <a:off x="3483864" y="2871216"/>
            <a:ext cx="164592" cy="201168"/>
          </a:xfrm>
          <a:prstGeom prst="downArrow">
            <a:avLst/>
          </a:prstGeom>
          <a:solidFill>
            <a:srgbClr val="BFB2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1051560" y="3090672"/>
            <a:ext cx="5029200" cy="566928"/>
          </a:xfrm>
          <a:prstGeom prst="roundRect">
            <a:avLst>
              <a:gd name="adj" fmla="val 14000"/>
            </a:avLst>
          </a:prstGeom>
          <a:solidFill>
            <a:srgbClr val="F3ED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188719" y="3090672"/>
            <a:ext cx="4754880" cy="566928"/>
          </a:xfrm>
          <a:prstGeom prst="rect">
            <a:avLst/>
          </a:prstGeom>
          <a:noFill/>
        </p:spPr>
        <p:txBody>
          <a:bodyPr wrap="square" lIns="0" rIns="0" tIns="0" bIns="0" anchor="ctr">
            <a:spAutoFit/>
          </a:bodyPr>
          <a:lstStyle/>
          <a:p>
            <a:pPr algn="ctr"/>
            <a:r>
              <a:rPr sz="1150" b="0" i="0">
                <a:solidFill>
                  <a:srgbClr val="2C2A24"/>
                </a:solidFill>
                <a:latin typeface="Cambria"/>
              </a:rPr>
              <a:t>Point-in-time data · signal evidence (IC, quintiles)</a:t>
            </a:r>
          </a:p>
        </p:txBody>
      </p:sp>
      <p:sp>
        <p:nvSpPr>
          <p:cNvPr id="13" name="Down Arrow 12"/>
          <p:cNvSpPr/>
          <p:nvPr/>
        </p:nvSpPr>
        <p:spPr>
          <a:xfrm>
            <a:off x="3483864" y="3675887"/>
            <a:ext cx="164592" cy="201168"/>
          </a:xfrm>
          <a:prstGeom prst="downArrow">
            <a:avLst/>
          </a:prstGeom>
          <a:solidFill>
            <a:srgbClr val="BFB2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1303019" y="3895344"/>
            <a:ext cx="4526280" cy="566928"/>
          </a:xfrm>
          <a:prstGeom prst="roundRect">
            <a:avLst>
              <a:gd name="adj" fmla="val 14000"/>
            </a:avLst>
          </a:prstGeom>
          <a:solidFill>
            <a:srgbClr val="F3ED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440179" y="3895344"/>
            <a:ext cx="4251960" cy="566928"/>
          </a:xfrm>
          <a:prstGeom prst="rect">
            <a:avLst/>
          </a:prstGeom>
          <a:noFill/>
        </p:spPr>
        <p:txBody>
          <a:bodyPr wrap="square" lIns="0" rIns="0" tIns="0" bIns="0" anchor="ctr">
            <a:spAutoFit/>
          </a:bodyPr>
          <a:lstStyle/>
          <a:p>
            <a:pPr algn="ctr"/>
            <a:r>
              <a:rPr sz="1150" b="0" i="0">
                <a:solidFill>
                  <a:srgbClr val="2C2A24"/>
                </a:solidFill>
                <a:latin typeface="Cambria"/>
              </a:rPr>
              <a:t>Realistic backtest — next-open fills, costs, no lookahead</a:t>
            </a:r>
          </a:p>
        </p:txBody>
      </p:sp>
      <p:sp>
        <p:nvSpPr>
          <p:cNvPr id="16" name="Down Arrow 15"/>
          <p:cNvSpPr/>
          <p:nvPr/>
        </p:nvSpPr>
        <p:spPr>
          <a:xfrm>
            <a:off x="3483864" y="4480559"/>
            <a:ext cx="164592" cy="201168"/>
          </a:xfrm>
          <a:prstGeom prst="downArrow">
            <a:avLst/>
          </a:prstGeom>
          <a:solidFill>
            <a:srgbClr val="BFB2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1554479" y="4700016"/>
            <a:ext cx="4023360" cy="566928"/>
          </a:xfrm>
          <a:prstGeom prst="roundRect">
            <a:avLst>
              <a:gd name="adj" fmla="val 14000"/>
            </a:avLst>
          </a:prstGeom>
          <a:solidFill>
            <a:srgbClr val="F3ED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691639" y="4700016"/>
            <a:ext cx="3749040" cy="566928"/>
          </a:xfrm>
          <a:prstGeom prst="rect">
            <a:avLst/>
          </a:prstGeom>
          <a:noFill/>
        </p:spPr>
        <p:txBody>
          <a:bodyPr wrap="square" lIns="0" rIns="0" tIns="0" bIns="0" anchor="ctr">
            <a:spAutoFit/>
          </a:bodyPr>
          <a:lstStyle/>
          <a:p>
            <a:pPr algn="ctr"/>
            <a:r>
              <a:rPr sz="1150" b="0" i="0">
                <a:solidFill>
                  <a:srgbClr val="2C2A24"/>
                </a:solidFill>
                <a:latin typeface="Cambria"/>
              </a:rPr>
              <a:t>Out-of-sample · regimes · capacity · path-risk bootstrap</a:t>
            </a:r>
          </a:p>
        </p:txBody>
      </p:sp>
      <p:sp>
        <p:nvSpPr>
          <p:cNvPr id="19" name="Down Arrow 18"/>
          <p:cNvSpPr/>
          <p:nvPr/>
        </p:nvSpPr>
        <p:spPr>
          <a:xfrm>
            <a:off x="3483864" y="5285231"/>
            <a:ext cx="164592" cy="201168"/>
          </a:xfrm>
          <a:prstGeom prst="downArrow">
            <a:avLst/>
          </a:prstGeom>
          <a:solidFill>
            <a:srgbClr val="BFB2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805939" y="5504688"/>
            <a:ext cx="3520440" cy="566928"/>
          </a:xfrm>
          <a:prstGeom prst="roundRect">
            <a:avLst>
              <a:gd name="adj" fmla="val 14000"/>
            </a:avLst>
          </a:prstGeom>
          <a:solidFill>
            <a:srgbClr val="1C35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943100" y="5504688"/>
            <a:ext cx="3246120" cy="566928"/>
          </a:xfrm>
          <a:prstGeom prst="rect">
            <a:avLst/>
          </a:prstGeom>
          <a:noFill/>
        </p:spPr>
        <p:txBody>
          <a:bodyPr wrap="square" lIns="0" rIns="0" tIns="0" bIns="0" anchor="ctr">
            <a:spAutoFit/>
          </a:bodyPr>
          <a:lstStyle/>
          <a:p>
            <a:pPr algn="ctr"/>
            <a:r>
              <a:rPr sz="1150" b="1" i="0">
                <a:solidFill>
                  <a:srgbClr val="FFFFFF"/>
                </a:solidFill>
                <a:latin typeface="Cambria"/>
              </a:rPr>
              <a:t>Incubation  →  paper trading  →  small live capital</a:t>
            </a:r>
          </a:p>
        </p:txBody>
      </p:sp>
      <p:sp>
        <p:nvSpPr>
          <p:cNvPr id="22" name="Rounded Rectangle 21"/>
          <p:cNvSpPr/>
          <p:nvPr/>
        </p:nvSpPr>
        <p:spPr>
          <a:xfrm>
            <a:off x="7315200" y="1481328"/>
            <a:ext cx="4251960" cy="3108960"/>
          </a:xfrm>
          <a:prstGeom prst="roundRect">
            <a:avLst>
              <a:gd name="adj" fmla="val 6000"/>
            </a:avLst>
          </a:prstGeom>
          <a:solidFill>
            <a:srgbClr val="F5E7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589520" y="1691640"/>
            <a:ext cx="3703320" cy="365760"/>
          </a:xfrm>
          <a:prstGeom prst="rect">
            <a:avLst/>
          </a:prstGeom>
          <a:noFill/>
        </p:spPr>
        <p:txBody>
          <a:bodyPr wrap="square" lIns="0" rIns="0" tIns="0" bIns="0" anchor="t">
            <a:spAutoFit/>
          </a:bodyPr>
          <a:lstStyle/>
          <a:p>
            <a:pPr algn="l"/>
            <a:r>
              <a:rPr sz="1500" b="1" i="0">
                <a:solidFill>
                  <a:srgbClr val="6B2430"/>
                </a:solidFill>
                <a:latin typeface="Palatino Linotype"/>
              </a:rPr>
              <a:t>Rejected — and that's the product</a:t>
            </a:r>
          </a:p>
        </p:txBody>
      </p:sp>
      <p:sp>
        <p:nvSpPr>
          <p:cNvPr id="24" name="TextBox 23"/>
          <p:cNvSpPr txBox="1"/>
          <p:nvPr/>
        </p:nvSpPr>
        <p:spPr>
          <a:xfrm>
            <a:off x="7589520" y="2148840"/>
            <a:ext cx="3703320" cy="2286000"/>
          </a:xfrm>
          <a:prstGeom prst="rect">
            <a:avLst/>
          </a:prstGeom>
          <a:noFill/>
        </p:spPr>
        <p:txBody>
          <a:bodyPr wrap="square" lIns="0" rIns="0" tIns="0" bIns="0" anchor="t">
            <a:spAutoFit/>
          </a:bodyPr>
          <a:lstStyle/>
          <a:p>
            <a:pPr algn="l">
              <a:lnSpc>
                <a:spcPct val="105000"/>
              </a:lnSpc>
              <a:spcAft>
                <a:spcPts val="300"/>
              </a:spcAft>
            </a:pPr>
            <a:r>
              <a:rPr sz="1200" b="1" i="0">
                <a:solidFill>
                  <a:srgbClr val="2C2A24"/>
                </a:solidFill>
                <a:latin typeface="Cambria"/>
              </a:rPr>
              <a:t>Ideas die at every stage:</a:t>
            </a:r>
          </a:p>
          <a:p>
            <a:pPr algn="l">
              <a:lnSpc>
                <a:spcPct val="105000"/>
              </a:lnSpc>
              <a:spcAft>
                <a:spcPts val="200"/>
              </a:spcAft>
            </a:pPr>
            <a:r>
              <a:rPr sz="1200" b="0" i="0">
                <a:solidFill>
                  <a:srgbClr val="2C2A24"/>
                </a:solidFill>
                <a:latin typeface="Cambria"/>
              </a:rPr>
              <a:t>–  signal doesn't predict out-of-sample</a:t>
            </a:r>
          </a:p>
          <a:p>
            <a:pPr algn="l">
              <a:lnSpc>
                <a:spcPct val="105000"/>
              </a:lnSpc>
              <a:spcAft>
                <a:spcPts val="200"/>
              </a:spcAft>
            </a:pPr>
            <a:r>
              <a:rPr sz="1200" b="0" i="0">
                <a:solidFill>
                  <a:srgbClr val="2C2A24"/>
                </a:solidFill>
                <a:latin typeface="Cambria"/>
              </a:rPr>
              <a:t>–  costs and slippage eat the gross edge</a:t>
            </a:r>
          </a:p>
          <a:p>
            <a:pPr algn="l">
              <a:lnSpc>
                <a:spcPct val="105000"/>
              </a:lnSpc>
              <a:spcAft>
                <a:spcPts val="200"/>
              </a:spcAft>
            </a:pPr>
            <a:r>
              <a:rPr sz="1200" b="0" i="0">
                <a:solidFill>
                  <a:srgbClr val="2C2A24"/>
                </a:solidFill>
                <a:latin typeface="Cambria"/>
              </a:rPr>
              <a:t>–  works only in one regime or decade</a:t>
            </a:r>
          </a:p>
          <a:p>
            <a:pPr algn="l">
              <a:lnSpc>
                <a:spcPct val="105000"/>
              </a:lnSpc>
              <a:spcAft>
                <a:spcPts val="800"/>
              </a:spcAft>
            </a:pPr>
            <a:r>
              <a:rPr sz="1200" b="0" i="0">
                <a:solidFill>
                  <a:srgbClr val="2C2A24"/>
                </a:solidFill>
                <a:latin typeface="Cambria"/>
              </a:rPr>
              <a:t>–  too fragile to parameter changes</a:t>
            </a:r>
          </a:p>
          <a:p>
            <a:pPr algn="l">
              <a:lnSpc>
                <a:spcPct val="105000"/>
              </a:lnSpc>
            </a:pPr>
            <a:r>
              <a:rPr sz="1200" b="1" i="0">
                <a:solidFill>
                  <a:srgbClr val="6B2430"/>
                </a:solidFill>
                <a:latin typeface="Cambria"/>
              </a:rPr>
              <a:t>The filter is what you are investing in — not any single winning chart.</a:t>
            </a:r>
          </a:p>
        </p:txBody>
      </p:sp>
      <p:sp>
        <p:nvSpPr>
          <p:cNvPr id="25" name="Rounded Rectangle 24"/>
          <p:cNvSpPr/>
          <p:nvPr/>
        </p:nvSpPr>
        <p:spPr>
          <a:xfrm>
            <a:off x="7315200" y="4800600"/>
            <a:ext cx="4251960" cy="914400"/>
          </a:xfrm>
          <a:prstGeom prst="roundRect">
            <a:avLst>
              <a:gd name="adj" fmla="val 6000"/>
            </a:avLst>
          </a:prstGeom>
          <a:solidFill>
            <a:srgbClr val="F3ED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589520" y="4919472"/>
            <a:ext cx="3703320" cy="685800"/>
          </a:xfrm>
          <a:prstGeom prst="rect">
            <a:avLst/>
          </a:prstGeom>
          <a:noFill/>
        </p:spPr>
        <p:txBody>
          <a:bodyPr wrap="square" lIns="0" rIns="0" tIns="0" bIns="0" anchor="t">
            <a:spAutoFit/>
          </a:bodyPr>
          <a:lstStyle/>
          <a:p>
            <a:pPr algn="l">
              <a:spcAft>
                <a:spcPts val="200"/>
              </a:spcAft>
            </a:pPr>
            <a:r>
              <a:rPr sz="1500" b="1" i="0">
                <a:solidFill>
                  <a:srgbClr val="1C3527"/>
                </a:solidFill>
                <a:latin typeface="Cambria"/>
              </a:rPr>
              <a:t>[ X ] ideas researched   →   [ Y ] live sleeves</a:t>
            </a:r>
          </a:p>
          <a:p>
            <a:pPr algn="l"/>
            <a:r>
              <a:rPr sz="1100" b="0" i="0">
                <a:solidFill>
                  <a:srgbClr val="6E6759"/>
                </a:solidFill>
                <a:latin typeface="Cambria"/>
              </a:rPr>
              <a:t>since [ year ]</a:t>
            </a:r>
          </a:p>
        </p:txBody>
      </p:sp>
      <p:sp>
        <p:nvSpPr>
          <p:cNvPr id="27" name="Rounded Rectangle 26"/>
          <p:cNvSpPr/>
          <p:nvPr/>
        </p:nvSpPr>
        <p:spPr>
          <a:xfrm>
            <a:off x="7315200" y="5852160"/>
            <a:ext cx="4251960" cy="292608"/>
          </a:xfrm>
          <a:prstGeom prst="roundRect">
            <a:avLst>
              <a:gd name="adj" fmla="val 50000"/>
            </a:avLst>
          </a:prstGeom>
          <a:solidFill>
            <a:srgbClr val="F0E7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424927" y="5852160"/>
            <a:ext cx="4032504" cy="292608"/>
          </a:xfrm>
          <a:prstGeom prst="rect">
            <a:avLst/>
          </a:prstGeom>
          <a:noFill/>
        </p:spPr>
        <p:txBody>
          <a:bodyPr wrap="square" lIns="0" rIns="0" tIns="0" bIns="0" anchor="ctr">
            <a:spAutoFit/>
          </a:bodyPr>
          <a:lstStyle/>
          <a:p>
            <a:pPr algn="l"/>
            <a:r>
              <a:rPr sz="1050" b="1" i="0">
                <a:solidFill>
                  <a:srgbClr val="8C6D1F"/>
                </a:solidFill>
                <a:latin typeface="Cambria"/>
              </a:rPr>
              <a:t>YOU:  count ideas researched vs. went live</a:t>
            </a:r>
          </a:p>
        </p:txBody>
      </p:sp>
      <p:sp>
        <p:nvSpPr>
          <p:cNvPr id="29" name="TextBox 28"/>
          <p:cNvSpPr txBox="1"/>
          <p:nvPr/>
        </p:nvSpPr>
        <p:spPr>
          <a:xfrm>
            <a:off x="640080" y="6473952"/>
            <a:ext cx="8229600" cy="274320"/>
          </a:xfrm>
          <a:prstGeom prst="rect">
            <a:avLst/>
          </a:prstGeom>
          <a:noFill/>
        </p:spPr>
        <p:txBody>
          <a:bodyPr wrap="square" lIns="0" rIns="0" tIns="0" bIns="0" anchor="t">
            <a:spAutoFit/>
          </a:bodyPr>
          <a:lstStyle/>
          <a:p>
            <a:pPr algn="l"/>
            <a:r>
              <a:rPr sz="850" b="0" i="0">
                <a:solidFill>
                  <a:srgbClr val="9C937F"/>
                </a:solidFill>
                <a:latin typeface="Cambria"/>
              </a:rPr>
              <a:t>Confidential — private discussion document. Not an offer of securities or investment advice.</a:t>
            </a:r>
          </a:p>
        </p:txBody>
      </p:sp>
      <p:sp>
        <p:nvSpPr>
          <p:cNvPr id="30" name="TextBox 29"/>
          <p:cNvSpPr txBox="1"/>
          <p:nvPr/>
        </p:nvSpPr>
        <p:spPr>
          <a:xfrm>
            <a:off x="11247120" y="6473952"/>
            <a:ext cx="365760" cy="274320"/>
          </a:xfrm>
          <a:prstGeom prst="rect">
            <a:avLst/>
          </a:prstGeom>
          <a:noFill/>
        </p:spPr>
        <p:txBody>
          <a:bodyPr wrap="square" lIns="0" rIns="0" tIns="0" bIns="0" anchor="t">
            <a:spAutoFit/>
          </a:bodyPr>
          <a:lstStyle/>
          <a:p>
            <a:pPr algn="r"/>
            <a:r>
              <a:rPr sz="900" b="0" i="0">
                <a:solidFill>
                  <a:srgbClr val="9C937F"/>
                </a:solidFill>
                <a:latin typeface="Cambria"/>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9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10972800" cy="274320"/>
          </a:xfrm>
          <a:prstGeom prst="rect">
            <a:avLst/>
          </a:prstGeom>
          <a:noFill/>
        </p:spPr>
        <p:txBody>
          <a:bodyPr wrap="square" lIns="0" rIns="0" tIns="0" bIns="0" anchor="t">
            <a:spAutoFit/>
          </a:bodyPr>
          <a:lstStyle/>
          <a:p>
            <a:pPr algn="l"/>
            <a:r>
              <a:rPr sz="1100" b="1" i="0" spc="220">
                <a:solidFill>
                  <a:srgbClr val="8C7B4F"/>
                </a:solidFill>
                <a:latin typeface="Cambria"/>
              </a:rPr>
              <a:t>THE PROCESS, LIVE</a:t>
            </a:r>
          </a:p>
        </p:txBody>
      </p:sp>
      <p:sp>
        <p:nvSpPr>
          <p:cNvPr id="4" name="TextBox 3"/>
          <p:cNvSpPr txBox="1"/>
          <p:nvPr/>
        </p:nvSpPr>
        <p:spPr>
          <a:xfrm>
            <a:off x="640080" y="658368"/>
            <a:ext cx="10972800" cy="685800"/>
          </a:xfrm>
          <a:prstGeom prst="rect">
            <a:avLst/>
          </a:prstGeom>
          <a:noFill/>
        </p:spPr>
        <p:txBody>
          <a:bodyPr wrap="square" lIns="0" rIns="0" tIns="0" bIns="0" anchor="t">
            <a:spAutoFit/>
          </a:bodyPr>
          <a:lstStyle/>
          <a:p>
            <a:pPr algn="l"/>
            <a:r>
              <a:rPr sz="3000" b="1" i="0">
                <a:solidFill>
                  <a:srgbClr val="1C3527"/>
                </a:solidFill>
                <a:latin typeface="Palatino Linotype"/>
              </a:rPr>
              <a:t>A beautiful backtest we killed</a:t>
            </a:r>
          </a:p>
        </p:txBody>
      </p:sp>
      <p:sp>
        <p:nvSpPr>
          <p:cNvPr id="5" name="Rounded Rectangle 4"/>
          <p:cNvSpPr/>
          <p:nvPr/>
        </p:nvSpPr>
        <p:spPr>
          <a:xfrm>
            <a:off x="640080" y="1463040"/>
            <a:ext cx="5349240" cy="4297680"/>
          </a:xfrm>
          <a:prstGeom prst="roundRect">
            <a:avLst>
              <a:gd name="adj" fmla="val 6000"/>
            </a:avLst>
          </a:prstGeom>
          <a:solidFill>
            <a:srgbClr val="F3ED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691640"/>
            <a:ext cx="4800600" cy="320040"/>
          </a:xfrm>
          <a:prstGeom prst="rect">
            <a:avLst/>
          </a:prstGeom>
          <a:noFill/>
        </p:spPr>
        <p:txBody>
          <a:bodyPr wrap="square" lIns="0" rIns="0" tIns="0" bIns="0" anchor="t">
            <a:spAutoFit/>
          </a:bodyPr>
          <a:lstStyle/>
          <a:p>
            <a:pPr algn="l"/>
            <a:r>
              <a:rPr sz="1550" b="1" i="0">
                <a:solidFill>
                  <a:srgbClr val="1C3527"/>
                </a:solidFill>
                <a:latin typeface="Palatino Linotype"/>
              </a:rPr>
              <a:t>The candidate looked great</a:t>
            </a:r>
          </a:p>
        </p:txBody>
      </p:sp>
      <p:sp>
        <p:nvSpPr>
          <p:cNvPr id="7" name="TextBox 6"/>
          <p:cNvSpPr txBox="1"/>
          <p:nvPr/>
        </p:nvSpPr>
        <p:spPr>
          <a:xfrm>
            <a:off x="914400" y="2084831"/>
            <a:ext cx="4800600" cy="685800"/>
          </a:xfrm>
          <a:prstGeom prst="rect">
            <a:avLst/>
          </a:prstGeom>
          <a:noFill/>
        </p:spPr>
        <p:txBody>
          <a:bodyPr wrap="square" lIns="0" rIns="0" tIns="0" bIns="0" anchor="t">
            <a:spAutoFit/>
          </a:bodyPr>
          <a:lstStyle/>
          <a:p>
            <a:pPr algn="l">
              <a:lnSpc>
                <a:spcPct val="110000"/>
              </a:lnSpc>
            </a:pPr>
            <a:r>
              <a:rPr sz="1250" b="0" i="0">
                <a:solidFill>
                  <a:srgbClr val="2C2A24"/>
                </a:solidFill>
                <a:latin typeface="Cambria"/>
              </a:rPr>
              <a:t>Overnight gap continuation in single stocks: strong, consistent gross returns over many years of data.</a:t>
            </a:r>
          </a:p>
        </p:txBody>
      </p:sp>
      <p:sp>
        <p:nvSpPr>
          <p:cNvPr id="8" name="Rounded Rectangle 7"/>
          <p:cNvSpPr/>
          <p:nvPr/>
        </p:nvSpPr>
        <p:spPr>
          <a:xfrm>
            <a:off x="914400" y="2880360"/>
            <a:ext cx="4800600" cy="2377440"/>
          </a:xfrm>
          <a:prstGeom prst="roundRect">
            <a:avLst>
              <a:gd name="adj" fmla="val 4000"/>
            </a:avLst>
          </a:prstGeom>
          <a:solidFill>
            <a:srgbClr val="F7F9FC"/>
          </a:solidFill>
          <a:ln w="15240">
            <a:solidFill>
              <a:srgbClr val="8C6D1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2880360"/>
            <a:ext cx="4343400" cy="2377440"/>
          </a:xfrm>
          <a:prstGeom prst="rect">
            <a:avLst/>
          </a:prstGeom>
          <a:noFill/>
        </p:spPr>
        <p:txBody>
          <a:bodyPr wrap="square" lIns="0" rIns="0" tIns="0" bIns="0" anchor="ctr">
            <a:spAutoFit/>
          </a:bodyPr>
          <a:lstStyle/>
          <a:p>
            <a:pPr algn="ctr"/>
            <a:r>
              <a:rPr sz="1200" b="0" i="0">
                <a:solidFill>
                  <a:srgbClr val="8C6D1F"/>
                </a:solidFill>
                <a:latin typeface="Cambria"/>
              </a:rPr>
              <a:t>YOUR CHART: gross equity curve from the
gapper study (PAKAL report) — label 'Gross, hypothetical'</a:t>
            </a:r>
          </a:p>
        </p:txBody>
      </p:sp>
      <p:sp>
        <p:nvSpPr>
          <p:cNvPr id="10" name="Rounded Rectangle 9"/>
          <p:cNvSpPr/>
          <p:nvPr/>
        </p:nvSpPr>
        <p:spPr>
          <a:xfrm>
            <a:off x="6263640" y="1463040"/>
            <a:ext cx="5349240" cy="4297680"/>
          </a:xfrm>
          <a:prstGeom prst="roundRect">
            <a:avLst>
              <a:gd name="adj" fmla="val 6000"/>
            </a:avLst>
          </a:prstGeom>
          <a:solidFill>
            <a:srgbClr val="FFFFFF"/>
          </a:solidFill>
          <a:ln w="15240">
            <a:solidFill>
              <a:srgbClr val="DDD3B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37960" y="1691640"/>
            <a:ext cx="4800600" cy="320040"/>
          </a:xfrm>
          <a:prstGeom prst="rect">
            <a:avLst/>
          </a:prstGeom>
          <a:noFill/>
        </p:spPr>
        <p:txBody>
          <a:bodyPr wrap="square" lIns="0" rIns="0" tIns="0" bIns="0" anchor="t">
            <a:spAutoFit/>
          </a:bodyPr>
          <a:lstStyle/>
          <a:p>
            <a:pPr algn="l"/>
            <a:r>
              <a:rPr sz="1550" b="1" i="0">
                <a:solidFill>
                  <a:srgbClr val="1C3527"/>
                </a:solidFill>
                <a:latin typeface="Palatino Linotype"/>
              </a:rPr>
              <a:t>Then realism did its job</a:t>
            </a:r>
          </a:p>
        </p:txBody>
      </p:sp>
      <p:sp>
        <p:nvSpPr>
          <p:cNvPr id="12" name="TextBox 11"/>
          <p:cNvSpPr txBox="1"/>
          <p:nvPr/>
        </p:nvSpPr>
        <p:spPr>
          <a:xfrm>
            <a:off x="6537960" y="2103120"/>
            <a:ext cx="4800600" cy="2743200"/>
          </a:xfrm>
          <a:prstGeom prst="rect">
            <a:avLst/>
          </a:prstGeom>
          <a:noFill/>
        </p:spPr>
        <p:txBody>
          <a:bodyPr wrap="square" lIns="0" rIns="0" tIns="0" bIns="0" anchor="t">
            <a:spAutoFit/>
          </a:bodyPr>
          <a:lstStyle/>
          <a:p>
            <a:pPr algn="l">
              <a:lnSpc>
                <a:spcPct val="108000"/>
              </a:lnSpc>
              <a:spcAft>
                <a:spcPts val="100"/>
              </a:spcAft>
            </a:pPr>
            <a:r>
              <a:rPr sz="1250" b="1" i="0">
                <a:solidFill>
                  <a:srgbClr val="1C3527"/>
                </a:solidFill>
                <a:latin typeface="Cambria"/>
              </a:rPr>
              <a:t>Realistic execution:</a:t>
            </a:r>
          </a:p>
          <a:p>
            <a:pPr algn="l">
              <a:lnSpc>
                <a:spcPct val="108000"/>
              </a:lnSpc>
              <a:spcAft>
                <a:spcPts val="800"/>
              </a:spcAft>
            </a:pPr>
            <a:r>
              <a:rPr sz="1250" b="0" i="0">
                <a:solidFill>
                  <a:srgbClr val="2C2A24"/>
                </a:solidFill>
                <a:latin typeface="Cambria"/>
              </a:rPr>
              <a:t>modeled actual fill prices, spreads and slippage at the open — the gross edge shrank materially.</a:t>
            </a:r>
          </a:p>
          <a:p>
            <a:pPr algn="l">
              <a:lnSpc>
                <a:spcPct val="108000"/>
              </a:lnSpc>
              <a:spcAft>
                <a:spcPts val="100"/>
              </a:spcAft>
            </a:pPr>
            <a:r>
              <a:rPr sz="1250" b="1" i="0">
                <a:solidFill>
                  <a:srgbClr val="1C3527"/>
                </a:solidFill>
                <a:latin typeface="Cambria"/>
              </a:rPr>
              <a:t>Recent-period test:</a:t>
            </a:r>
          </a:p>
          <a:p>
            <a:pPr algn="l">
              <a:lnSpc>
                <a:spcPct val="108000"/>
              </a:lnSpc>
              <a:spcAft>
                <a:spcPts val="800"/>
              </a:spcAft>
            </a:pPr>
            <a:r>
              <a:rPr sz="1250" b="0" i="0">
                <a:solidFill>
                  <a:srgbClr val="2C2A24"/>
                </a:solidFill>
                <a:latin typeface="Cambria"/>
              </a:rPr>
              <a:t>the effect weakened in recent years — a warning sign of a crowded or decayed anomaly.</a:t>
            </a:r>
          </a:p>
          <a:p>
            <a:pPr algn="l">
              <a:lnSpc>
                <a:spcPct val="108000"/>
              </a:lnSpc>
              <a:spcAft>
                <a:spcPts val="100"/>
              </a:spcAft>
            </a:pPr>
            <a:r>
              <a:rPr sz="1250" b="1" i="0">
                <a:solidFill>
                  <a:srgbClr val="1C3527"/>
                </a:solidFill>
                <a:latin typeface="Cambria"/>
              </a:rPr>
              <a:t>Decision:</a:t>
            </a:r>
          </a:p>
          <a:p>
            <a:pPr algn="l">
              <a:lnSpc>
                <a:spcPct val="108000"/>
              </a:lnSpc>
            </a:pPr>
            <a:r>
              <a:rPr sz="1250" b="0" i="0">
                <a:solidFill>
                  <a:srgbClr val="2C2A24"/>
                </a:solidFill>
                <a:latin typeface="Cambria"/>
              </a:rPr>
              <a:t>no capital. Documented, archived, and it made every surviving strategy more believable.</a:t>
            </a:r>
          </a:p>
        </p:txBody>
      </p:sp>
      <p:sp>
        <p:nvSpPr>
          <p:cNvPr id="13" name="Rounded Rectangle 12"/>
          <p:cNvSpPr/>
          <p:nvPr/>
        </p:nvSpPr>
        <p:spPr>
          <a:xfrm rot="21240000">
            <a:off x="8869680" y="4709160"/>
            <a:ext cx="2377440" cy="685800"/>
          </a:xfrm>
          <a:prstGeom prst="roundRect">
            <a:avLst>
              <a:gd name="adj" fmla="val 12000"/>
            </a:avLst>
          </a:prstGeom>
          <a:noFill/>
          <a:ln w="31750">
            <a:solidFill>
              <a:srgbClr val="6B24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rot="21240000">
            <a:off x="8869680" y="4709160"/>
            <a:ext cx="2377440" cy="685800"/>
          </a:xfrm>
          <a:prstGeom prst="rect">
            <a:avLst/>
          </a:prstGeom>
          <a:noFill/>
        </p:spPr>
        <p:txBody>
          <a:bodyPr wrap="square" lIns="0" rIns="0" tIns="0" bIns="0" anchor="ctr">
            <a:spAutoFit/>
          </a:bodyPr>
          <a:lstStyle/>
          <a:p>
            <a:pPr algn="ctr"/>
            <a:r>
              <a:rPr sz="2200" b="1" i="0">
                <a:solidFill>
                  <a:srgbClr val="6B2430"/>
                </a:solidFill>
                <a:latin typeface="Palatino Linotype"/>
              </a:rPr>
              <a:t>REJECTED</a:t>
            </a:r>
          </a:p>
        </p:txBody>
      </p:sp>
      <p:sp>
        <p:nvSpPr>
          <p:cNvPr id="15" name="Rounded Rectangle 14"/>
          <p:cNvSpPr/>
          <p:nvPr/>
        </p:nvSpPr>
        <p:spPr>
          <a:xfrm>
            <a:off x="640080" y="5870448"/>
            <a:ext cx="4846320" cy="292608"/>
          </a:xfrm>
          <a:prstGeom prst="roundRect">
            <a:avLst>
              <a:gd name="adj" fmla="val 50000"/>
            </a:avLst>
          </a:prstGeom>
          <a:solidFill>
            <a:srgbClr val="F0E7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9808" y="5870448"/>
            <a:ext cx="4626864" cy="292608"/>
          </a:xfrm>
          <a:prstGeom prst="rect">
            <a:avLst/>
          </a:prstGeom>
          <a:noFill/>
        </p:spPr>
        <p:txBody>
          <a:bodyPr wrap="square" lIns="0" rIns="0" tIns="0" bIns="0" anchor="ctr">
            <a:spAutoFit/>
          </a:bodyPr>
          <a:lstStyle/>
          <a:p>
            <a:pPr algn="l"/>
            <a:r>
              <a:rPr sz="1050" b="1" i="0">
                <a:solidFill>
                  <a:srgbClr val="8C6D1F"/>
                </a:solidFill>
                <a:latin typeface="Cambria"/>
              </a:rPr>
              <a:t>YOU:  export gross curve chart from PAKAL gapper report</a:t>
            </a:r>
          </a:p>
        </p:txBody>
      </p:sp>
      <p:sp>
        <p:nvSpPr>
          <p:cNvPr id="17" name="TextBox 16"/>
          <p:cNvSpPr txBox="1"/>
          <p:nvPr/>
        </p:nvSpPr>
        <p:spPr>
          <a:xfrm>
            <a:off x="640080" y="6473952"/>
            <a:ext cx="8229600" cy="274320"/>
          </a:xfrm>
          <a:prstGeom prst="rect">
            <a:avLst/>
          </a:prstGeom>
          <a:noFill/>
        </p:spPr>
        <p:txBody>
          <a:bodyPr wrap="square" lIns="0" rIns="0" tIns="0" bIns="0" anchor="t">
            <a:spAutoFit/>
          </a:bodyPr>
          <a:lstStyle/>
          <a:p>
            <a:pPr algn="l"/>
            <a:r>
              <a:rPr sz="850" b="0" i="0">
                <a:solidFill>
                  <a:srgbClr val="9C937F"/>
                </a:solidFill>
                <a:latin typeface="Cambria"/>
              </a:rPr>
              <a:t>Confidential — private discussion document. Not an offer of securities or investment advice.</a:t>
            </a:r>
          </a:p>
        </p:txBody>
      </p:sp>
      <p:sp>
        <p:nvSpPr>
          <p:cNvPr id="18" name="TextBox 17"/>
          <p:cNvSpPr txBox="1"/>
          <p:nvPr/>
        </p:nvSpPr>
        <p:spPr>
          <a:xfrm>
            <a:off x="11247120" y="6473952"/>
            <a:ext cx="365760" cy="274320"/>
          </a:xfrm>
          <a:prstGeom prst="rect">
            <a:avLst/>
          </a:prstGeom>
          <a:noFill/>
        </p:spPr>
        <p:txBody>
          <a:bodyPr wrap="square" lIns="0" rIns="0" tIns="0" bIns="0" anchor="t">
            <a:spAutoFit/>
          </a:bodyPr>
          <a:lstStyle/>
          <a:p>
            <a:pPr algn="r"/>
            <a:r>
              <a:rPr sz="900" b="0" i="0">
                <a:solidFill>
                  <a:srgbClr val="9C937F"/>
                </a:solidFill>
                <a:latin typeface="Cambria"/>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9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10972800" cy="274320"/>
          </a:xfrm>
          <a:prstGeom prst="rect">
            <a:avLst/>
          </a:prstGeom>
          <a:noFill/>
        </p:spPr>
        <p:txBody>
          <a:bodyPr wrap="square" lIns="0" rIns="0" tIns="0" bIns="0" anchor="t">
            <a:spAutoFit/>
          </a:bodyPr>
          <a:lstStyle/>
          <a:p>
            <a:pPr algn="l"/>
            <a:r>
              <a:rPr sz="1100" b="1" i="0" spc="220">
                <a:solidFill>
                  <a:srgbClr val="8C7B4F"/>
                </a:solidFill>
                <a:latin typeface="Cambria"/>
              </a:rPr>
              <a:t>HONEST EXPECTATIONS</a:t>
            </a:r>
          </a:p>
        </p:txBody>
      </p:sp>
      <p:sp>
        <p:nvSpPr>
          <p:cNvPr id="4" name="TextBox 3"/>
          <p:cNvSpPr txBox="1"/>
          <p:nvPr/>
        </p:nvSpPr>
        <p:spPr>
          <a:xfrm>
            <a:off x="640080" y="658368"/>
            <a:ext cx="10972800" cy="685800"/>
          </a:xfrm>
          <a:prstGeom prst="rect">
            <a:avLst/>
          </a:prstGeom>
          <a:noFill/>
        </p:spPr>
        <p:txBody>
          <a:bodyPr wrap="square" lIns="0" rIns="0" tIns="0" bIns="0" anchor="t">
            <a:spAutoFit/>
          </a:bodyPr>
          <a:lstStyle/>
          <a:p>
            <a:pPr algn="l"/>
            <a:r>
              <a:rPr sz="3000" b="1" i="0">
                <a:solidFill>
                  <a:srgbClr val="1C3527"/>
                </a:solidFill>
                <a:latin typeface="Palatino Linotype"/>
              </a:rPr>
              <a:t>What your money might do — as ranges, not promises</a:t>
            </a:r>
          </a:p>
        </p:txBody>
      </p:sp>
      <p:sp>
        <p:nvSpPr>
          <p:cNvPr id="5" name="TextBox 4"/>
          <p:cNvSpPr txBox="1"/>
          <p:nvPr/>
        </p:nvSpPr>
        <p:spPr>
          <a:xfrm>
            <a:off x="640080" y="1371600"/>
            <a:ext cx="10881360" cy="548640"/>
          </a:xfrm>
          <a:prstGeom prst="rect">
            <a:avLst/>
          </a:prstGeom>
          <a:noFill/>
        </p:spPr>
        <p:txBody>
          <a:bodyPr wrap="square" lIns="0" rIns="0" tIns="0" bIns="0" anchor="t">
            <a:spAutoFit/>
          </a:bodyPr>
          <a:lstStyle/>
          <a:p>
            <a:pPr algn="l">
              <a:lnSpc>
                <a:spcPct val="110000"/>
              </a:lnSpc>
            </a:pPr>
            <a:r>
              <a:rPr sz="1300" b="0" i="0">
                <a:solidFill>
                  <a:srgbClr val="2C2A24"/>
                </a:solidFill>
                <a:latin typeface="Cambria"/>
              </a:rPr>
              <a:t>Before you invest, our risk engine generates historically conditioned scenarios for the exact proposed portfolio, after costs — thousands of resampled paths of its actual daily returns (block bootstrap).</a:t>
            </a:r>
          </a:p>
        </p:txBody>
      </p:sp>
      <p:sp>
        <p:nvSpPr>
          <p:cNvPr id="6" name="Rounded Rectangle 5"/>
          <p:cNvSpPr/>
          <p:nvPr/>
        </p:nvSpPr>
        <p:spPr>
          <a:xfrm>
            <a:off x="640080" y="2148840"/>
            <a:ext cx="3456432" cy="2286000"/>
          </a:xfrm>
          <a:prstGeom prst="roundRect">
            <a:avLst>
              <a:gd name="adj" fmla="val 7000"/>
            </a:avLst>
          </a:prstGeom>
          <a:solidFill>
            <a:srgbClr val="F3ED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2377440"/>
            <a:ext cx="2926080" cy="292608"/>
          </a:xfrm>
          <a:prstGeom prst="rect">
            <a:avLst/>
          </a:prstGeom>
          <a:noFill/>
        </p:spPr>
        <p:txBody>
          <a:bodyPr wrap="square" lIns="0" rIns="0" tIns="0" bIns="0" anchor="t">
            <a:spAutoFit/>
          </a:bodyPr>
          <a:lstStyle/>
          <a:p>
            <a:pPr algn="l"/>
            <a:r>
              <a:rPr sz="1400" b="1" i="0">
                <a:solidFill>
                  <a:srgbClr val="1C3527"/>
                </a:solidFill>
                <a:latin typeface="Palatino Linotype"/>
              </a:rPr>
              <a:t>Normal month</a:t>
            </a:r>
          </a:p>
        </p:txBody>
      </p:sp>
      <p:sp>
        <p:nvSpPr>
          <p:cNvPr id="8" name="TextBox 7"/>
          <p:cNvSpPr txBox="1"/>
          <p:nvPr/>
        </p:nvSpPr>
        <p:spPr>
          <a:xfrm>
            <a:off x="896112" y="2788920"/>
            <a:ext cx="2926080" cy="685800"/>
          </a:xfrm>
          <a:prstGeom prst="rect">
            <a:avLst/>
          </a:prstGeom>
          <a:noFill/>
        </p:spPr>
        <p:txBody>
          <a:bodyPr wrap="square" lIns="0" rIns="0" tIns="0" bIns="0" anchor="t">
            <a:spAutoFit/>
          </a:bodyPr>
          <a:lstStyle/>
          <a:p>
            <a:pPr algn="l"/>
            <a:r>
              <a:rPr sz="2200" b="1" i="0">
                <a:solidFill>
                  <a:srgbClr val="8C6D1F"/>
                </a:solidFill>
                <a:latin typeface="Cambria"/>
              </a:rPr>
              <a:t>[ engine output ]</a:t>
            </a:r>
          </a:p>
        </p:txBody>
      </p:sp>
      <p:sp>
        <p:nvSpPr>
          <p:cNvPr id="9" name="TextBox 8"/>
          <p:cNvSpPr txBox="1"/>
          <p:nvPr/>
        </p:nvSpPr>
        <p:spPr>
          <a:xfrm>
            <a:off x="896112" y="3566160"/>
            <a:ext cx="2926080" cy="731520"/>
          </a:xfrm>
          <a:prstGeom prst="rect">
            <a:avLst/>
          </a:prstGeom>
          <a:noFill/>
        </p:spPr>
        <p:txBody>
          <a:bodyPr wrap="square" lIns="0" rIns="0" tIns="0" bIns="0" anchor="t">
            <a:spAutoFit/>
          </a:bodyPr>
          <a:lstStyle/>
          <a:p>
            <a:pPr algn="l">
              <a:lnSpc>
                <a:spcPct val="105000"/>
              </a:lnSpc>
            </a:pPr>
            <a:r>
              <a:rPr sz="1150" b="0" i="0">
                <a:solidFill>
                  <a:srgbClr val="6E6759"/>
                </a:solidFill>
                <a:latin typeface="Cambria"/>
              </a:rPr>
              <a:t>typical monthly range, and how often a month is negative</a:t>
            </a:r>
          </a:p>
        </p:txBody>
      </p:sp>
      <p:sp>
        <p:nvSpPr>
          <p:cNvPr id="10" name="Rounded Rectangle 9"/>
          <p:cNvSpPr/>
          <p:nvPr/>
        </p:nvSpPr>
        <p:spPr>
          <a:xfrm>
            <a:off x="4370832" y="2148840"/>
            <a:ext cx="3456432" cy="2286000"/>
          </a:xfrm>
          <a:prstGeom prst="roundRect">
            <a:avLst>
              <a:gd name="adj" fmla="val 7000"/>
            </a:avLst>
          </a:prstGeom>
          <a:solidFill>
            <a:srgbClr val="F3ED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26864" y="2377440"/>
            <a:ext cx="2926080" cy="292608"/>
          </a:xfrm>
          <a:prstGeom prst="rect">
            <a:avLst/>
          </a:prstGeom>
          <a:noFill/>
        </p:spPr>
        <p:txBody>
          <a:bodyPr wrap="square" lIns="0" rIns="0" tIns="0" bIns="0" anchor="t">
            <a:spAutoFit/>
          </a:bodyPr>
          <a:lstStyle/>
          <a:p>
            <a:pPr algn="l"/>
            <a:r>
              <a:rPr sz="1400" b="1" i="0">
                <a:solidFill>
                  <a:srgbClr val="1C3527"/>
                </a:solidFill>
                <a:latin typeface="Palatino Linotype"/>
              </a:rPr>
              <a:t>Bad year (1-in-20)</a:t>
            </a:r>
          </a:p>
        </p:txBody>
      </p:sp>
      <p:sp>
        <p:nvSpPr>
          <p:cNvPr id="12" name="TextBox 11"/>
          <p:cNvSpPr txBox="1"/>
          <p:nvPr/>
        </p:nvSpPr>
        <p:spPr>
          <a:xfrm>
            <a:off x="4626864" y="2788920"/>
            <a:ext cx="2926080" cy="685800"/>
          </a:xfrm>
          <a:prstGeom prst="rect">
            <a:avLst/>
          </a:prstGeom>
          <a:noFill/>
        </p:spPr>
        <p:txBody>
          <a:bodyPr wrap="square" lIns="0" rIns="0" tIns="0" bIns="0" anchor="t">
            <a:spAutoFit/>
          </a:bodyPr>
          <a:lstStyle/>
          <a:p>
            <a:pPr algn="l"/>
            <a:r>
              <a:rPr sz="2200" b="1" i="0">
                <a:solidFill>
                  <a:srgbClr val="8C6D1F"/>
                </a:solidFill>
                <a:latin typeface="Cambria"/>
              </a:rPr>
              <a:t>[ engine output ]</a:t>
            </a:r>
          </a:p>
        </p:txBody>
      </p:sp>
      <p:sp>
        <p:nvSpPr>
          <p:cNvPr id="13" name="TextBox 12"/>
          <p:cNvSpPr txBox="1"/>
          <p:nvPr/>
        </p:nvSpPr>
        <p:spPr>
          <a:xfrm>
            <a:off x="4626864" y="3566160"/>
            <a:ext cx="2926080" cy="731520"/>
          </a:xfrm>
          <a:prstGeom prst="rect">
            <a:avLst/>
          </a:prstGeom>
          <a:noFill/>
        </p:spPr>
        <p:txBody>
          <a:bodyPr wrap="square" lIns="0" rIns="0" tIns="0" bIns="0" anchor="t">
            <a:spAutoFit/>
          </a:bodyPr>
          <a:lstStyle/>
          <a:p>
            <a:pPr algn="l">
              <a:lnSpc>
                <a:spcPct val="105000"/>
              </a:lnSpc>
            </a:pPr>
            <a:r>
              <a:rPr sz="1150" b="0" i="0">
                <a:solidFill>
                  <a:srgbClr val="6E6759"/>
                </a:solidFill>
                <a:latin typeface="Cambria"/>
              </a:rPr>
              <a:t>what the worst ~5% of years have looked like in scenarios</a:t>
            </a:r>
          </a:p>
        </p:txBody>
      </p:sp>
      <p:sp>
        <p:nvSpPr>
          <p:cNvPr id="14" name="Rounded Rectangle 13"/>
          <p:cNvSpPr/>
          <p:nvPr/>
        </p:nvSpPr>
        <p:spPr>
          <a:xfrm>
            <a:off x="8101583" y="2148840"/>
            <a:ext cx="3456432" cy="2286000"/>
          </a:xfrm>
          <a:prstGeom prst="roundRect">
            <a:avLst>
              <a:gd name="adj" fmla="val 7000"/>
            </a:avLst>
          </a:prstGeom>
          <a:solidFill>
            <a:srgbClr val="F3ED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57615" y="2377440"/>
            <a:ext cx="2926080" cy="292608"/>
          </a:xfrm>
          <a:prstGeom prst="rect">
            <a:avLst/>
          </a:prstGeom>
          <a:noFill/>
        </p:spPr>
        <p:txBody>
          <a:bodyPr wrap="square" lIns="0" rIns="0" tIns="0" bIns="0" anchor="t">
            <a:spAutoFit/>
          </a:bodyPr>
          <a:lstStyle/>
          <a:p>
            <a:pPr algn="l"/>
            <a:r>
              <a:rPr sz="1400" b="1" i="0">
                <a:solidFill>
                  <a:srgbClr val="1C3527"/>
                </a:solidFill>
                <a:latin typeface="Palatino Linotype"/>
              </a:rPr>
              <a:t>Drawdowns</a:t>
            </a:r>
          </a:p>
        </p:txBody>
      </p:sp>
      <p:sp>
        <p:nvSpPr>
          <p:cNvPr id="16" name="TextBox 15"/>
          <p:cNvSpPr txBox="1"/>
          <p:nvPr/>
        </p:nvSpPr>
        <p:spPr>
          <a:xfrm>
            <a:off x="8357615" y="2788920"/>
            <a:ext cx="2926080" cy="685800"/>
          </a:xfrm>
          <a:prstGeom prst="rect">
            <a:avLst/>
          </a:prstGeom>
          <a:noFill/>
        </p:spPr>
        <p:txBody>
          <a:bodyPr wrap="square" lIns="0" rIns="0" tIns="0" bIns="0" anchor="t">
            <a:spAutoFit/>
          </a:bodyPr>
          <a:lstStyle/>
          <a:p>
            <a:pPr algn="l"/>
            <a:r>
              <a:rPr sz="2200" b="1" i="0">
                <a:solidFill>
                  <a:srgbClr val="8C6D1F"/>
                </a:solidFill>
                <a:latin typeface="Cambria"/>
              </a:rPr>
              <a:t>[ engine output ]</a:t>
            </a:r>
          </a:p>
        </p:txBody>
      </p:sp>
      <p:sp>
        <p:nvSpPr>
          <p:cNvPr id="17" name="TextBox 16"/>
          <p:cNvSpPr txBox="1"/>
          <p:nvPr/>
        </p:nvSpPr>
        <p:spPr>
          <a:xfrm>
            <a:off x="8357615" y="3566160"/>
            <a:ext cx="2926080" cy="731520"/>
          </a:xfrm>
          <a:prstGeom prst="rect">
            <a:avLst/>
          </a:prstGeom>
          <a:noFill/>
        </p:spPr>
        <p:txBody>
          <a:bodyPr wrap="square" lIns="0" rIns="0" tIns="0" bIns="0" anchor="t">
            <a:spAutoFit/>
          </a:bodyPr>
          <a:lstStyle/>
          <a:p>
            <a:pPr algn="l">
              <a:lnSpc>
                <a:spcPct val="105000"/>
              </a:lnSpc>
            </a:pPr>
            <a:r>
              <a:rPr sz="1150" b="0" i="0">
                <a:solidFill>
                  <a:srgbClr val="6E6759"/>
                </a:solidFill>
                <a:latin typeface="Cambria"/>
              </a:rPr>
              <a:t>probability of touching a 10% / 20% drawdown, and time underwater</a:t>
            </a:r>
          </a:p>
        </p:txBody>
      </p:sp>
      <p:sp>
        <p:nvSpPr>
          <p:cNvPr id="18" name="Rounded Rectangle 17"/>
          <p:cNvSpPr/>
          <p:nvPr/>
        </p:nvSpPr>
        <p:spPr>
          <a:xfrm>
            <a:off x="640080" y="4617720"/>
            <a:ext cx="5760720" cy="292608"/>
          </a:xfrm>
          <a:prstGeom prst="roundRect">
            <a:avLst>
              <a:gd name="adj" fmla="val 50000"/>
            </a:avLst>
          </a:prstGeom>
          <a:solidFill>
            <a:srgbClr val="F0E7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9808" y="4617720"/>
            <a:ext cx="5541264" cy="292608"/>
          </a:xfrm>
          <a:prstGeom prst="rect">
            <a:avLst/>
          </a:prstGeom>
          <a:noFill/>
        </p:spPr>
        <p:txBody>
          <a:bodyPr wrap="square" lIns="0" rIns="0" tIns="0" bIns="0" anchor="ctr">
            <a:spAutoFit/>
          </a:bodyPr>
          <a:lstStyle/>
          <a:p>
            <a:pPr algn="l"/>
            <a:r>
              <a:rPr sz="1050" b="1" i="0">
                <a:solidFill>
                  <a:srgbClr val="8C6D1F"/>
                </a:solidFill>
                <a:latin typeface="Cambria"/>
              </a:rPr>
              <a:t>YOU:  freeze the offered portfolio, then generate these from the risk engine</a:t>
            </a:r>
          </a:p>
        </p:txBody>
      </p:sp>
      <p:sp>
        <p:nvSpPr>
          <p:cNvPr id="20" name="Rounded Rectangle 19"/>
          <p:cNvSpPr/>
          <p:nvPr/>
        </p:nvSpPr>
        <p:spPr>
          <a:xfrm>
            <a:off x="640080" y="5120640"/>
            <a:ext cx="10927080" cy="777240"/>
          </a:xfrm>
          <a:prstGeom prst="roundRect">
            <a:avLst>
              <a:gd name="adj" fmla="val 8000"/>
            </a:avLst>
          </a:prstGeom>
          <a:solidFill>
            <a:srgbClr val="1C35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4400" y="5120640"/>
            <a:ext cx="10424160" cy="777240"/>
          </a:xfrm>
          <a:prstGeom prst="rect">
            <a:avLst/>
          </a:prstGeom>
          <a:noFill/>
        </p:spPr>
        <p:txBody>
          <a:bodyPr wrap="square" lIns="0" rIns="0" tIns="0" bIns="0" anchor="ctr">
            <a:spAutoFit/>
          </a:bodyPr>
          <a:lstStyle/>
          <a:p>
            <a:pPr algn="l"/>
            <a:r>
              <a:rPr sz="1350" b="1" i="0">
                <a:solidFill>
                  <a:srgbClr val="FFFFFF"/>
                </a:solidFill>
                <a:latin typeface="Cambria"/>
              </a:rPr>
              <a:t>These are historically conditioned scenarios — not a forecast, not a guarantee. If a manager promises you a return, walk away.</a:t>
            </a:r>
          </a:p>
        </p:txBody>
      </p:sp>
      <p:sp>
        <p:nvSpPr>
          <p:cNvPr id="22" name="TextBox 21"/>
          <p:cNvSpPr txBox="1"/>
          <p:nvPr/>
        </p:nvSpPr>
        <p:spPr>
          <a:xfrm>
            <a:off x="640080" y="6473952"/>
            <a:ext cx="8229600" cy="274320"/>
          </a:xfrm>
          <a:prstGeom prst="rect">
            <a:avLst/>
          </a:prstGeom>
          <a:noFill/>
        </p:spPr>
        <p:txBody>
          <a:bodyPr wrap="square" lIns="0" rIns="0" tIns="0" bIns="0" anchor="t">
            <a:spAutoFit/>
          </a:bodyPr>
          <a:lstStyle/>
          <a:p>
            <a:pPr algn="l"/>
            <a:r>
              <a:rPr sz="850" b="0" i="0">
                <a:solidFill>
                  <a:srgbClr val="9C937F"/>
                </a:solidFill>
                <a:latin typeface="Cambria"/>
              </a:rPr>
              <a:t>Confidential — private discussion document. Not an offer of securities or investment advice.</a:t>
            </a:r>
          </a:p>
        </p:txBody>
      </p:sp>
      <p:sp>
        <p:nvSpPr>
          <p:cNvPr id="23" name="TextBox 22"/>
          <p:cNvSpPr txBox="1"/>
          <p:nvPr/>
        </p:nvSpPr>
        <p:spPr>
          <a:xfrm>
            <a:off x="11247120" y="6473952"/>
            <a:ext cx="365760" cy="274320"/>
          </a:xfrm>
          <a:prstGeom prst="rect">
            <a:avLst/>
          </a:prstGeom>
          <a:noFill/>
        </p:spPr>
        <p:txBody>
          <a:bodyPr wrap="square" lIns="0" rIns="0" tIns="0" bIns="0" anchor="t">
            <a:spAutoFit/>
          </a:bodyPr>
          <a:lstStyle/>
          <a:p>
            <a:pPr algn="r"/>
            <a:r>
              <a:rPr sz="900" b="0" i="0">
                <a:solidFill>
                  <a:srgbClr val="9C937F"/>
                </a:solidFill>
                <a:latin typeface="Cambria"/>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9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10972800" cy="274320"/>
          </a:xfrm>
          <a:prstGeom prst="rect">
            <a:avLst/>
          </a:prstGeom>
          <a:noFill/>
        </p:spPr>
        <p:txBody>
          <a:bodyPr wrap="square" lIns="0" rIns="0" tIns="0" bIns="0" anchor="t">
            <a:spAutoFit/>
          </a:bodyPr>
          <a:lstStyle/>
          <a:p>
            <a:pPr algn="l"/>
            <a:r>
              <a:rPr sz="1100" b="1" i="0" spc="220">
                <a:solidFill>
                  <a:srgbClr val="8C7B4F"/>
                </a:solidFill>
                <a:latin typeface="Cambria"/>
              </a:rPr>
              <a:t>HONEST RISKS</a:t>
            </a:r>
          </a:p>
        </p:txBody>
      </p:sp>
      <p:sp>
        <p:nvSpPr>
          <p:cNvPr id="4" name="TextBox 3"/>
          <p:cNvSpPr txBox="1"/>
          <p:nvPr/>
        </p:nvSpPr>
        <p:spPr>
          <a:xfrm>
            <a:off x="640080" y="658368"/>
            <a:ext cx="10972800" cy="685800"/>
          </a:xfrm>
          <a:prstGeom prst="rect">
            <a:avLst/>
          </a:prstGeom>
          <a:noFill/>
        </p:spPr>
        <p:txBody>
          <a:bodyPr wrap="square" lIns="0" rIns="0" tIns="0" bIns="0" anchor="t">
            <a:spAutoFit/>
          </a:bodyPr>
          <a:lstStyle/>
          <a:p>
            <a:pPr algn="l"/>
            <a:r>
              <a:rPr sz="3000" b="1" i="0">
                <a:solidFill>
                  <a:srgbClr val="1C3527"/>
                </a:solidFill>
                <a:latin typeface="Palatino Linotype"/>
              </a:rPr>
              <a:t>What can go wrong — and sometimes will</a:t>
            </a:r>
          </a:p>
        </p:txBody>
      </p:sp>
      <p:sp>
        <p:nvSpPr>
          <p:cNvPr id="5" name="Rounded Rectangle 4"/>
          <p:cNvSpPr/>
          <p:nvPr/>
        </p:nvSpPr>
        <p:spPr>
          <a:xfrm>
            <a:off x="640080" y="1463040"/>
            <a:ext cx="5303520" cy="1874519"/>
          </a:xfrm>
          <a:prstGeom prst="roundRect">
            <a:avLst>
              <a:gd name="adj" fmla="val 6000"/>
            </a:avLst>
          </a:prstGeom>
          <a:solidFill>
            <a:srgbClr val="F3ED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914400" y="1700784"/>
            <a:ext cx="530352" cy="530352"/>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hart.png"/>
          <p:cNvPicPr>
            <a:picLocks noChangeAspect="1"/>
          </p:cNvPicPr>
          <p:nvPr/>
        </p:nvPicPr>
        <p:blipFill>
          <a:blip r:embed="rId2"/>
          <a:stretch>
            <a:fillRect/>
          </a:stretch>
        </p:blipFill>
        <p:spPr>
          <a:xfrm>
            <a:off x="1031077" y="1817461"/>
            <a:ext cx="296997" cy="296997"/>
          </a:xfrm>
          <a:prstGeom prst="rect">
            <a:avLst/>
          </a:prstGeom>
        </p:spPr>
      </p:pic>
      <p:sp>
        <p:nvSpPr>
          <p:cNvPr id="8" name="TextBox 7"/>
          <p:cNvSpPr txBox="1"/>
          <p:nvPr/>
        </p:nvSpPr>
        <p:spPr>
          <a:xfrm>
            <a:off x="1600200" y="1737360"/>
            <a:ext cx="4069080" cy="320040"/>
          </a:xfrm>
          <a:prstGeom prst="rect">
            <a:avLst/>
          </a:prstGeom>
          <a:noFill/>
        </p:spPr>
        <p:txBody>
          <a:bodyPr wrap="square" lIns="0" rIns="0" tIns="0" bIns="0" anchor="t">
            <a:spAutoFit/>
          </a:bodyPr>
          <a:lstStyle/>
          <a:p>
            <a:pPr algn="l"/>
            <a:r>
              <a:rPr sz="1500" b="1" i="0">
                <a:solidFill>
                  <a:srgbClr val="1C3527"/>
                </a:solidFill>
                <a:latin typeface="Palatino Linotype"/>
              </a:rPr>
              <a:t>Losing periods</a:t>
            </a:r>
          </a:p>
        </p:txBody>
      </p:sp>
      <p:sp>
        <p:nvSpPr>
          <p:cNvPr id="9" name="TextBox 8"/>
          <p:cNvSpPr txBox="1"/>
          <p:nvPr/>
        </p:nvSpPr>
        <p:spPr>
          <a:xfrm>
            <a:off x="914400" y="2212848"/>
            <a:ext cx="4754880" cy="1005840"/>
          </a:xfrm>
          <a:prstGeom prst="rect">
            <a:avLst/>
          </a:prstGeom>
          <a:noFill/>
        </p:spPr>
        <p:txBody>
          <a:bodyPr wrap="square" lIns="0" rIns="0" tIns="0" bIns="0" anchor="t">
            <a:spAutoFit/>
          </a:bodyPr>
          <a:lstStyle/>
          <a:p>
            <a:pPr algn="l">
              <a:lnSpc>
                <a:spcPct val="108000"/>
              </a:lnSpc>
            </a:pPr>
            <a:r>
              <a:rPr sz="1150" b="0" i="0">
                <a:solidFill>
                  <a:srgbClr val="2C2A24"/>
                </a:solidFill>
                <a:latin typeface="Cambria"/>
              </a:rPr>
              <a:t>Drawdowns are a certainty, not a possibility. The scenario ranges on the previous slide are the honest size of the pain.</a:t>
            </a:r>
          </a:p>
        </p:txBody>
      </p:sp>
      <p:sp>
        <p:nvSpPr>
          <p:cNvPr id="10" name="Rounded Rectangle 9"/>
          <p:cNvSpPr/>
          <p:nvPr/>
        </p:nvSpPr>
        <p:spPr>
          <a:xfrm>
            <a:off x="6263640" y="1463040"/>
            <a:ext cx="5303520" cy="1874519"/>
          </a:xfrm>
          <a:prstGeom prst="roundRect">
            <a:avLst>
              <a:gd name="adj" fmla="val 6000"/>
            </a:avLst>
          </a:prstGeom>
          <a:solidFill>
            <a:srgbClr val="F3ED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537959" y="1700784"/>
            <a:ext cx="530352" cy="530352"/>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target.png"/>
          <p:cNvPicPr>
            <a:picLocks noChangeAspect="1"/>
          </p:cNvPicPr>
          <p:nvPr/>
        </p:nvPicPr>
        <p:blipFill>
          <a:blip r:embed="rId3"/>
          <a:stretch>
            <a:fillRect/>
          </a:stretch>
        </p:blipFill>
        <p:spPr>
          <a:xfrm>
            <a:off x="6654637" y="1817461"/>
            <a:ext cx="296997" cy="296997"/>
          </a:xfrm>
          <a:prstGeom prst="rect">
            <a:avLst/>
          </a:prstGeom>
        </p:spPr>
      </p:pic>
      <p:sp>
        <p:nvSpPr>
          <p:cNvPr id="13" name="TextBox 12"/>
          <p:cNvSpPr txBox="1"/>
          <p:nvPr/>
        </p:nvSpPr>
        <p:spPr>
          <a:xfrm>
            <a:off x="7223759" y="1737360"/>
            <a:ext cx="4069080" cy="320040"/>
          </a:xfrm>
          <a:prstGeom prst="rect">
            <a:avLst/>
          </a:prstGeom>
          <a:noFill/>
        </p:spPr>
        <p:txBody>
          <a:bodyPr wrap="square" lIns="0" rIns="0" tIns="0" bIns="0" anchor="t">
            <a:spAutoFit/>
          </a:bodyPr>
          <a:lstStyle/>
          <a:p>
            <a:pPr algn="l"/>
            <a:r>
              <a:rPr sz="1500" b="1" i="0">
                <a:solidFill>
                  <a:srgbClr val="1C3527"/>
                </a:solidFill>
                <a:latin typeface="Palatino Linotype"/>
              </a:rPr>
              <a:t>Edge decay</a:t>
            </a:r>
          </a:p>
        </p:txBody>
      </p:sp>
      <p:sp>
        <p:nvSpPr>
          <p:cNvPr id="14" name="TextBox 13"/>
          <p:cNvSpPr txBox="1"/>
          <p:nvPr/>
        </p:nvSpPr>
        <p:spPr>
          <a:xfrm>
            <a:off x="6537959" y="2212848"/>
            <a:ext cx="4754880" cy="1005840"/>
          </a:xfrm>
          <a:prstGeom prst="rect">
            <a:avLst/>
          </a:prstGeom>
          <a:noFill/>
        </p:spPr>
        <p:txBody>
          <a:bodyPr wrap="square" lIns="0" rIns="0" tIns="0" bIns="0" anchor="t">
            <a:spAutoFit/>
          </a:bodyPr>
          <a:lstStyle/>
          <a:p>
            <a:pPr algn="l">
              <a:lnSpc>
                <a:spcPct val="108000"/>
              </a:lnSpc>
            </a:pPr>
            <a:r>
              <a:rPr sz="1150" b="0" i="0">
                <a:solidFill>
                  <a:srgbClr val="2C2A24"/>
                </a:solidFill>
                <a:latin typeface="Cambria"/>
              </a:rPr>
              <a:t>Markets change and edges weaken. Live performance is monitored against the model; strategies that stop earning their place are retired.</a:t>
            </a:r>
          </a:p>
        </p:txBody>
      </p:sp>
      <p:sp>
        <p:nvSpPr>
          <p:cNvPr id="15" name="Rounded Rectangle 14"/>
          <p:cNvSpPr/>
          <p:nvPr/>
        </p:nvSpPr>
        <p:spPr>
          <a:xfrm>
            <a:off x="640080" y="3520440"/>
            <a:ext cx="5303520" cy="1874519"/>
          </a:xfrm>
          <a:prstGeom prst="roundRect">
            <a:avLst>
              <a:gd name="adj" fmla="val 6000"/>
            </a:avLst>
          </a:prstGeom>
          <a:solidFill>
            <a:srgbClr val="F3ED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914400" y="3758184"/>
            <a:ext cx="530352" cy="530352"/>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doc.png"/>
          <p:cNvPicPr>
            <a:picLocks noChangeAspect="1"/>
          </p:cNvPicPr>
          <p:nvPr/>
        </p:nvPicPr>
        <p:blipFill>
          <a:blip r:embed="rId4"/>
          <a:stretch>
            <a:fillRect/>
          </a:stretch>
        </p:blipFill>
        <p:spPr>
          <a:xfrm>
            <a:off x="1031077" y="3874861"/>
            <a:ext cx="296997" cy="296997"/>
          </a:xfrm>
          <a:prstGeom prst="rect">
            <a:avLst/>
          </a:prstGeom>
        </p:spPr>
      </p:pic>
      <p:sp>
        <p:nvSpPr>
          <p:cNvPr id="18" name="TextBox 17"/>
          <p:cNvSpPr txBox="1"/>
          <p:nvPr/>
        </p:nvSpPr>
        <p:spPr>
          <a:xfrm>
            <a:off x="1600200" y="3794760"/>
            <a:ext cx="4069080" cy="320040"/>
          </a:xfrm>
          <a:prstGeom prst="rect">
            <a:avLst/>
          </a:prstGeom>
          <a:noFill/>
        </p:spPr>
        <p:txBody>
          <a:bodyPr wrap="square" lIns="0" rIns="0" tIns="0" bIns="0" anchor="t">
            <a:spAutoFit/>
          </a:bodyPr>
          <a:lstStyle/>
          <a:p>
            <a:pPr algn="l"/>
            <a:r>
              <a:rPr sz="1500" b="1" i="0">
                <a:solidFill>
                  <a:srgbClr val="1C3527"/>
                </a:solidFill>
                <a:latin typeface="Palatino Linotype"/>
              </a:rPr>
              <a:t>Overfitting</a:t>
            </a:r>
          </a:p>
        </p:txBody>
      </p:sp>
      <p:sp>
        <p:nvSpPr>
          <p:cNvPr id="19" name="TextBox 18"/>
          <p:cNvSpPr txBox="1"/>
          <p:nvPr/>
        </p:nvSpPr>
        <p:spPr>
          <a:xfrm>
            <a:off x="914400" y="4270248"/>
            <a:ext cx="4754880" cy="1005840"/>
          </a:xfrm>
          <a:prstGeom prst="rect">
            <a:avLst/>
          </a:prstGeom>
          <a:noFill/>
        </p:spPr>
        <p:txBody>
          <a:bodyPr wrap="square" lIns="0" rIns="0" tIns="0" bIns="0" anchor="t">
            <a:spAutoFit/>
          </a:bodyPr>
          <a:lstStyle/>
          <a:p>
            <a:pPr algn="l">
              <a:lnSpc>
                <a:spcPct val="108000"/>
              </a:lnSpc>
            </a:pPr>
            <a:r>
              <a:rPr sz="1150" b="0" i="0">
                <a:solidFill>
                  <a:srgbClr val="2C2A24"/>
                </a:solidFill>
                <a:latin typeface="Cambria"/>
              </a:rPr>
              <a:t>The permanent research risk. Out-of-sample testing and the rejection discipline exist precisely because backtests flatter.</a:t>
            </a:r>
          </a:p>
        </p:txBody>
      </p:sp>
      <p:sp>
        <p:nvSpPr>
          <p:cNvPr id="20" name="Rounded Rectangle 19"/>
          <p:cNvSpPr/>
          <p:nvPr/>
        </p:nvSpPr>
        <p:spPr>
          <a:xfrm>
            <a:off x="6263640" y="3520440"/>
            <a:ext cx="5303520" cy="1874519"/>
          </a:xfrm>
          <a:prstGeom prst="roundRect">
            <a:avLst>
              <a:gd name="adj" fmla="val 6000"/>
            </a:avLst>
          </a:prstGeom>
          <a:solidFill>
            <a:srgbClr val="F3ED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537959" y="3758184"/>
            <a:ext cx="530352" cy="530352"/>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sliders.png"/>
          <p:cNvPicPr>
            <a:picLocks noChangeAspect="1"/>
          </p:cNvPicPr>
          <p:nvPr/>
        </p:nvPicPr>
        <p:blipFill>
          <a:blip r:embed="rId5"/>
          <a:stretch>
            <a:fillRect/>
          </a:stretch>
        </p:blipFill>
        <p:spPr>
          <a:xfrm>
            <a:off x="6654637" y="3874861"/>
            <a:ext cx="296997" cy="296997"/>
          </a:xfrm>
          <a:prstGeom prst="rect">
            <a:avLst/>
          </a:prstGeom>
        </p:spPr>
      </p:pic>
      <p:sp>
        <p:nvSpPr>
          <p:cNvPr id="23" name="TextBox 22"/>
          <p:cNvSpPr txBox="1"/>
          <p:nvPr/>
        </p:nvSpPr>
        <p:spPr>
          <a:xfrm>
            <a:off x="7223759" y="3794760"/>
            <a:ext cx="4069080" cy="320040"/>
          </a:xfrm>
          <a:prstGeom prst="rect">
            <a:avLst/>
          </a:prstGeom>
          <a:noFill/>
        </p:spPr>
        <p:txBody>
          <a:bodyPr wrap="square" lIns="0" rIns="0" tIns="0" bIns="0" anchor="t">
            <a:spAutoFit/>
          </a:bodyPr>
          <a:lstStyle/>
          <a:p>
            <a:pPr algn="l"/>
            <a:r>
              <a:rPr sz="1500" b="1" i="0">
                <a:solidFill>
                  <a:srgbClr val="1C3527"/>
                </a:solidFill>
                <a:latin typeface="Palatino Linotype"/>
              </a:rPr>
              <a:t>Execution &amp; liquidity</a:t>
            </a:r>
          </a:p>
        </p:txBody>
      </p:sp>
      <p:sp>
        <p:nvSpPr>
          <p:cNvPr id="24" name="TextBox 23"/>
          <p:cNvSpPr txBox="1"/>
          <p:nvPr/>
        </p:nvSpPr>
        <p:spPr>
          <a:xfrm>
            <a:off x="6537959" y="4270248"/>
            <a:ext cx="4754880" cy="1005840"/>
          </a:xfrm>
          <a:prstGeom prst="rect">
            <a:avLst/>
          </a:prstGeom>
          <a:noFill/>
        </p:spPr>
        <p:txBody>
          <a:bodyPr wrap="square" lIns="0" rIns="0" tIns="0" bIns="0" anchor="t">
            <a:spAutoFit/>
          </a:bodyPr>
          <a:lstStyle/>
          <a:p>
            <a:pPr algn="l">
              <a:lnSpc>
                <a:spcPct val="108000"/>
              </a:lnSpc>
            </a:pPr>
            <a:r>
              <a:rPr sz="1150" b="0" i="0">
                <a:solidFill>
                  <a:srgbClr val="2C2A24"/>
                </a:solidFill>
                <a:latin typeface="Cambria"/>
              </a:rPr>
              <a:t>Fills slip, systems fail, markets gap. Automated halts and daily reconciliation bound the damage — they cannot remove it.</a:t>
            </a:r>
          </a:p>
        </p:txBody>
      </p:sp>
      <p:sp>
        <p:nvSpPr>
          <p:cNvPr id="25" name="Rounded Rectangle 24"/>
          <p:cNvSpPr/>
          <p:nvPr/>
        </p:nvSpPr>
        <p:spPr>
          <a:xfrm>
            <a:off x="640080" y="5577840"/>
            <a:ext cx="10927080" cy="548640"/>
          </a:xfrm>
          <a:prstGeom prst="roundRect">
            <a:avLst>
              <a:gd name="adj" fmla="val 8000"/>
            </a:avLst>
          </a:prstGeom>
          <a:solidFill>
            <a:srgbClr val="1C35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14400" y="5577840"/>
            <a:ext cx="10424160" cy="548640"/>
          </a:xfrm>
          <a:prstGeom prst="rect">
            <a:avLst/>
          </a:prstGeom>
          <a:noFill/>
        </p:spPr>
        <p:txBody>
          <a:bodyPr wrap="square" lIns="0" rIns="0" tIns="0" bIns="0" anchor="ctr">
            <a:spAutoFit/>
          </a:bodyPr>
          <a:lstStyle/>
          <a:p>
            <a:pPr algn="l"/>
            <a:r>
              <a:rPr sz="1300" b="1" i="0">
                <a:solidFill>
                  <a:srgbClr val="FFFFFF"/>
                </a:solidFill>
                <a:latin typeface="Cambria"/>
              </a:rPr>
              <a:t>These are certainties to be managed — not possibilities to be hoped away.</a:t>
            </a:r>
          </a:p>
        </p:txBody>
      </p:sp>
      <p:sp>
        <p:nvSpPr>
          <p:cNvPr id="27" name="TextBox 26"/>
          <p:cNvSpPr txBox="1"/>
          <p:nvPr/>
        </p:nvSpPr>
        <p:spPr>
          <a:xfrm>
            <a:off x="640080" y="6473952"/>
            <a:ext cx="8229600" cy="274320"/>
          </a:xfrm>
          <a:prstGeom prst="rect">
            <a:avLst/>
          </a:prstGeom>
          <a:noFill/>
        </p:spPr>
        <p:txBody>
          <a:bodyPr wrap="square" lIns="0" rIns="0" tIns="0" bIns="0" anchor="t">
            <a:spAutoFit/>
          </a:bodyPr>
          <a:lstStyle/>
          <a:p>
            <a:pPr algn="l"/>
            <a:r>
              <a:rPr sz="850" b="0" i="0">
                <a:solidFill>
                  <a:srgbClr val="9C937F"/>
                </a:solidFill>
                <a:latin typeface="Cambria"/>
              </a:rPr>
              <a:t>Confidential — private discussion document. Not an offer of securities or investment advice.</a:t>
            </a:r>
          </a:p>
        </p:txBody>
      </p:sp>
      <p:sp>
        <p:nvSpPr>
          <p:cNvPr id="28" name="TextBox 27"/>
          <p:cNvSpPr txBox="1"/>
          <p:nvPr/>
        </p:nvSpPr>
        <p:spPr>
          <a:xfrm>
            <a:off x="11247120" y="6473952"/>
            <a:ext cx="365760" cy="274320"/>
          </a:xfrm>
          <a:prstGeom prst="rect">
            <a:avLst/>
          </a:prstGeom>
          <a:noFill/>
        </p:spPr>
        <p:txBody>
          <a:bodyPr wrap="square" lIns="0" rIns="0" tIns="0" bIns="0" anchor="t">
            <a:spAutoFit/>
          </a:bodyPr>
          <a:lstStyle/>
          <a:p>
            <a:pPr algn="r"/>
            <a:r>
              <a:rPr sz="900" b="0" i="0">
                <a:solidFill>
                  <a:srgbClr val="9C937F"/>
                </a:solidFill>
                <a:latin typeface="Cambria"/>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9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10972800" cy="274320"/>
          </a:xfrm>
          <a:prstGeom prst="rect">
            <a:avLst/>
          </a:prstGeom>
          <a:noFill/>
        </p:spPr>
        <p:txBody>
          <a:bodyPr wrap="square" lIns="0" rIns="0" tIns="0" bIns="0" anchor="t">
            <a:spAutoFit/>
          </a:bodyPr>
          <a:lstStyle/>
          <a:p>
            <a:pPr algn="l"/>
            <a:r>
              <a:rPr sz="1100" b="1" i="0" spc="220">
                <a:solidFill>
                  <a:srgbClr val="8C7B4F"/>
                </a:solidFill>
                <a:latin typeface="Cambria"/>
              </a:rPr>
              <a:t>CONTROLS</a:t>
            </a:r>
          </a:p>
        </p:txBody>
      </p:sp>
      <p:sp>
        <p:nvSpPr>
          <p:cNvPr id="4" name="TextBox 3"/>
          <p:cNvSpPr txBox="1"/>
          <p:nvPr/>
        </p:nvSpPr>
        <p:spPr>
          <a:xfrm>
            <a:off x="640080" y="658368"/>
            <a:ext cx="10972800" cy="685800"/>
          </a:xfrm>
          <a:prstGeom prst="rect">
            <a:avLst/>
          </a:prstGeom>
          <a:noFill/>
        </p:spPr>
        <p:txBody>
          <a:bodyPr wrap="square" lIns="0" rIns="0" tIns="0" bIns="0" anchor="t">
            <a:spAutoFit/>
          </a:bodyPr>
          <a:lstStyle/>
          <a:p>
            <a:pPr algn="l"/>
            <a:r>
              <a:rPr sz="3000" b="1" i="0">
                <a:solidFill>
                  <a:srgbClr val="1C3527"/>
                </a:solidFill>
                <a:latin typeface="Palatino Linotype"/>
              </a:rPr>
              <a:t>Discipline continues after the research</a:t>
            </a:r>
          </a:p>
        </p:txBody>
      </p:sp>
      <p:sp>
        <p:nvSpPr>
          <p:cNvPr id="5" name="Rounded Rectangle 4"/>
          <p:cNvSpPr/>
          <p:nvPr/>
        </p:nvSpPr>
        <p:spPr>
          <a:xfrm>
            <a:off x="640080" y="1554480"/>
            <a:ext cx="5303520" cy="2057400"/>
          </a:xfrm>
          <a:prstGeom prst="roundRect">
            <a:avLst>
              <a:gd name="adj" fmla="val 6000"/>
            </a:avLst>
          </a:prstGeom>
          <a:solidFill>
            <a:srgbClr val="F3ED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914400" y="1828800"/>
            <a:ext cx="566928" cy="566928"/>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sliders.png"/>
          <p:cNvPicPr>
            <a:picLocks noChangeAspect="1"/>
          </p:cNvPicPr>
          <p:nvPr/>
        </p:nvPicPr>
        <p:blipFill>
          <a:blip r:embed="rId2"/>
          <a:stretch>
            <a:fillRect/>
          </a:stretch>
        </p:blipFill>
        <p:spPr>
          <a:xfrm>
            <a:off x="1039124" y="1953524"/>
            <a:ext cx="317479" cy="317479"/>
          </a:xfrm>
          <a:prstGeom prst="rect">
            <a:avLst/>
          </a:prstGeom>
        </p:spPr>
      </p:pic>
      <p:sp>
        <p:nvSpPr>
          <p:cNvPr id="8" name="TextBox 7"/>
          <p:cNvSpPr txBox="1"/>
          <p:nvPr/>
        </p:nvSpPr>
        <p:spPr>
          <a:xfrm>
            <a:off x="1645920" y="1856231"/>
            <a:ext cx="4023360" cy="320040"/>
          </a:xfrm>
          <a:prstGeom prst="rect">
            <a:avLst/>
          </a:prstGeom>
          <a:noFill/>
        </p:spPr>
        <p:txBody>
          <a:bodyPr wrap="square" lIns="0" rIns="0" tIns="0" bIns="0" anchor="t">
            <a:spAutoFit/>
          </a:bodyPr>
          <a:lstStyle/>
          <a:p>
            <a:pPr algn="l"/>
            <a:r>
              <a:rPr sz="1500" b="1" i="0">
                <a:solidFill>
                  <a:srgbClr val="1C3527"/>
                </a:solidFill>
                <a:latin typeface="Palatino Linotype"/>
              </a:rPr>
              <a:t>Execution realism</a:t>
            </a:r>
          </a:p>
        </p:txBody>
      </p:sp>
      <p:sp>
        <p:nvSpPr>
          <p:cNvPr id="9" name="TextBox 8"/>
          <p:cNvSpPr txBox="1"/>
          <p:nvPr/>
        </p:nvSpPr>
        <p:spPr>
          <a:xfrm>
            <a:off x="914400" y="2331720"/>
            <a:ext cx="4754880" cy="1188720"/>
          </a:xfrm>
          <a:prstGeom prst="rect">
            <a:avLst/>
          </a:prstGeom>
          <a:noFill/>
        </p:spPr>
        <p:txBody>
          <a:bodyPr wrap="square" lIns="0" rIns="0" tIns="0" bIns="0" anchor="t">
            <a:spAutoFit/>
          </a:bodyPr>
          <a:lstStyle/>
          <a:p>
            <a:pPr algn="l">
              <a:lnSpc>
                <a:spcPct val="110000"/>
              </a:lnSpc>
            </a:pPr>
            <a:r>
              <a:rPr sz="1200" b="0" i="0">
                <a:solidFill>
                  <a:srgbClr val="2C2A24"/>
                </a:solidFill>
                <a:latin typeface="Cambria"/>
              </a:rPr>
              <a:t>Signals decided on yesterday's data; orders filled at today's open. Costs and slippage modeled in every backtest — no same-bar fantasy fills.</a:t>
            </a:r>
          </a:p>
        </p:txBody>
      </p:sp>
      <p:sp>
        <p:nvSpPr>
          <p:cNvPr id="10" name="Rounded Rectangle 9"/>
          <p:cNvSpPr/>
          <p:nvPr/>
        </p:nvSpPr>
        <p:spPr>
          <a:xfrm>
            <a:off x="6263640" y="1554480"/>
            <a:ext cx="5303520" cy="2057400"/>
          </a:xfrm>
          <a:prstGeom prst="roundRect">
            <a:avLst>
              <a:gd name="adj" fmla="val 6000"/>
            </a:avLst>
          </a:prstGeom>
          <a:solidFill>
            <a:srgbClr val="F3ED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537959" y="1828800"/>
            <a:ext cx="566928" cy="566928"/>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database.png"/>
          <p:cNvPicPr>
            <a:picLocks noChangeAspect="1"/>
          </p:cNvPicPr>
          <p:nvPr/>
        </p:nvPicPr>
        <p:blipFill>
          <a:blip r:embed="rId3"/>
          <a:stretch>
            <a:fillRect/>
          </a:stretch>
        </p:blipFill>
        <p:spPr>
          <a:xfrm>
            <a:off x="6662684" y="1953524"/>
            <a:ext cx="317479" cy="317479"/>
          </a:xfrm>
          <a:prstGeom prst="rect">
            <a:avLst/>
          </a:prstGeom>
        </p:spPr>
      </p:pic>
      <p:sp>
        <p:nvSpPr>
          <p:cNvPr id="13" name="TextBox 12"/>
          <p:cNvSpPr txBox="1"/>
          <p:nvPr/>
        </p:nvSpPr>
        <p:spPr>
          <a:xfrm>
            <a:off x="7269479" y="1856231"/>
            <a:ext cx="4023360" cy="320040"/>
          </a:xfrm>
          <a:prstGeom prst="rect">
            <a:avLst/>
          </a:prstGeom>
          <a:noFill/>
        </p:spPr>
        <p:txBody>
          <a:bodyPr wrap="square" lIns="0" rIns="0" tIns="0" bIns="0" anchor="t">
            <a:spAutoFit/>
          </a:bodyPr>
          <a:lstStyle/>
          <a:p>
            <a:pPr algn="l"/>
            <a:r>
              <a:rPr sz="1500" b="1" i="0">
                <a:solidFill>
                  <a:srgbClr val="1C3527"/>
                </a:solidFill>
                <a:latin typeface="Palatino Linotype"/>
              </a:rPr>
              <a:t>Data integrity</a:t>
            </a:r>
          </a:p>
        </p:txBody>
      </p:sp>
      <p:sp>
        <p:nvSpPr>
          <p:cNvPr id="14" name="TextBox 13"/>
          <p:cNvSpPr txBox="1"/>
          <p:nvPr/>
        </p:nvSpPr>
        <p:spPr>
          <a:xfrm>
            <a:off x="6537959" y="2331720"/>
            <a:ext cx="4754880" cy="1188720"/>
          </a:xfrm>
          <a:prstGeom prst="rect">
            <a:avLst/>
          </a:prstGeom>
          <a:noFill/>
        </p:spPr>
        <p:txBody>
          <a:bodyPr wrap="square" lIns="0" rIns="0" tIns="0" bIns="0" anchor="t">
            <a:spAutoFit/>
          </a:bodyPr>
          <a:lstStyle/>
          <a:p>
            <a:pPr algn="l">
              <a:lnSpc>
                <a:spcPct val="110000"/>
              </a:lnSpc>
            </a:pPr>
            <a:r>
              <a:rPr sz="1200" b="0" i="0">
                <a:solidFill>
                  <a:srgbClr val="2C2A24"/>
                </a:solidFill>
                <a:latin typeface="Cambria"/>
              </a:rPr>
              <a:t>Point-in-time index membership (no survivorship bias), no lookahead by construction, audited data snapshots for live trading.</a:t>
            </a:r>
          </a:p>
        </p:txBody>
      </p:sp>
      <p:sp>
        <p:nvSpPr>
          <p:cNvPr id="15" name="Rounded Rectangle 14"/>
          <p:cNvSpPr/>
          <p:nvPr/>
        </p:nvSpPr>
        <p:spPr>
          <a:xfrm>
            <a:off x="640080" y="3886200"/>
            <a:ext cx="5303520" cy="2057400"/>
          </a:xfrm>
          <a:prstGeom prst="roundRect">
            <a:avLst>
              <a:gd name="adj" fmla="val 6000"/>
            </a:avLst>
          </a:prstGeom>
          <a:solidFill>
            <a:srgbClr val="F3ED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914400" y="4160520"/>
            <a:ext cx="566928" cy="566928"/>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shield.png"/>
          <p:cNvPicPr>
            <a:picLocks noChangeAspect="1"/>
          </p:cNvPicPr>
          <p:nvPr/>
        </p:nvPicPr>
        <p:blipFill>
          <a:blip r:embed="rId4"/>
          <a:stretch>
            <a:fillRect/>
          </a:stretch>
        </p:blipFill>
        <p:spPr>
          <a:xfrm>
            <a:off x="1039124" y="4285244"/>
            <a:ext cx="317479" cy="317479"/>
          </a:xfrm>
          <a:prstGeom prst="rect">
            <a:avLst/>
          </a:prstGeom>
        </p:spPr>
      </p:pic>
      <p:sp>
        <p:nvSpPr>
          <p:cNvPr id="18" name="TextBox 17"/>
          <p:cNvSpPr txBox="1"/>
          <p:nvPr/>
        </p:nvSpPr>
        <p:spPr>
          <a:xfrm>
            <a:off x="1645920" y="4187952"/>
            <a:ext cx="4023360" cy="320040"/>
          </a:xfrm>
          <a:prstGeom prst="rect">
            <a:avLst/>
          </a:prstGeom>
          <a:noFill/>
        </p:spPr>
        <p:txBody>
          <a:bodyPr wrap="square" lIns="0" rIns="0" tIns="0" bIns="0" anchor="t">
            <a:spAutoFit/>
          </a:bodyPr>
          <a:lstStyle/>
          <a:p>
            <a:pPr algn="l"/>
            <a:r>
              <a:rPr sz="1500" b="1" i="0">
                <a:solidFill>
                  <a:srgbClr val="1C3527"/>
                </a:solidFill>
                <a:latin typeface="Palatino Linotype"/>
              </a:rPr>
              <a:t>Account structure</a:t>
            </a:r>
          </a:p>
        </p:txBody>
      </p:sp>
      <p:sp>
        <p:nvSpPr>
          <p:cNvPr id="19" name="TextBox 18"/>
          <p:cNvSpPr txBox="1"/>
          <p:nvPr/>
        </p:nvSpPr>
        <p:spPr>
          <a:xfrm>
            <a:off x="914400" y="4663440"/>
            <a:ext cx="4754880" cy="1188720"/>
          </a:xfrm>
          <a:prstGeom prst="rect">
            <a:avLst/>
          </a:prstGeom>
          <a:noFill/>
        </p:spPr>
        <p:txBody>
          <a:bodyPr wrap="square" lIns="0" rIns="0" tIns="0" bIns="0" anchor="t">
            <a:spAutoFit/>
          </a:bodyPr>
          <a:lstStyle/>
          <a:p>
            <a:pPr algn="l">
              <a:lnSpc>
                <a:spcPct val="110000"/>
              </a:lnSpc>
            </a:pPr>
            <a:r>
              <a:rPr sz="1200" b="0" i="0">
                <a:solidFill>
                  <a:srgbClr val="2C2A24"/>
                </a:solidFill>
                <a:latin typeface="Cambria"/>
              </a:rPr>
              <a:t>One strategy = one account = one ledger. Independent sleeves, clean attribution, nothing hidden in a blended number.</a:t>
            </a:r>
          </a:p>
        </p:txBody>
      </p:sp>
      <p:sp>
        <p:nvSpPr>
          <p:cNvPr id="20" name="Rounded Rectangle 19"/>
          <p:cNvSpPr/>
          <p:nvPr/>
        </p:nvSpPr>
        <p:spPr>
          <a:xfrm>
            <a:off x="6263640" y="3886200"/>
            <a:ext cx="5303520" cy="2057400"/>
          </a:xfrm>
          <a:prstGeom prst="roundRect">
            <a:avLst>
              <a:gd name="adj" fmla="val 6000"/>
            </a:avLst>
          </a:prstGeom>
          <a:solidFill>
            <a:srgbClr val="F3ED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537959" y="4160520"/>
            <a:ext cx="566928" cy="566928"/>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eye.png"/>
          <p:cNvPicPr>
            <a:picLocks noChangeAspect="1"/>
          </p:cNvPicPr>
          <p:nvPr/>
        </p:nvPicPr>
        <p:blipFill>
          <a:blip r:embed="rId5"/>
          <a:stretch>
            <a:fillRect/>
          </a:stretch>
        </p:blipFill>
        <p:spPr>
          <a:xfrm>
            <a:off x="6662684" y="4285244"/>
            <a:ext cx="317479" cy="317479"/>
          </a:xfrm>
          <a:prstGeom prst="rect">
            <a:avLst/>
          </a:prstGeom>
        </p:spPr>
      </p:pic>
      <p:sp>
        <p:nvSpPr>
          <p:cNvPr id="23" name="TextBox 22"/>
          <p:cNvSpPr txBox="1"/>
          <p:nvPr/>
        </p:nvSpPr>
        <p:spPr>
          <a:xfrm>
            <a:off x="7269479" y="4187952"/>
            <a:ext cx="4023360" cy="320040"/>
          </a:xfrm>
          <a:prstGeom prst="rect">
            <a:avLst/>
          </a:prstGeom>
          <a:noFill/>
        </p:spPr>
        <p:txBody>
          <a:bodyPr wrap="square" lIns="0" rIns="0" tIns="0" bIns="0" anchor="t">
            <a:spAutoFit/>
          </a:bodyPr>
          <a:lstStyle/>
          <a:p>
            <a:pPr algn="l"/>
            <a:r>
              <a:rPr sz="1500" b="1" i="0">
                <a:solidFill>
                  <a:srgbClr val="1C3527"/>
                </a:solidFill>
                <a:latin typeface="Palatino Linotype"/>
              </a:rPr>
              <a:t>Monitoring &amp; reconciliation</a:t>
            </a:r>
          </a:p>
        </p:txBody>
      </p:sp>
      <p:sp>
        <p:nvSpPr>
          <p:cNvPr id="24" name="TextBox 23"/>
          <p:cNvSpPr txBox="1"/>
          <p:nvPr/>
        </p:nvSpPr>
        <p:spPr>
          <a:xfrm>
            <a:off x="6537959" y="4663440"/>
            <a:ext cx="4754880" cy="1188720"/>
          </a:xfrm>
          <a:prstGeom prst="rect">
            <a:avLst/>
          </a:prstGeom>
          <a:noFill/>
        </p:spPr>
        <p:txBody>
          <a:bodyPr wrap="square" lIns="0" rIns="0" tIns="0" bIns="0" anchor="t">
            <a:spAutoFit/>
          </a:bodyPr>
          <a:lstStyle/>
          <a:p>
            <a:pPr algn="l">
              <a:lnSpc>
                <a:spcPct val="110000"/>
              </a:lnSpc>
            </a:pPr>
            <a:r>
              <a:rPr sz="1200" b="0" i="0">
                <a:solidFill>
                  <a:srgbClr val="2C2A24"/>
                </a:solidFill>
                <a:latin typeface="Cambria"/>
              </a:rPr>
              <a:t>Daily reconciliation of live fills vs. model expectations. Divergence beyond tolerance halts the sleeve and gets investigated — automatically flagged, never ignored.</a:t>
            </a:r>
          </a:p>
        </p:txBody>
      </p:sp>
      <p:sp>
        <p:nvSpPr>
          <p:cNvPr id="25" name="TextBox 24"/>
          <p:cNvSpPr txBox="1"/>
          <p:nvPr/>
        </p:nvSpPr>
        <p:spPr>
          <a:xfrm>
            <a:off x="640080" y="6473952"/>
            <a:ext cx="8229600" cy="274320"/>
          </a:xfrm>
          <a:prstGeom prst="rect">
            <a:avLst/>
          </a:prstGeom>
          <a:noFill/>
        </p:spPr>
        <p:txBody>
          <a:bodyPr wrap="square" lIns="0" rIns="0" tIns="0" bIns="0" anchor="t">
            <a:spAutoFit/>
          </a:bodyPr>
          <a:lstStyle/>
          <a:p>
            <a:pPr algn="l"/>
            <a:r>
              <a:rPr sz="850" b="0" i="0">
                <a:solidFill>
                  <a:srgbClr val="9C937F"/>
                </a:solidFill>
                <a:latin typeface="Cambria"/>
              </a:rPr>
              <a:t>Confidential — private discussion document. Not an offer of securities or investment advice.</a:t>
            </a:r>
          </a:p>
        </p:txBody>
      </p:sp>
      <p:sp>
        <p:nvSpPr>
          <p:cNvPr id="26" name="TextBox 25"/>
          <p:cNvSpPr txBox="1"/>
          <p:nvPr/>
        </p:nvSpPr>
        <p:spPr>
          <a:xfrm>
            <a:off x="11247120" y="6473952"/>
            <a:ext cx="365760" cy="274320"/>
          </a:xfrm>
          <a:prstGeom prst="rect">
            <a:avLst/>
          </a:prstGeom>
          <a:noFill/>
        </p:spPr>
        <p:txBody>
          <a:bodyPr wrap="square" lIns="0" rIns="0" tIns="0" bIns="0" anchor="t">
            <a:spAutoFit/>
          </a:bodyPr>
          <a:lstStyle/>
          <a:p>
            <a:pPr algn="r"/>
            <a:r>
              <a:rPr sz="900" b="0" i="0">
                <a:solidFill>
                  <a:srgbClr val="9C937F"/>
                </a:solidFill>
                <a:latin typeface="Cambria"/>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9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10972800" cy="274320"/>
          </a:xfrm>
          <a:prstGeom prst="rect">
            <a:avLst/>
          </a:prstGeom>
          <a:noFill/>
        </p:spPr>
        <p:txBody>
          <a:bodyPr wrap="square" lIns="0" rIns="0" tIns="0" bIns="0" anchor="t">
            <a:spAutoFit/>
          </a:bodyPr>
          <a:lstStyle/>
          <a:p>
            <a:pPr algn="l"/>
            <a:r>
              <a:rPr sz="1100" b="1" i="0" spc="220">
                <a:solidFill>
                  <a:srgbClr val="8C7B4F"/>
                </a:solidFill>
                <a:latin typeface="Cambria"/>
              </a:rPr>
              <a:t>DIVERSIFICATION ROADMAP</a:t>
            </a:r>
          </a:p>
        </p:txBody>
      </p:sp>
      <p:sp>
        <p:nvSpPr>
          <p:cNvPr id="4" name="TextBox 3"/>
          <p:cNvSpPr txBox="1"/>
          <p:nvPr/>
        </p:nvSpPr>
        <p:spPr>
          <a:xfrm>
            <a:off x="640080" y="658368"/>
            <a:ext cx="10972800" cy="685800"/>
          </a:xfrm>
          <a:prstGeom prst="rect">
            <a:avLst/>
          </a:prstGeom>
          <a:noFill/>
        </p:spPr>
        <p:txBody>
          <a:bodyPr wrap="square" lIns="0" rIns="0" tIns="0" bIns="0" anchor="t">
            <a:spAutoFit/>
          </a:bodyPr>
          <a:lstStyle/>
          <a:p>
            <a:pPr algn="l"/>
            <a:r>
              <a:rPr sz="3000" b="1" i="0">
                <a:solidFill>
                  <a:srgbClr val="1C3527"/>
                </a:solidFill>
                <a:latin typeface="Palatino Linotype"/>
              </a:rPr>
              <a:t>One engine, more markets</a:t>
            </a:r>
          </a:p>
        </p:txBody>
      </p:sp>
      <p:sp>
        <p:nvSpPr>
          <p:cNvPr id="5" name="TextBox 4"/>
          <p:cNvSpPr txBox="1"/>
          <p:nvPr/>
        </p:nvSpPr>
        <p:spPr>
          <a:xfrm>
            <a:off x="640080" y="1371600"/>
            <a:ext cx="10881360" cy="548640"/>
          </a:xfrm>
          <a:prstGeom prst="rect">
            <a:avLst/>
          </a:prstGeom>
          <a:noFill/>
        </p:spPr>
        <p:txBody>
          <a:bodyPr wrap="square" lIns="0" rIns="0" tIns="0" bIns="0" anchor="t">
            <a:spAutoFit/>
          </a:bodyPr>
          <a:lstStyle/>
          <a:p>
            <a:pPr algn="l">
              <a:lnSpc>
                <a:spcPct val="110000"/>
              </a:lnSpc>
            </a:pPr>
            <a:r>
              <a:rPr sz="1300" b="0" i="0">
                <a:solidFill>
                  <a:srgbClr val="2C2A24"/>
                </a:solidFill>
                <a:latin typeface="Cambria"/>
              </a:rPr>
              <a:t>The research pipeline and execution engine are market-agnostic. Each new market is a new, weakly correlated source of returns — added only when its data meets our point-in-time standards.</a:t>
            </a:r>
          </a:p>
        </p:txBody>
      </p:sp>
      <p:sp>
        <p:nvSpPr>
          <p:cNvPr id="6" name="Rounded Rectangle 5"/>
          <p:cNvSpPr/>
          <p:nvPr/>
        </p:nvSpPr>
        <p:spPr>
          <a:xfrm>
            <a:off x="640080" y="2148840"/>
            <a:ext cx="2697480" cy="3291840"/>
          </a:xfrm>
          <a:prstGeom prst="roundRect">
            <a:avLst>
              <a:gd name="adj" fmla="val 7000"/>
            </a:avLst>
          </a:prstGeom>
          <a:solidFill>
            <a:srgbClr val="F3ED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68680" y="2377440"/>
            <a:ext cx="2240280" cy="310896"/>
          </a:xfrm>
          <a:prstGeom prst="roundRect">
            <a:avLst>
              <a:gd name="adj" fmla="val 50000"/>
            </a:avLst>
          </a:prstGeom>
          <a:solidFill>
            <a:srgbClr val="1C35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2377440"/>
            <a:ext cx="2240280" cy="310896"/>
          </a:xfrm>
          <a:prstGeom prst="rect">
            <a:avLst/>
          </a:prstGeom>
          <a:noFill/>
        </p:spPr>
        <p:txBody>
          <a:bodyPr wrap="square" lIns="0" rIns="0" tIns="0" bIns="0" anchor="ctr">
            <a:spAutoFit/>
          </a:bodyPr>
          <a:lstStyle/>
          <a:p>
            <a:pPr algn="ctr"/>
            <a:r>
              <a:rPr sz="1000" b="1" i="0" spc="120">
                <a:solidFill>
                  <a:srgbClr val="FFFFFF"/>
                </a:solidFill>
                <a:latin typeface="Cambria"/>
              </a:rPr>
              <a:t>LIVE TODAY</a:t>
            </a:r>
          </a:p>
        </p:txBody>
      </p:sp>
      <p:sp>
        <p:nvSpPr>
          <p:cNvPr id="9" name="TextBox 8"/>
          <p:cNvSpPr txBox="1"/>
          <p:nvPr/>
        </p:nvSpPr>
        <p:spPr>
          <a:xfrm>
            <a:off x="868680" y="2852928"/>
            <a:ext cx="2240280" cy="502920"/>
          </a:xfrm>
          <a:prstGeom prst="rect">
            <a:avLst/>
          </a:prstGeom>
          <a:noFill/>
        </p:spPr>
        <p:txBody>
          <a:bodyPr wrap="square" lIns="0" rIns="0" tIns="0" bIns="0" anchor="t">
            <a:spAutoFit/>
          </a:bodyPr>
          <a:lstStyle/>
          <a:p>
            <a:pPr algn="l"/>
            <a:r>
              <a:rPr sz="1500" b="1" i="0">
                <a:solidFill>
                  <a:srgbClr val="1C3527"/>
                </a:solidFill>
                <a:latin typeface="Palatino Linotype"/>
              </a:rPr>
              <a:t>UNITED STATES</a:t>
            </a:r>
          </a:p>
        </p:txBody>
      </p:sp>
      <p:sp>
        <p:nvSpPr>
          <p:cNvPr id="10" name="TextBox 9"/>
          <p:cNvSpPr txBox="1"/>
          <p:nvPr/>
        </p:nvSpPr>
        <p:spPr>
          <a:xfrm>
            <a:off x="868680" y="3401568"/>
            <a:ext cx="2240280" cy="1874519"/>
          </a:xfrm>
          <a:prstGeom prst="rect">
            <a:avLst/>
          </a:prstGeom>
          <a:noFill/>
        </p:spPr>
        <p:txBody>
          <a:bodyPr wrap="square" lIns="0" rIns="0" tIns="0" bIns="0" anchor="t">
            <a:spAutoFit/>
          </a:bodyPr>
          <a:lstStyle/>
          <a:p>
            <a:pPr algn="l">
              <a:lnSpc>
                <a:spcPct val="110000"/>
              </a:lnSpc>
            </a:pPr>
            <a:r>
              <a:rPr sz="1100" b="0" i="0">
                <a:solidFill>
                  <a:srgbClr val="2C2A24"/>
                </a:solidFill>
                <a:latin typeface="Cambria"/>
              </a:rPr>
              <a:t>Deep, liquid market. Point-in-time index membership (Russell 3000, Nasdaq-100, sectors) — everything in this deck runs here.</a:t>
            </a:r>
          </a:p>
        </p:txBody>
      </p:sp>
      <p:sp>
        <p:nvSpPr>
          <p:cNvPr id="11" name="Right Arrow 10"/>
          <p:cNvSpPr/>
          <p:nvPr/>
        </p:nvSpPr>
        <p:spPr>
          <a:xfrm>
            <a:off x="3273551" y="3657600"/>
            <a:ext cx="182880" cy="164592"/>
          </a:xfrm>
          <a:prstGeom prst="rightArrow">
            <a:avLst/>
          </a:prstGeom>
          <a:solidFill>
            <a:srgbClr val="BFB2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474720" y="2148840"/>
            <a:ext cx="2697480" cy="3291840"/>
          </a:xfrm>
          <a:prstGeom prst="roundRect">
            <a:avLst>
              <a:gd name="adj" fmla="val 7000"/>
            </a:avLst>
          </a:prstGeom>
          <a:solidFill>
            <a:srgbClr val="F3ED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703320" y="2377440"/>
            <a:ext cx="2240280" cy="310896"/>
          </a:xfrm>
          <a:prstGeom prst="roundRect">
            <a:avLst>
              <a:gd name="adj" fmla="val 50000"/>
            </a:avLst>
          </a:prstGeom>
          <a:solidFill>
            <a:srgbClr val="8C7B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703320" y="2377440"/>
            <a:ext cx="2240280" cy="310896"/>
          </a:xfrm>
          <a:prstGeom prst="rect">
            <a:avLst/>
          </a:prstGeom>
          <a:noFill/>
        </p:spPr>
        <p:txBody>
          <a:bodyPr wrap="square" lIns="0" rIns="0" tIns="0" bIns="0" anchor="ctr">
            <a:spAutoFit/>
          </a:bodyPr>
          <a:lstStyle/>
          <a:p>
            <a:pPr algn="ctr"/>
            <a:r>
              <a:rPr sz="1000" b="1" i="0" spc="120">
                <a:solidFill>
                  <a:srgbClr val="FFFFFF"/>
                </a:solidFill>
                <a:latin typeface="Cambria"/>
              </a:rPr>
              <a:t>NEXT</a:t>
            </a:r>
          </a:p>
        </p:txBody>
      </p:sp>
      <p:sp>
        <p:nvSpPr>
          <p:cNvPr id="15" name="TextBox 14"/>
          <p:cNvSpPr txBox="1"/>
          <p:nvPr/>
        </p:nvSpPr>
        <p:spPr>
          <a:xfrm>
            <a:off x="3703320" y="2852928"/>
            <a:ext cx="2240280" cy="502920"/>
          </a:xfrm>
          <a:prstGeom prst="rect">
            <a:avLst/>
          </a:prstGeom>
          <a:noFill/>
        </p:spPr>
        <p:txBody>
          <a:bodyPr wrap="square" lIns="0" rIns="0" tIns="0" bIns="0" anchor="t">
            <a:spAutoFit/>
          </a:bodyPr>
          <a:lstStyle/>
          <a:p>
            <a:pPr algn="l"/>
            <a:r>
              <a:rPr sz="1500" b="1" i="0">
                <a:solidFill>
                  <a:srgbClr val="1C3527"/>
                </a:solidFill>
                <a:latin typeface="Palatino Linotype"/>
              </a:rPr>
              <a:t>CANADA</a:t>
            </a:r>
          </a:p>
        </p:txBody>
      </p:sp>
      <p:sp>
        <p:nvSpPr>
          <p:cNvPr id="16" name="TextBox 15"/>
          <p:cNvSpPr txBox="1"/>
          <p:nvPr/>
        </p:nvSpPr>
        <p:spPr>
          <a:xfrm>
            <a:off x="3703320" y="3401568"/>
            <a:ext cx="2240280" cy="1874519"/>
          </a:xfrm>
          <a:prstGeom prst="rect">
            <a:avLst/>
          </a:prstGeom>
          <a:noFill/>
        </p:spPr>
        <p:txBody>
          <a:bodyPr wrap="square" lIns="0" rIns="0" tIns="0" bIns="0" anchor="t">
            <a:spAutoFit/>
          </a:bodyPr>
          <a:lstStyle/>
          <a:p>
            <a:pPr algn="l">
              <a:lnSpc>
                <a:spcPct val="110000"/>
              </a:lnSpc>
            </a:pPr>
            <a:r>
              <a:rPr sz="1100" b="0" i="0">
                <a:solidFill>
                  <a:srgbClr val="2C2A24"/>
                </a:solidFill>
                <a:latin typeface="Cambria"/>
              </a:rPr>
              <a:t>Survivorship-bias-free history already available from our data vendor (Norgate). Same engine, new return stream.</a:t>
            </a:r>
          </a:p>
        </p:txBody>
      </p:sp>
      <p:sp>
        <p:nvSpPr>
          <p:cNvPr id="17" name="Right Arrow 16"/>
          <p:cNvSpPr/>
          <p:nvPr/>
        </p:nvSpPr>
        <p:spPr>
          <a:xfrm>
            <a:off x="6108192" y="3657600"/>
            <a:ext cx="182880" cy="164592"/>
          </a:xfrm>
          <a:prstGeom prst="rightArrow">
            <a:avLst/>
          </a:prstGeom>
          <a:solidFill>
            <a:srgbClr val="BFB2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309360" y="2148840"/>
            <a:ext cx="2697480" cy="3291840"/>
          </a:xfrm>
          <a:prstGeom prst="roundRect">
            <a:avLst>
              <a:gd name="adj" fmla="val 7000"/>
            </a:avLst>
          </a:prstGeom>
          <a:solidFill>
            <a:srgbClr val="F3ED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537960" y="2377440"/>
            <a:ext cx="2240280" cy="310896"/>
          </a:xfrm>
          <a:prstGeom prst="roundRect">
            <a:avLst>
              <a:gd name="adj" fmla="val 50000"/>
            </a:avLst>
          </a:prstGeom>
          <a:solidFill>
            <a:srgbClr val="8C7B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37960" y="2377440"/>
            <a:ext cx="2240280" cy="310896"/>
          </a:xfrm>
          <a:prstGeom prst="rect">
            <a:avLst/>
          </a:prstGeom>
          <a:noFill/>
        </p:spPr>
        <p:txBody>
          <a:bodyPr wrap="square" lIns="0" rIns="0" tIns="0" bIns="0" anchor="ctr">
            <a:spAutoFit/>
          </a:bodyPr>
          <a:lstStyle/>
          <a:p>
            <a:pPr algn="ctr"/>
            <a:r>
              <a:rPr sz="1000" b="1" i="0" spc="120">
                <a:solidFill>
                  <a:srgbClr val="FFFFFF"/>
                </a:solidFill>
                <a:latin typeface="Cambria"/>
              </a:rPr>
              <a:t>NEXT</a:t>
            </a:r>
          </a:p>
        </p:txBody>
      </p:sp>
      <p:sp>
        <p:nvSpPr>
          <p:cNvPr id="21" name="TextBox 20"/>
          <p:cNvSpPr txBox="1"/>
          <p:nvPr/>
        </p:nvSpPr>
        <p:spPr>
          <a:xfrm>
            <a:off x="6537960" y="2852928"/>
            <a:ext cx="2240280" cy="502920"/>
          </a:xfrm>
          <a:prstGeom prst="rect">
            <a:avLst/>
          </a:prstGeom>
          <a:noFill/>
        </p:spPr>
        <p:txBody>
          <a:bodyPr wrap="square" lIns="0" rIns="0" tIns="0" bIns="0" anchor="t">
            <a:spAutoFit/>
          </a:bodyPr>
          <a:lstStyle/>
          <a:p>
            <a:pPr algn="l"/>
            <a:r>
              <a:rPr sz="1500" b="1" i="0">
                <a:solidFill>
                  <a:srgbClr val="1C3527"/>
                </a:solidFill>
                <a:latin typeface="Palatino Linotype"/>
              </a:rPr>
              <a:t>AUSTRALIA</a:t>
            </a:r>
          </a:p>
        </p:txBody>
      </p:sp>
      <p:sp>
        <p:nvSpPr>
          <p:cNvPr id="22" name="TextBox 21"/>
          <p:cNvSpPr txBox="1"/>
          <p:nvPr/>
        </p:nvSpPr>
        <p:spPr>
          <a:xfrm>
            <a:off x="6537960" y="3401568"/>
            <a:ext cx="2240280" cy="1874519"/>
          </a:xfrm>
          <a:prstGeom prst="rect">
            <a:avLst/>
          </a:prstGeom>
          <a:noFill/>
        </p:spPr>
        <p:txBody>
          <a:bodyPr wrap="square" lIns="0" rIns="0" tIns="0" bIns="0" anchor="t">
            <a:spAutoFit/>
          </a:bodyPr>
          <a:lstStyle/>
          <a:p>
            <a:pPr algn="l">
              <a:lnSpc>
                <a:spcPct val="110000"/>
              </a:lnSpc>
            </a:pPr>
            <a:r>
              <a:rPr sz="1100" b="0" i="0">
                <a:solidFill>
                  <a:srgbClr val="2C2A24"/>
                </a:solidFill>
                <a:latin typeface="Cambria"/>
              </a:rPr>
              <a:t>Same vendor coverage, different time zone and market structure — diversification that U.S.-only managers don't have.</a:t>
            </a:r>
          </a:p>
        </p:txBody>
      </p:sp>
      <p:sp>
        <p:nvSpPr>
          <p:cNvPr id="23" name="Right Arrow 22"/>
          <p:cNvSpPr/>
          <p:nvPr/>
        </p:nvSpPr>
        <p:spPr>
          <a:xfrm>
            <a:off x="8942832" y="3657600"/>
            <a:ext cx="182880" cy="164592"/>
          </a:xfrm>
          <a:prstGeom prst="rightArrow">
            <a:avLst/>
          </a:prstGeom>
          <a:solidFill>
            <a:srgbClr val="BFB2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9144000" y="2148840"/>
            <a:ext cx="2697480" cy="3291840"/>
          </a:xfrm>
          <a:prstGeom prst="roundRect">
            <a:avLst>
              <a:gd name="adj" fmla="val 7000"/>
            </a:avLst>
          </a:prstGeom>
          <a:solidFill>
            <a:srgbClr val="F3ED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9372600" y="2377440"/>
            <a:ext cx="2240280" cy="310896"/>
          </a:xfrm>
          <a:prstGeom prst="roundRect">
            <a:avLst>
              <a:gd name="adj" fmla="val 50000"/>
            </a:avLst>
          </a:prstGeom>
          <a:solidFill>
            <a:srgbClr val="8C6D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372600" y="2377440"/>
            <a:ext cx="2240280" cy="310896"/>
          </a:xfrm>
          <a:prstGeom prst="rect">
            <a:avLst/>
          </a:prstGeom>
          <a:noFill/>
        </p:spPr>
        <p:txBody>
          <a:bodyPr wrap="square" lIns="0" rIns="0" tIns="0" bIns="0" anchor="ctr">
            <a:spAutoFit/>
          </a:bodyPr>
          <a:lstStyle/>
          <a:p>
            <a:pPr algn="ctr"/>
            <a:r>
              <a:rPr sz="1000" b="1" i="0" spc="120">
                <a:solidFill>
                  <a:srgbClr val="FFFFFF"/>
                </a:solidFill>
                <a:latin typeface="Cambria"/>
              </a:rPr>
              <a:t>IN DEVELOPMENT</a:t>
            </a:r>
          </a:p>
        </p:txBody>
      </p:sp>
      <p:sp>
        <p:nvSpPr>
          <p:cNvPr id="27" name="TextBox 26"/>
          <p:cNvSpPr txBox="1"/>
          <p:nvPr/>
        </p:nvSpPr>
        <p:spPr>
          <a:xfrm>
            <a:off x="9372600" y="2852928"/>
            <a:ext cx="2240280" cy="502920"/>
          </a:xfrm>
          <a:prstGeom prst="rect">
            <a:avLst/>
          </a:prstGeom>
          <a:noFill/>
        </p:spPr>
        <p:txBody>
          <a:bodyPr wrap="square" lIns="0" rIns="0" tIns="0" bIns="0" anchor="t">
            <a:spAutoFit/>
          </a:bodyPr>
          <a:lstStyle/>
          <a:p>
            <a:pPr algn="l"/>
            <a:r>
              <a:rPr sz="1500" b="1" i="0">
                <a:solidFill>
                  <a:srgbClr val="1C3527"/>
                </a:solidFill>
                <a:latin typeface="Palatino Linotype"/>
              </a:rPr>
              <a:t>ISRAEL (TASE)</a:t>
            </a:r>
          </a:p>
        </p:txBody>
      </p:sp>
      <p:sp>
        <p:nvSpPr>
          <p:cNvPr id="28" name="TextBox 27"/>
          <p:cNvSpPr txBox="1"/>
          <p:nvPr/>
        </p:nvSpPr>
        <p:spPr>
          <a:xfrm>
            <a:off x="9372600" y="3401568"/>
            <a:ext cx="2240280" cy="1874519"/>
          </a:xfrm>
          <a:prstGeom prst="rect">
            <a:avLst/>
          </a:prstGeom>
          <a:noFill/>
        </p:spPr>
        <p:txBody>
          <a:bodyPr wrap="square" lIns="0" rIns="0" tIns="0" bIns="0" anchor="t">
            <a:spAutoFit/>
          </a:bodyPr>
          <a:lstStyle/>
          <a:p>
            <a:pPr algn="l">
              <a:lnSpc>
                <a:spcPct val="110000"/>
              </a:lnSpc>
            </a:pPr>
            <a:r>
              <a:rPr sz="1100" b="0" i="0">
                <a:solidFill>
                  <a:srgbClr val="2C2A24"/>
                </a:solidFill>
                <a:latin typeface="Cambria"/>
              </a:rPr>
              <a:t>The home-market opportunity: less crowded, less researched. Currently building a point-in-time TASE database to our standards — no backtest before the data is right.</a:t>
            </a:r>
          </a:p>
        </p:txBody>
      </p:sp>
      <p:sp>
        <p:nvSpPr>
          <p:cNvPr id="29" name="Rounded Rectangle 28"/>
          <p:cNvSpPr/>
          <p:nvPr/>
        </p:nvSpPr>
        <p:spPr>
          <a:xfrm>
            <a:off x="640080" y="5623560"/>
            <a:ext cx="10927080" cy="594360"/>
          </a:xfrm>
          <a:prstGeom prst="roundRect">
            <a:avLst>
              <a:gd name="adj" fmla="val 8000"/>
            </a:avLst>
          </a:prstGeom>
          <a:solidFill>
            <a:srgbClr val="F3ED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14400" y="5623560"/>
            <a:ext cx="10424160" cy="594360"/>
          </a:xfrm>
          <a:prstGeom prst="rect">
            <a:avLst/>
          </a:prstGeom>
          <a:noFill/>
        </p:spPr>
        <p:txBody>
          <a:bodyPr wrap="square" lIns="0" rIns="0" tIns="0" bIns="0" anchor="ctr">
            <a:spAutoFit/>
          </a:bodyPr>
          <a:lstStyle/>
          <a:p>
            <a:pPr algn="l"/>
            <a:r>
              <a:rPr sz="1250" b="1" i="0">
                <a:solidFill>
                  <a:srgbClr val="1C3527"/>
                </a:solidFill>
                <a:latin typeface="Cambria"/>
              </a:rPr>
              <a:t>Discipline first: no market receives capital before its data passes the same point-in-time, survivorship-bias-free standard as the U.S. book.</a:t>
            </a:r>
          </a:p>
        </p:txBody>
      </p:sp>
      <p:sp>
        <p:nvSpPr>
          <p:cNvPr id="31" name="TextBox 30"/>
          <p:cNvSpPr txBox="1"/>
          <p:nvPr/>
        </p:nvSpPr>
        <p:spPr>
          <a:xfrm>
            <a:off x="640080" y="6473952"/>
            <a:ext cx="8229600" cy="274320"/>
          </a:xfrm>
          <a:prstGeom prst="rect">
            <a:avLst/>
          </a:prstGeom>
          <a:noFill/>
        </p:spPr>
        <p:txBody>
          <a:bodyPr wrap="square" lIns="0" rIns="0" tIns="0" bIns="0" anchor="t">
            <a:spAutoFit/>
          </a:bodyPr>
          <a:lstStyle/>
          <a:p>
            <a:pPr algn="l"/>
            <a:r>
              <a:rPr sz="850" b="0" i="0">
                <a:solidFill>
                  <a:srgbClr val="9C937F"/>
                </a:solidFill>
                <a:latin typeface="Cambria"/>
              </a:rPr>
              <a:t>Confidential — private discussion document. Not an offer of securities or investment advice.</a:t>
            </a:r>
          </a:p>
        </p:txBody>
      </p:sp>
      <p:sp>
        <p:nvSpPr>
          <p:cNvPr id="32" name="TextBox 31"/>
          <p:cNvSpPr txBox="1"/>
          <p:nvPr/>
        </p:nvSpPr>
        <p:spPr>
          <a:xfrm>
            <a:off x="11247120" y="6473952"/>
            <a:ext cx="365760" cy="274320"/>
          </a:xfrm>
          <a:prstGeom prst="rect">
            <a:avLst/>
          </a:prstGeom>
          <a:noFill/>
        </p:spPr>
        <p:txBody>
          <a:bodyPr wrap="square" lIns="0" rIns="0" tIns="0" bIns="0" anchor="t">
            <a:spAutoFit/>
          </a:bodyPr>
          <a:lstStyle/>
          <a:p>
            <a:pPr algn="r"/>
            <a:r>
              <a:rPr sz="900" b="0" i="0">
                <a:solidFill>
                  <a:srgbClr val="9C937F"/>
                </a:solidFill>
                <a:latin typeface="Cambria"/>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C35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10972800" cy="274320"/>
          </a:xfrm>
          <a:prstGeom prst="rect">
            <a:avLst/>
          </a:prstGeom>
          <a:noFill/>
        </p:spPr>
        <p:txBody>
          <a:bodyPr wrap="square" lIns="0" rIns="0" tIns="0" bIns="0" anchor="t">
            <a:spAutoFit/>
          </a:bodyPr>
          <a:lstStyle/>
          <a:p>
            <a:pPr algn="l"/>
            <a:r>
              <a:rPr sz="1100" b="1" i="0" spc="220">
                <a:solidFill>
                  <a:srgbClr val="E4D9BE"/>
                </a:solidFill>
                <a:latin typeface="Cambria"/>
              </a:rPr>
              <a:t>FRIENDS &amp; FAMILY PHASE</a:t>
            </a:r>
          </a:p>
        </p:txBody>
      </p:sp>
      <p:sp>
        <p:nvSpPr>
          <p:cNvPr id="4" name="TextBox 3"/>
          <p:cNvSpPr txBox="1"/>
          <p:nvPr/>
        </p:nvSpPr>
        <p:spPr>
          <a:xfrm>
            <a:off x="640080" y="658368"/>
            <a:ext cx="10972800" cy="685800"/>
          </a:xfrm>
          <a:prstGeom prst="rect">
            <a:avLst/>
          </a:prstGeom>
          <a:noFill/>
        </p:spPr>
        <p:txBody>
          <a:bodyPr wrap="square" lIns="0" rIns="0" tIns="0" bIns="0" anchor="t">
            <a:spAutoFit/>
          </a:bodyPr>
          <a:lstStyle/>
          <a:p>
            <a:pPr algn="l"/>
            <a:r>
              <a:rPr sz="3000" b="1" i="0">
                <a:solidFill>
                  <a:srgbClr val="FFFFFF"/>
                </a:solidFill>
                <a:latin typeface="Palatino Linotype"/>
              </a:rPr>
              <a:t>Terms and next steps</a:t>
            </a:r>
          </a:p>
        </p:txBody>
      </p:sp>
      <p:sp>
        <p:nvSpPr>
          <p:cNvPr id="5" name="Rounded Rectangle 4"/>
          <p:cNvSpPr/>
          <p:nvPr/>
        </p:nvSpPr>
        <p:spPr>
          <a:xfrm>
            <a:off x="640080" y="1554480"/>
            <a:ext cx="2697480" cy="1371600"/>
          </a:xfrm>
          <a:prstGeom prst="roundRect">
            <a:avLst>
              <a:gd name="adj" fmla="val 8000"/>
            </a:avLst>
          </a:prstGeom>
          <a:solidFill>
            <a:srgbClr val="2A4A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737360"/>
            <a:ext cx="2286000" cy="274320"/>
          </a:xfrm>
          <a:prstGeom prst="rect">
            <a:avLst/>
          </a:prstGeom>
          <a:noFill/>
        </p:spPr>
        <p:txBody>
          <a:bodyPr wrap="square" lIns="0" rIns="0" tIns="0" bIns="0" anchor="t">
            <a:spAutoFit/>
          </a:bodyPr>
          <a:lstStyle/>
          <a:p>
            <a:pPr algn="l"/>
            <a:r>
              <a:rPr sz="1100" b="1" i="0" spc="180">
                <a:solidFill>
                  <a:srgbClr val="E4D9BE"/>
                </a:solidFill>
                <a:latin typeface="Cambria"/>
              </a:rPr>
              <a:t>MINIMUM</a:t>
            </a:r>
          </a:p>
        </p:txBody>
      </p:sp>
      <p:sp>
        <p:nvSpPr>
          <p:cNvPr id="7" name="TextBox 6"/>
          <p:cNvSpPr txBox="1"/>
          <p:nvPr/>
        </p:nvSpPr>
        <p:spPr>
          <a:xfrm>
            <a:off x="868680" y="2057400"/>
            <a:ext cx="2286000" cy="777240"/>
          </a:xfrm>
          <a:prstGeom prst="rect">
            <a:avLst/>
          </a:prstGeom>
          <a:noFill/>
        </p:spPr>
        <p:txBody>
          <a:bodyPr wrap="square" lIns="0" rIns="0" tIns="0" bIns="0" anchor="t">
            <a:spAutoFit/>
          </a:bodyPr>
          <a:lstStyle/>
          <a:p>
            <a:pPr algn="l">
              <a:lnSpc>
                <a:spcPct val="105000"/>
              </a:lnSpc>
            </a:pPr>
            <a:r>
              <a:rPr sz="1350" b="1" i="0">
                <a:solidFill>
                  <a:srgbClr val="FFFFFF"/>
                </a:solidFill>
                <a:latin typeface="Cambria"/>
              </a:rPr>
              <a:t>[ e.g. $10–25K ]</a:t>
            </a:r>
          </a:p>
        </p:txBody>
      </p:sp>
      <p:sp>
        <p:nvSpPr>
          <p:cNvPr id="8" name="Rounded Rectangle 7"/>
          <p:cNvSpPr/>
          <p:nvPr/>
        </p:nvSpPr>
        <p:spPr>
          <a:xfrm>
            <a:off x="3474720" y="1554480"/>
            <a:ext cx="2697480" cy="1371600"/>
          </a:xfrm>
          <a:prstGeom prst="roundRect">
            <a:avLst>
              <a:gd name="adj" fmla="val 8000"/>
            </a:avLst>
          </a:prstGeom>
          <a:solidFill>
            <a:srgbClr val="2A4A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703320" y="1737360"/>
            <a:ext cx="2286000" cy="274320"/>
          </a:xfrm>
          <a:prstGeom prst="rect">
            <a:avLst/>
          </a:prstGeom>
          <a:noFill/>
        </p:spPr>
        <p:txBody>
          <a:bodyPr wrap="square" lIns="0" rIns="0" tIns="0" bIns="0" anchor="t">
            <a:spAutoFit/>
          </a:bodyPr>
          <a:lstStyle/>
          <a:p>
            <a:pPr algn="l"/>
            <a:r>
              <a:rPr sz="1100" b="1" i="0" spc="180">
                <a:solidFill>
                  <a:srgbClr val="E4D9BE"/>
                </a:solidFill>
                <a:latin typeface="Cambria"/>
              </a:rPr>
              <a:t>FEES</a:t>
            </a:r>
          </a:p>
        </p:txBody>
      </p:sp>
      <p:sp>
        <p:nvSpPr>
          <p:cNvPr id="10" name="TextBox 9"/>
          <p:cNvSpPr txBox="1"/>
          <p:nvPr/>
        </p:nvSpPr>
        <p:spPr>
          <a:xfrm>
            <a:off x="3703320" y="2057400"/>
            <a:ext cx="2286000" cy="777240"/>
          </a:xfrm>
          <a:prstGeom prst="rect">
            <a:avLst/>
          </a:prstGeom>
          <a:noFill/>
        </p:spPr>
        <p:txBody>
          <a:bodyPr wrap="square" lIns="0" rIns="0" tIns="0" bIns="0" anchor="t">
            <a:spAutoFit/>
          </a:bodyPr>
          <a:lstStyle/>
          <a:p>
            <a:pPr algn="l">
              <a:lnSpc>
                <a:spcPct val="105000"/>
              </a:lnSpc>
            </a:pPr>
            <a:r>
              <a:rPr sz="1350" b="1" i="0">
                <a:solidFill>
                  <a:srgbClr val="FFFFFF"/>
                </a:solidFill>
                <a:latin typeface="Cambria"/>
              </a:rPr>
              <a:t>[ e.g. 0% mgmt /
10% perf, HWM ]</a:t>
            </a:r>
          </a:p>
        </p:txBody>
      </p:sp>
      <p:sp>
        <p:nvSpPr>
          <p:cNvPr id="11" name="Rounded Rectangle 10"/>
          <p:cNvSpPr/>
          <p:nvPr/>
        </p:nvSpPr>
        <p:spPr>
          <a:xfrm>
            <a:off x="6309360" y="1554480"/>
            <a:ext cx="2697480" cy="1371600"/>
          </a:xfrm>
          <a:prstGeom prst="roundRect">
            <a:avLst>
              <a:gd name="adj" fmla="val 8000"/>
            </a:avLst>
          </a:prstGeom>
          <a:solidFill>
            <a:srgbClr val="2A4A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37960" y="1737360"/>
            <a:ext cx="2286000" cy="274320"/>
          </a:xfrm>
          <a:prstGeom prst="rect">
            <a:avLst/>
          </a:prstGeom>
          <a:noFill/>
        </p:spPr>
        <p:txBody>
          <a:bodyPr wrap="square" lIns="0" rIns="0" tIns="0" bIns="0" anchor="t">
            <a:spAutoFit/>
          </a:bodyPr>
          <a:lstStyle/>
          <a:p>
            <a:pPr algn="l"/>
            <a:r>
              <a:rPr sz="1100" b="1" i="0" spc="180">
                <a:solidFill>
                  <a:srgbClr val="E4D9BE"/>
                </a:solidFill>
                <a:latin typeface="Cambria"/>
              </a:rPr>
              <a:t>LIQUIDITY</a:t>
            </a:r>
          </a:p>
        </p:txBody>
      </p:sp>
      <p:sp>
        <p:nvSpPr>
          <p:cNvPr id="13" name="TextBox 12"/>
          <p:cNvSpPr txBox="1"/>
          <p:nvPr/>
        </p:nvSpPr>
        <p:spPr>
          <a:xfrm>
            <a:off x="6537960" y="2057400"/>
            <a:ext cx="2286000" cy="777240"/>
          </a:xfrm>
          <a:prstGeom prst="rect">
            <a:avLst/>
          </a:prstGeom>
          <a:noFill/>
        </p:spPr>
        <p:txBody>
          <a:bodyPr wrap="square" lIns="0" rIns="0" tIns="0" bIns="0" anchor="t">
            <a:spAutoFit/>
          </a:bodyPr>
          <a:lstStyle/>
          <a:p>
            <a:pPr algn="l">
              <a:lnSpc>
                <a:spcPct val="105000"/>
              </a:lnSpc>
            </a:pPr>
            <a:r>
              <a:rPr sz="1350" b="1" i="0">
                <a:solidFill>
                  <a:srgbClr val="FFFFFF"/>
                </a:solidFill>
                <a:latin typeface="Cambria"/>
              </a:rPr>
              <a:t>[ e.g. monthly,
30-day notice ]</a:t>
            </a:r>
          </a:p>
        </p:txBody>
      </p:sp>
      <p:sp>
        <p:nvSpPr>
          <p:cNvPr id="14" name="Rounded Rectangle 13"/>
          <p:cNvSpPr/>
          <p:nvPr/>
        </p:nvSpPr>
        <p:spPr>
          <a:xfrm>
            <a:off x="9144000" y="1554480"/>
            <a:ext cx="2697480" cy="1371600"/>
          </a:xfrm>
          <a:prstGeom prst="roundRect">
            <a:avLst>
              <a:gd name="adj" fmla="val 8000"/>
            </a:avLst>
          </a:prstGeom>
          <a:solidFill>
            <a:srgbClr val="2A4A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372600" y="1737360"/>
            <a:ext cx="2286000" cy="274320"/>
          </a:xfrm>
          <a:prstGeom prst="rect">
            <a:avLst/>
          </a:prstGeom>
          <a:noFill/>
        </p:spPr>
        <p:txBody>
          <a:bodyPr wrap="square" lIns="0" rIns="0" tIns="0" bIns="0" anchor="t">
            <a:spAutoFit/>
          </a:bodyPr>
          <a:lstStyle/>
          <a:p>
            <a:pPr algn="l"/>
            <a:r>
              <a:rPr sz="1100" b="1" i="0" spc="180">
                <a:solidFill>
                  <a:srgbClr val="E4D9BE"/>
                </a:solidFill>
                <a:latin typeface="Cambria"/>
              </a:rPr>
              <a:t>REPORTING</a:t>
            </a:r>
          </a:p>
        </p:txBody>
      </p:sp>
      <p:sp>
        <p:nvSpPr>
          <p:cNvPr id="16" name="TextBox 15"/>
          <p:cNvSpPr txBox="1"/>
          <p:nvPr/>
        </p:nvSpPr>
        <p:spPr>
          <a:xfrm>
            <a:off x="9372600" y="2057400"/>
            <a:ext cx="2286000" cy="777240"/>
          </a:xfrm>
          <a:prstGeom prst="rect">
            <a:avLst/>
          </a:prstGeom>
          <a:noFill/>
        </p:spPr>
        <p:txBody>
          <a:bodyPr wrap="square" lIns="0" rIns="0" tIns="0" bIns="0" anchor="t">
            <a:spAutoFit/>
          </a:bodyPr>
          <a:lstStyle/>
          <a:p>
            <a:pPr algn="l">
              <a:lnSpc>
                <a:spcPct val="105000"/>
              </a:lnSpc>
            </a:pPr>
            <a:r>
              <a:rPr sz="1350" b="1" i="0">
                <a:solidFill>
                  <a:srgbClr val="FFFFFF"/>
                </a:solidFill>
                <a:latin typeface="Cambria"/>
              </a:rPr>
              <a:t>Monthly statement
+ live dashboard</a:t>
            </a:r>
          </a:p>
        </p:txBody>
      </p:sp>
      <p:sp>
        <p:nvSpPr>
          <p:cNvPr id="17" name="Rounded Rectangle 16"/>
          <p:cNvSpPr/>
          <p:nvPr/>
        </p:nvSpPr>
        <p:spPr>
          <a:xfrm>
            <a:off x="640080" y="3063240"/>
            <a:ext cx="5120640" cy="292608"/>
          </a:xfrm>
          <a:prstGeom prst="roundRect">
            <a:avLst>
              <a:gd name="adj" fmla="val 50000"/>
            </a:avLst>
          </a:prstGeom>
          <a:solidFill>
            <a:srgbClr val="F0E7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9808" y="3063240"/>
            <a:ext cx="4901183" cy="292608"/>
          </a:xfrm>
          <a:prstGeom prst="rect">
            <a:avLst/>
          </a:prstGeom>
          <a:noFill/>
        </p:spPr>
        <p:txBody>
          <a:bodyPr wrap="square" lIns="0" rIns="0" tIns="0" bIns="0" anchor="ctr">
            <a:spAutoFit/>
          </a:bodyPr>
          <a:lstStyle/>
          <a:p>
            <a:pPr algn="l"/>
            <a:r>
              <a:rPr sz="1050" b="1" i="0">
                <a:solidFill>
                  <a:srgbClr val="8C6D1F"/>
                </a:solidFill>
                <a:latin typeface="Cambria"/>
              </a:rPr>
              <a:t>YOU:  decide terms — then validate everything with Israeli counsel</a:t>
            </a:r>
          </a:p>
        </p:txBody>
      </p:sp>
      <p:sp>
        <p:nvSpPr>
          <p:cNvPr id="19" name="Rounded Rectangle 18"/>
          <p:cNvSpPr/>
          <p:nvPr/>
        </p:nvSpPr>
        <p:spPr>
          <a:xfrm>
            <a:off x="5943600" y="3063240"/>
            <a:ext cx="4754880" cy="292608"/>
          </a:xfrm>
          <a:prstGeom prst="roundRect">
            <a:avLst>
              <a:gd name="adj" fmla="val 50000"/>
            </a:avLst>
          </a:prstGeom>
          <a:solidFill>
            <a:srgbClr val="F0E7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053328" y="3063240"/>
            <a:ext cx="4535424" cy="292608"/>
          </a:xfrm>
          <a:prstGeom prst="rect">
            <a:avLst/>
          </a:prstGeom>
          <a:noFill/>
        </p:spPr>
        <p:txBody>
          <a:bodyPr wrap="square" lIns="0" rIns="0" tIns="0" bIns="0" anchor="ctr">
            <a:spAutoFit/>
          </a:bodyPr>
          <a:lstStyle/>
          <a:p>
            <a:pPr algn="l"/>
            <a:r>
              <a:rPr sz="1050" b="1" i="0">
                <a:solidFill>
                  <a:srgbClr val="8C6D1F"/>
                </a:solidFill>
                <a:latin typeface="Cambria"/>
              </a:rPr>
              <a:t>YOU:  state raise amount, how it will be held, and why now</a:t>
            </a:r>
          </a:p>
        </p:txBody>
      </p:sp>
      <p:sp>
        <p:nvSpPr>
          <p:cNvPr id="21" name="TextBox 20"/>
          <p:cNvSpPr txBox="1"/>
          <p:nvPr/>
        </p:nvSpPr>
        <p:spPr>
          <a:xfrm>
            <a:off x="640080" y="3611880"/>
            <a:ext cx="7315200" cy="320040"/>
          </a:xfrm>
          <a:prstGeom prst="rect">
            <a:avLst/>
          </a:prstGeom>
          <a:noFill/>
        </p:spPr>
        <p:txBody>
          <a:bodyPr wrap="square" lIns="0" rIns="0" tIns="0" bIns="0" anchor="t">
            <a:spAutoFit/>
          </a:bodyPr>
          <a:lstStyle/>
          <a:p>
            <a:pPr algn="l"/>
            <a:r>
              <a:rPr sz="1600" b="1" i="0">
                <a:solidFill>
                  <a:srgbClr val="FFFFFF"/>
                </a:solidFill>
                <a:latin typeface="Palatino Linotype"/>
              </a:rPr>
              <a:t>Milestones</a:t>
            </a:r>
          </a:p>
        </p:txBody>
      </p:sp>
      <p:sp>
        <p:nvSpPr>
          <p:cNvPr id="22" name="Rounded Rectangle 21"/>
          <p:cNvSpPr/>
          <p:nvPr/>
        </p:nvSpPr>
        <p:spPr>
          <a:xfrm>
            <a:off x="640080" y="4023360"/>
            <a:ext cx="3611880" cy="1234440"/>
          </a:xfrm>
          <a:prstGeom prst="roundRect">
            <a:avLst>
              <a:gd name="adj" fmla="val 8000"/>
            </a:avLst>
          </a:prstGeom>
          <a:solidFill>
            <a:srgbClr val="2A4A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68680" y="4187952"/>
            <a:ext cx="3154680" cy="274320"/>
          </a:xfrm>
          <a:prstGeom prst="rect">
            <a:avLst/>
          </a:prstGeom>
          <a:noFill/>
        </p:spPr>
        <p:txBody>
          <a:bodyPr wrap="square" lIns="0" rIns="0" tIns="0" bIns="0" anchor="t">
            <a:spAutoFit/>
          </a:bodyPr>
          <a:lstStyle/>
          <a:p>
            <a:pPr algn="l"/>
            <a:r>
              <a:rPr sz="1200" b="1" i="0" spc="150">
                <a:solidFill>
                  <a:srgbClr val="E4D9BE"/>
                </a:solidFill>
                <a:latin typeface="Cambria"/>
              </a:rPr>
              <a:t>NOW</a:t>
            </a:r>
          </a:p>
        </p:txBody>
      </p:sp>
      <p:sp>
        <p:nvSpPr>
          <p:cNvPr id="24" name="TextBox 23"/>
          <p:cNvSpPr txBox="1"/>
          <p:nvPr/>
        </p:nvSpPr>
        <p:spPr>
          <a:xfrm>
            <a:off x="868680" y="4526280"/>
            <a:ext cx="3154680" cy="685800"/>
          </a:xfrm>
          <a:prstGeom prst="rect">
            <a:avLst/>
          </a:prstGeom>
          <a:noFill/>
        </p:spPr>
        <p:txBody>
          <a:bodyPr wrap="square" lIns="0" rIns="0" tIns="0" bIns="0" anchor="t">
            <a:spAutoFit/>
          </a:bodyPr>
          <a:lstStyle/>
          <a:p>
            <a:pPr algn="l">
              <a:lnSpc>
                <a:spcPct val="105000"/>
              </a:lnSpc>
            </a:pPr>
            <a:r>
              <a:rPr sz="1150" b="0" i="0">
                <a:solidFill>
                  <a:srgbClr val="FFFFFF"/>
                </a:solidFill>
                <a:latin typeface="Cambria"/>
              </a:rPr>
              <a:t>Live with founder capital; F&amp;F phase opens after legal structure is settled</a:t>
            </a:r>
          </a:p>
        </p:txBody>
      </p:sp>
      <p:sp>
        <p:nvSpPr>
          <p:cNvPr id="25" name="Rounded Rectangle 24"/>
          <p:cNvSpPr/>
          <p:nvPr/>
        </p:nvSpPr>
        <p:spPr>
          <a:xfrm>
            <a:off x="4389120" y="4023360"/>
            <a:ext cx="3611880" cy="1234440"/>
          </a:xfrm>
          <a:prstGeom prst="roundRect">
            <a:avLst>
              <a:gd name="adj" fmla="val 8000"/>
            </a:avLst>
          </a:prstGeom>
          <a:solidFill>
            <a:srgbClr val="2A4A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617720" y="4187952"/>
            <a:ext cx="3154680" cy="274320"/>
          </a:xfrm>
          <a:prstGeom prst="rect">
            <a:avLst/>
          </a:prstGeom>
          <a:noFill/>
        </p:spPr>
        <p:txBody>
          <a:bodyPr wrap="square" lIns="0" rIns="0" tIns="0" bIns="0" anchor="t">
            <a:spAutoFit/>
          </a:bodyPr>
          <a:lstStyle/>
          <a:p>
            <a:pPr algn="l"/>
            <a:r>
              <a:rPr sz="1200" b="1" i="0" spc="150">
                <a:solidFill>
                  <a:srgbClr val="E4D9BE"/>
                </a:solidFill>
                <a:latin typeface="Cambria"/>
              </a:rPr>
              <a:t>+[N] MONTHS</a:t>
            </a:r>
          </a:p>
        </p:txBody>
      </p:sp>
      <p:sp>
        <p:nvSpPr>
          <p:cNvPr id="27" name="TextBox 26"/>
          <p:cNvSpPr txBox="1"/>
          <p:nvPr/>
        </p:nvSpPr>
        <p:spPr>
          <a:xfrm>
            <a:off x="4617720" y="4526280"/>
            <a:ext cx="3154680" cy="685800"/>
          </a:xfrm>
          <a:prstGeom prst="rect">
            <a:avLst/>
          </a:prstGeom>
          <a:noFill/>
        </p:spPr>
        <p:txBody>
          <a:bodyPr wrap="square" lIns="0" rIns="0" tIns="0" bIns="0" anchor="t">
            <a:spAutoFit/>
          </a:bodyPr>
          <a:lstStyle/>
          <a:p>
            <a:pPr algn="l">
              <a:lnSpc>
                <a:spcPct val="105000"/>
              </a:lnSpc>
            </a:pPr>
            <a:r>
              <a:rPr sz="1150" b="0" i="0">
                <a:solidFill>
                  <a:srgbClr val="FFFFFF"/>
                </a:solidFill>
                <a:latin typeface="Cambria"/>
              </a:rPr>
              <a:t>Verified live track record at meaningful size; audited statements shared</a:t>
            </a:r>
          </a:p>
        </p:txBody>
      </p:sp>
      <p:sp>
        <p:nvSpPr>
          <p:cNvPr id="28" name="Rounded Rectangle 27"/>
          <p:cNvSpPr/>
          <p:nvPr/>
        </p:nvSpPr>
        <p:spPr>
          <a:xfrm>
            <a:off x="8138159" y="4023360"/>
            <a:ext cx="3611880" cy="1234440"/>
          </a:xfrm>
          <a:prstGeom prst="roundRect">
            <a:avLst>
              <a:gd name="adj" fmla="val 8000"/>
            </a:avLst>
          </a:prstGeom>
          <a:solidFill>
            <a:srgbClr val="2A4A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366759" y="4187952"/>
            <a:ext cx="3154680" cy="274320"/>
          </a:xfrm>
          <a:prstGeom prst="rect">
            <a:avLst/>
          </a:prstGeom>
          <a:noFill/>
        </p:spPr>
        <p:txBody>
          <a:bodyPr wrap="square" lIns="0" rIns="0" tIns="0" bIns="0" anchor="t">
            <a:spAutoFit/>
          </a:bodyPr>
          <a:lstStyle/>
          <a:p>
            <a:pPr algn="l"/>
            <a:r>
              <a:rPr sz="1200" b="1" i="0" spc="150">
                <a:solidFill>
                  <a:srgbClr val="E4D9BE"/>
                </a:solidFill>
                <a:latin typeface="Cambria"/>
              </a:rPr>
              <a:t>THEN</a:t>
            </a:r>
          </a:p>
        </p:txBody>
      </p:sp>
      <p:sp>
        <p:nvSpPr>
          <p:cNvPr id="30" name="TextBox 29"/>
          <p:cNvSpPr txBox="1"/>
          <p:nvPr/>
        </p:nvSpPr>
        <p:spPr>
          <a:xfrm>
            <a:off x="8366759" y="4526280"/>
            <a:ext cx="3154680" cy="685800"/>
          </a:xfrm>
          <a:prstGeom prst="rect">
            <a:avLst/>
          </a:prstGeom>
          <a:noFill/>
        </p:spPr>
        <p:txBody>
          <a:bodyPr wrap="square" lIns="0" rIns="0" tIns="0" bIns="0" anchor="t">
            <a:spAutoFit/>
          </a:bodyPr>
          <a:lstStyle/>
          <a:p>
            <a:pPr algn="l">
              <a:lnSpc>
                <a:spcPct val="105000"/>
              </a:lnSpc>
            </a:pPr>
            <a:r>
              <a:rPr sz="1150" b="0" i="0">
                <a:solidFill>
                  <a:srgbClr val="FFFFFF"/>
                </a:solidFill>
                <a:latin typeface="Cambria"/>
              </a:rPr>
              <a:t>Evaluate a formal vehicle — fund or managed-account platform</a:t>
            </a:r>
          </a:p>
        </p:txBody>
      </p:sp>
      <p:sp>
        <p:nvSpPr>
          <p:cNvPr id="31" name="TextBox 30"/>
          <p:cNvSpPr txBox="1"/>
          <p:nvPr/>
        </p:nvSpPr>
        <p:spPr>
          <a:xfrm>
            <a:off x="640080" y="5532120"/>
            <a:ext cx="10881360" cy="685800"/>
          </a:xfrm>
          <a:prstGeom prst="rect">
            <a:avLst/>
          </a:prstGeom>
          <a:noFill/>
        </p:spPr>
        <p:txBody>
          <a:bodyPr wrap="square" lIns="0" rIns="0" tIns="0" bIns="0" anchor="t">
            <a:spAutoFit/>
          </a:bodyPr>
          <a:lstStyle/>
          <a:p>
            <a:pPr algn="l">
              <a:lnSpc>
                <a:spcPct val="115000"/>
              </a:lnSpc>
            </a:pPr>
            <a:r>
              <a:rPr sz="900" b="0" i="0">
                <a:solidFill>
                  <a:srgbClr val="AFA37D"/>
                </a:solidFill>
                <a:latin typeface="Cambria"/>
              </a:rPr>
              <a:t>This document is a private draft for discussion with a limited number of acquaintances. It is not an offer to sell or a solicitation to buy any security, is not investment advice, and has not been reviewed by any regulator. Some results are hypothetical (simulated) and are labeled as such; hypothetical results have inherent limitations and do not represent live trading. Structure, terms and availability are subject to Israeli securities-law review. Capital is at risk, up to total loss.</a:t>
            </a:r>
          </a:p>
        </p:txBody>
      </p:sp>
      <p:sp>
        <p:nvSpPr>
          <p:cNvPr id="32" name="TextBox 31"/>
          <p:cNvSpPr txBox="1"/>
          <p:nvPr/>
        </p:nvSpPr>
        <p:spPr>
          <a:xfrm>
            <a:off x="640080" y="6355080"/>
            <a:ext cx="7315200" cy="274320"/>
          </a:xfrm>
          <a:prstGeom prst="rect">
            <a:avLst/>
          </a:prstGeom>
          <a:noFill/>
        </p:spPr>
        <p:txBody>
          <a:bodyPr wrap="square" lIns="0" rIns="0" tIns="0" bIns="0" anchor="t">
            <a:spAutoFit/>
          </a:bodyPr>
          <a:lstStyle/>
          <a:p>
            <a:pPr algn="l"/>
            <a:r>
              <a:rPr sz="1200" b="1" i="0">
                <a:solidFill>
                  <a:srgbClr val="E4D9BE"/>
                </a:solidFill>
                <a:latin typeface="Cambria"/>
              </a:rPr>
              <a:t>sloboloren@gmail.com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