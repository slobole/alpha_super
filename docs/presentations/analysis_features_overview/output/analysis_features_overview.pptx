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82fbd7a868475c" /><Relationship Type="http://schemas.openxmlformats.org/officeDocument/2006/relationships/extended-properties" Target="/docProps/app.xml" Id="R966d189196c945e1" /><Relationship Type="http://schemas.openxmlformats.org/officeDocument/2006/relationships/officeDocument" Target="/ppt/presentation.xml" Id="Ra0b7f409735244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49d494ae304fa6"/>
  </p:sldMasterIdLst>
  <p:notesMasterIdLst>
    <p:notesMasterId xmlns:r="http://schemas.openxmlformats.org/officeDocument/2006/relationships" r:id="Rfe6c224fe33349ff"/>
  </p:notesMasterIdLst>
  <p:sldIdLst>
    <p:sldId xmlns:r="http://schemas.openxmlformats.org/officeDocument/2006/relationships" id="256" r:id="R4933069e2ec243b4"/>
    <p:sldId xmlns:r="http://schemas.openxmlformats.org/officeDocument/2006/relationships" id="257" r:id="R1714c8f403ac42c2"/>
    <p:sldId xmlns:r="http://schemas.openxmlformats.org/officeDocument/2006/relationships" id="258" r:id="Rfb424d90873c4d96"/>
    <p:sldId xmlns:r="http://schemas.openxmlformats.org/officeDocument/2006/relationships" id="259" r:id="R8d46c521698241b1"/>
    <p:sldId xmlns:r="http://schemas.openxmlformats.org/officeDocument/2006/relationships" id="260" r:id="R4e291ab0adc4450d"/>
    <p:sldId xmlns:r="http://schemas.openxmlformats.org/officeDocument/2006/relationships" id="261" r:id="Rdff522c157b64fe9"/>
    <p:sldId xmlns:r="http://schemas.openxmlformats.org/officeDocument/2006/relationships" id="262" r:id="R2d5576faac7142e5"/>
    <p:sldId xmlns:r="http://schemas.openxmlformats.org/officeDocument/2006/relationships" id="263" r:id="Raf457053a90747e9"/>
    <p:sldId xmlns:r="http://schemas.openxmlformats.org/officeDocument/2006/relationships" id="264" r:id="R7d064c7ae829461d"/>
    <p:sldId xmlns:r="http://schemas.openxmlformats.org/officeDocument/2006/relationships" id="265" r:id="Ra6eb3ccf53b2478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9d494ae304fa6" /><Relationship Type="http://schemas.openxmlformats.org/officeDocument/2006/relationships/theme" Target="/ppt/theme/theme1.xml" Id="R6ad0742df5604b85" /><Relationship Type="http://schemas.openxmlformats.org/officeDocument/2006/relationships/notesMaster" Target="/ppt/notesMasters/notesMaster1.xml" Id="Rfe6c224fe33349ff" /><Relationship Type="http://schemas.openxmlformats.org/officeDocument/2006/relationships/presProps" Target="/ppt/presProps.xml" Id="R657c2700f4f8423f" /><Relationship Type="http://schemas.openxmlformats.org/officeDocument/2006/relationships/viewProps" Target="/ppt/viewProps.xml" Id="R1766129091474bc1" /><Relationship Type="http://schemas.openxmlformats.org/officeDocument/2006/relationships/tableStyles" Target="/ppt/tableStyles.xml" Id="R0ed2d7b3743d4d8d" /><Relationship Type="http://schemas.openxmlformats.org/officeDocument/2006/relationships/slide" Target="/ppt/slides/slide1.xml" Id="R4933069e2ec243b4" /><Relationship Type="http://schemas.openxmlformats.org/officeDocument/2006/relationships/slide" Target="/ppt/slides/slide2.xml" Id="R1714c8f403ac42c2" /><Relationship Type="http://schemas.openxmlformats.org/officeDocument/2006/relationships/slide" Target="/ppt/slides/slide3.xml" Id="Rfb424d90873c4d96" /><Relationship Type="http://schemas.openxmlformats.org/officeDocument/2006/relationships/slide" Target="/ppt/slides/slide4.xml" Id="R8d46c521698241b1" /><Relationship Type="http://schemas.openxmlformats.org/officeDocument/2006/relationships/slide" Target="/ppt/slides/slide5.xml" Id="R4e291ab0adc4450d" /><Relationship Type="http://schemas.openxmlformats.org/officeDocument/2006/relationships/slide" Target="/ppt/slides/slide6.xml" Id="Rdff522c157b64fe9" /><Relationship Type="http://schemas.openxmlformats.org/officeDocument/2006/relationships/slide" Target="/ppt/slides/slide7.xml" Id="R2d5576faac7142e5" /><Relationship Type="http://schemas.openxmlformats.org/officeDocument/2006/relationships/slide" Target="/ppt/slides/slide8.xml" Id="Raf457053a90747e9" /><Relationship Type="http://schemas.openxmlformats.org/officeDocument/2006/relationships/slide" Target="/ppt/slides/slide9.xml" Id="R7d064c7ae829461d" /><Relationship Type="http://schemas.openxmlformats.org/officeDocument/2006/relationships/slide" Target="/ppt/slides/slide10.xml" Id="Ra6eb3ccf53b247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67f39644ba4e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fed2db71a04e47" /><Relationship Type="http://schemas.openxmlformats.org/officeDocument/2006/relationships/notesMaster" Target="/ppt/notesMasters/notesMaster1.xml" Id="R79ae2f3545a946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08d94c303d4739" /><Relationship Type="http://schemas.openxmlformats.org/officeDocument/2006/relationships/notesMaster" Target="/ppt/notesMasters/notesMaster1.xml" Id="R00b7116fa3214a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64973623a841ea" /><Relationship Type="http://schemas.openxmlformats.org/officeDocument/2006/relationships/notesMaster" Target="/ppt/notesMasters/notesMaster1.xml" Id="Rccbdbf8d49e34c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d8da71bb514d22" /><Relationship Type="http://schemas.openxmlformats.org/officeDocument/2006/relationships/notesMaster" Target="/ppt/notesMasters/notesMaster1.xml" Id="Rd5eaf72deb6842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5833be114f44b3" /><Relationship Type="http://schemas.openxmlformats.org/officeDocument/2006/relationships/notesMaster" Target="/ppt/notesMasters/notesMaster1.xml" Id="Rddb9f8d98f62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781901622f4510" /><Relationship Type="http://schemas.openxmlformats.org/officeDocument/2006/relationships/notesMaster" Target="/ppt/notesMasters/notesMaster1.xml" Id="R57da6f3ddc51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f98d80766e4fb6" /><Relationship Type="http://schemas.openxmlformats.org/officeDocument/2006/relationships/notesMaster" Target="/ppt/notesMasters/notesMaster1.xml" Id="R8811d80015d840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b19cc9387440f2" /><Relationship Type="http://schemas.openxmlformats.org/officeDocument/2006/relationships/notesMaster" Target="/ppt/notesMasters/notesMaster1.xml" Id="Rd3b5d76d601f43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7b7d04daa94e92" /><Relationship Type="http://schemas.openxmlformats.org/officeDocument/2006/relationships/notesMaster" Target="/ppt/notesMasters/notesMaster1.xml" Id="R33328e53a92e45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c304d705694468" /><Relationship Type="http://schemas.openxmlformats.org/officeDocument/2006/relationships/notesMaster" Target="/ppt/notesMasters/notesMaster1.xml" Id="Reefb933bb4594c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961c7dc7b46d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e37064bec9c4065" /><Relationship Type="http://schemas.openxmlformats.org/officeDocument/2006/relationships/slideLayout" Target="/ppt/slideLayouts/slideLayout2.xml" Id="Rd9f0d0f6c93f4b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f0d0f6c93f4b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356c04a2e5469d" /><Relationship Type="http://schemas.openxmlformats.org/officeDocument/2006/relationships/notesSlide" Target="/ppt/notesSlides/notesSlide1.xml" Id="Ra45a89c913d44f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a27172532e4f8e" /><Relationship Type="http://schemas.openxmlformats.org/officeDocument/2006/relationships/notesSlide" Target="/ppt/notesSlides/notesSlide2.xml" Id="R0f4d0780441d47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c733775d3f4f71" /><Relationship Type="http://schemas.openxmlformats.org/officeDocument/2006/relationships/notesSlide" Target="/ppt/notesSlides/notesSlide3.xml" Id="R940f31c49c744a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08ce75571148b6" /><Relationship Type="http://schemas.openxmlformats.org/officeDocument/2006/relationships/notesSlide" Target="/ppt/notesSlides/notesSlide4.xml" Id="R2fe5b6aa38654e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70428c1a4d4f28" /><Relationship Type="http://schemas.openxmlformats.org/officeDocument/2006/relationships/notesSlide" Target="/ppt/notesSlides/notesSlide5.xml" Id="Rbfdff3507b9843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97f8ece0e441c4" /><Relationship Type="http://schemas.openxmlformats.org/officeDocument/2006/relationships/notesSlide" Target="/ppt/notesSlides/notesSlide6.xml" Id="R0540796092e643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04365085084b25" /><Relationship Type="http://schemas.openxmlformats.org/officeDocument/2006/relationships/notesSlide" Target="/ppt/notesSlides/notesSlide7.xml" Id="R5462b7e68d6443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6739ff398345f8" /><Relationship Type="http://schemas.openxmlformats.org/officeDocument/2006/relationships/notesSlide" Target="/ppt/notesSlides/notesSlide8.xml" Id="R502fcabc1aa04a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c1459a34614fe4" /><Relationship Type="http://schemas.openxmlformats.org/officeDocument/2006/relationships/notesSlide" Target="/ppt/notesSlides/notesSlide9.xml" Id="R100b8faa7cbc49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57e26843354b27" /><Relationship Type="http://schemas.openxmlformats.org/officeDocument/2006/relationships/notesSlide" Target="/ppt/notesSlides/notesSlide10.xml" Id="R8c8ff521e52841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AB5B2D-F76F-47B9-8A95-BAC06D16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C2C55-ED18-4AD5-BB0A-E053B7B9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82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836FE-E33E-4FC0-B759-E4C0A185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1181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CE8E4"/>
                </a:solidFill>
              </a:defRPr>
            </a:pPr>
            <a:r>
              <a:rPr sz="1800" b="1">
                <a:solidFill>
                  <a:srgbClr val="DCE8E4"/>
                </a:solidFill>
              </a:rPr>
              <a:t>alpha_super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EA30C-9FCB-4DA0-BE35-24BBEB4E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781050"/>
            <a:ext cx="1447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5C1"/>
                </a:solidFill>
              </a:defRPr>
            </a:pPr>
            <a:r>
              <a:rPr sz="1350" b="0">
                <a:solidFill>
                  <a:srgbClr val="B7C5C1"/>
                </a:solidFill>
              </a:rPr>
              <a:t>Analysis feature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7CC67-DFBF-402C-84E6-EA5250F9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3905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9F3EF"/>
                </a:solidFill>
              </a:defRPr>
            </a:pPr>
            <a:r>
              <a:rPr sz="2100" b="1">
                <a:solidFill>
                  <a:srgbClr val="E9F3EF"/>
                </a:solidFill>
              </a:rPr>
              <a:t>Currently wired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1201D-AC4A-470C-967B-C274D405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289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D6D7D-E83C-43A1-9760-0BC5CF6D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Vanilla Backtest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5B22C-5DF5-40BB-91EE-A3CE5F1B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154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68AD3-81D1-4228-A850-B03FD21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Portfolio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86598-213E-40AB-97D2-CB2F7F79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019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747FF-23EF-4BF7-B61C-D823AD17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Timing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60DFB-F2A2-4A8F-840A-F9546759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884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4231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A8582-0389-40BF-B080-9C7812E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5790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2BD81-5737-49DB-9997-9B1C5110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8749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D28D9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40F64-A63A-49BE-B798-D782CE7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86550"/>
            <a:ext cx="2324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Friction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4AF13-CBE9-47F1-9880-3745ABCE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81400"/>
            <a:ext cx="79438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What analysis features exist today?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1FA79-A495-48B9-A23A-741684CB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467350"/>
            <a:ext cx="9124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5DFE7"/>
                </a:solidFill>
              </a:defRPr>
            </a:pPr>
            <a:r>
              <a:rPr sz="2025" b="0">
                <a:solidFill>
                  <a:srgbClr val="D5DFE7"/>
                </a:solidFill>
              </a:rPr>
              <a:t>A clean operator guide: what each feature answers, how to run it, what example output looks like, and where the realism boundary sits.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7BF8B-73D7-4849-9233-E6069D9F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34365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856B6-A95B-4F18-92E1-CBBA22A1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62940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8C3"/>
                </a:solidFill>
              </a:defRPr>
            </a:pPr>
            <a:r>
              <a:rPr sz="1350" b="0">
                <a:solidFill>
                  <a:srgbClr val="AAB8C3"/>
                </a:solidFill>
              </a:rPr>
              <a:t>Prepared from current repo source and saved artifacts.</a:t>
            </a:r>
          </a:p>
        </p:txBody>
      </p:sp>
    </p:spTree>
    <p:extLst>
      <p:ext uri="{BB962C8B-B14F-4D97-AF65-F5344CB8AC3E}">
        <p14:creationId xmlns:p14="http://schemas.microsoft.com/office/powerpoint/2010/main" val="15603891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3C6F8C2-434B-426B-ADFD-2B7F9A4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7948E8D-3C73-4F77-8AFB-22E4DE97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TL;DR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8ED2B9-EE64-4288-BEF0-A86F40E9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830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81D"/>
                </a:solidFill>
              </a:defRPr>
            </a:pPr>
            <a:r>
              <a:rPr sz="3600" b="1">
                <a:solidFill>
                  <a:srgbClr val="15181D"/>
                </a:solidFill>
              </a:rPr>
              <a:t>The stack has five practical analysis surfaces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174DD4E-B7E8-45A5-87E3-BEC62DD2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6743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6B74"/>
                </a:solidFill>
              </a:defRPr>
            </a:pPr>
            <a:r>
              <a:rPr sz="1725" b="0">
                <a:solidFill>
                  <a:srgbClr val="636B74"/>
                </a:solidFill>
              </a:rPr>
              <a:t>Use them as lenses, not as proof. Each one exposes a different failure mode.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57BEA-E4C6-44A3-8F59-5CCA7FDF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1690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4B087-4D6F-4391-B066-A3E1CCD1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27203-A41F-4295-BAC3-1EDBDE20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81D"/>
                </a:solidFill>
              </a:defRPr>
            </a:pPr>
            <a:r>
              <a:rPr sz="1875" b="1">
                <a:solidFill>
                  <a:srgbClr val="15181D"/>
                </a:solidFill>
              </a:rPr>
              <a:t>Vanilla Backtest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E2F69-A364-419E-9EC9-CA80B4FB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6B74"/>
                </a:solidFill>
              </a:defRPr>
            </a:pPr>
            <a:r>
              <a:rPr sz="1350" b="0">
                <a:solidFill>
                  <a:srgbClr val="636B74"/>
                </a:solidFill>
              </a:rPr>
              <a:t>Baseline engine contract and standard report.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94B45-C735-4BCB-A9EF-0BE31A7E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487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51B"/>
                </a:solidFill>
              </a:defRPr>
            </a:pPr>
            <a:r>
              <a:rPr sz="1050" b="0">
                <a:solidFill>
                  <a:srgbClr val="11151B"/>
                </a:solidFill>
              </a:rPr>
              <a:t>strategies/run_strategy.py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52E61-566B-4FB6-9943-7492151F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487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Question: does it work under next-open fills?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2EB73-E862-40E4-ACC9-241A90F6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1690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22865-04A7-4F41-9B64-7F0FEDF4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B15E0-157F-4539-B1E1-27DDE51E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860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81D"/>
                </a:solidFill>
              </a:defRPr>
            </a:pPr>
            <a:r>
              <a:rPr sz="1875" b="1">
                <a:solidFill>
                  <a:srgbClr val="15181D"/>
                </a:solidFill>
              </a:rPr>
              <a:t>Portfolio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F6102-7489-457D-AB5E-D21FDC27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6B74"/>
                </a:solidFill>
              </a:defRPr>
            </a:pPr>
            <a:r>
              <a:rPr sz="1350" b="0">
                <a:solidFill>
                  <a:srgbClr val="636B74"/>
                </a:solidFill>
              </a:rPr>
              <a:t>Combines completed pods as independent sleeves.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7FC73-E430-4A9D-BF61-FAD85079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487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51B"/>
                </a:solidFill>
              </a:defRPr>
            </a:pPr>
            <a:r>
              <a:rPr sz="1050" b="0">
                <a:solidFill>
                  <a:srgbClr val="11151B"/>
                </a:solidFill>
              </a:rPr>
              <a:t>strategies/run_portfolio.py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4C02B-B920-4081-8598-B77C51A3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487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Question: do pods diversify or concentrate risk?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7CBFB-4BA8-49D1-87DA-DBBE5AE9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91690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384F2-E44A-4F2C-97B8-8AA62158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381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CB1BB-EE4B-4BCE-98FA-35BE3D6E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2860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81D"/>
                </a:solidFill>
              </a:defRPr>
            </a:pPr>
            <a:r>
              <a:rPr sz="1875" b="1">
                <a:solidFill>
                  <a:srgbClr val="15181D"/>
                </a:solidFill>
              </a:rPr>
              <a:t>Execution Timing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4A201-EC3E-4FD2-B4AA-4BC3D180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6860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6B74"/>
                </a:solidFill>
              </a:defRPr>
            </a:pPr>
            <a:r>
              <a:rPr sz="1350" b="0">
                <a:solidFill>
                  <a:srgbClr val="636B74"/>
                </a:solidFill>
              </a:rPr>
              <a:t>Replays intent under alternate fill timing.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3E07F-0B13-46B3-8122-2EBC5BAB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09900"/>
            <a:ext cx="487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51B"/>
                </a:solidFill>
              </a:defRPr>
            </a:pPr>
            <a:r>
              <a:rPr sz="1050" b="0">
                <a:solidFill>
                  <a:srgbClr val="11151B"/>
                </a:solidFill>
              </a:rPr>
              <a:t>execution_timing_analyzer.py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163EA-2EA3-46EA-9912-A29E9120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276600"/>
            <a:ext cx="487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</a:defRPr>
            </a:pPr>
            <a:r>
              <a:rPr sz="1125" b="1">
                <a:solidFill>
                  <a:srgbClr val="B7791F"/>
                </a:solidFill>
              </a:rPr>
              <a:t>Question: is the edge timing fragile?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F2B81-AA7D-4EF8-88CF-FB4D46E8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9615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9F6211-D24C-4032-9F9A-7EC5CF40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D9CA4E-4DC7-4AA7-AF70-F72C074F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81D"/>
                </a:solidFill>
              </a:defRPr>
            </a:pPr>
            <a:r>
              <a:rPr sz="1875" b="1">
                <a:solidFill>
                  <a:srgbClr val="15181D"/>
                </a:solidFill>
              </a:rPr>
              <a:t>Stress Replay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F57EB-78E3-4E4B-BD7B-4FEB2E31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6B74"/>
                </a:solidFill>
              </a:defRPr>
            </a:pPr>
            <a:r>
              <a:rPr sz="1350" b="0">
                <a:solidFill>
                  <a:srgbClr val="636B74"/>
                </a:solidFill>
              </a:rPr>
              <a:t>Fresh-capital replay through named crises.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203B6-700E-43F3-94E1-BFF4FBED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487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51B"/>
                </a:solidFill>
              </a:defRPr>
            </a:pPr>
            <a:r>
              <a:rPr sz="1050" b="0">
                <a:solidFill>
                  <a:srgbClr val="11151B"/>
                </a:solidFill>
              </a:rPr>
              <a:t>strategies/run_crisis_replay.py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87220-8D31-46C0-9175-5C832679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487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Question: what breaks in known shocks?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98668B-BE28-49F5-B4FB-C91DF5A9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9615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4DDB23-5A8B-476B-921A-0B21887F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38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11734D-6424-4D80-B51C-94021817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4345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81D"/>
                </a:solidFill>
              </a:defRPr>
            </a:pPr>
            <a:r>
              <a:rPr sz="1875" b="1">
                <a:solidFill>
                  <a:srgbClr val="15181D"/>
                </a:solidFill>
              </a:rPr>
              <a:t>FrictionAnalysis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DFB886-5E31-4CCB-9F8C-FD5F5498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6B74"/>
                </a:solidFill>
              </a:defRPr>
            </a:pPr>
            <a:r>
              <a:rPr sz="1350" b="0">
                <a:solidFill>
                  <a:srgbClr val="636B74"/>
                </a:solidFill>
              </a:rPr>
              <a:t>Auction capacity and cost proxy overlay.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2FE0C5-B0BA-474F-81E3-99E7BEFA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48300"/>
            <a:ext cx="487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51B"/>
                </a:solidFill>
              </a:defRPr>
            </a:pPr>
            <a:r>
              <a:rPr sz="1050" b="0">
                <a:solidFill>
                  <a:srgbClr val="11151B"/>
                </a:solidFill>
              </a:rPr>
              <a:t>strategies/run_friction_analysis.py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F75BDE-1F3B-44F4-8106-741C7D4F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15000"/>
            <a:ext cx="487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Question: are orders believable at scale?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016783-0098-4E83-B497-893CE59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539615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7DA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58278A-112B-484F-853F-45150F1C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743450"/>
            <a:ext cx="487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81D"/>
                </a:solidFill>
              </a:defRPr>
            </a:pPr>
            <a:r>
              <a:rPr sz="1875" b="1">
                <a:solidFill>
                  <a:srgbClr val="15181D"/>
                </a:solidFill>
              </a:rPr>
              <a:t>Shared artifact tree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B20E8-F846-4B83-A054-9C7B6A22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143500"/>
            <a:ext cx="487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B"/>
                </a:solidFill>
              </a:defRPr>
            </a:pPr>
            <a:r>
              <a:rPr sz="1200" b="0">
                <a:solidFill>
                  <a:srgbClr val="11151B"/>
                </a:solidFill>
              </a:rPr>
              <a:t>results/research/{entity}/{id}/{analysis}/{timestamp}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65A7EE-686D-4043-A853-2FA16156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44830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6B74"/>
                </a:solidFill>
              </a:defRPr>
            </a:pPr>
            <a:r>
              <a:rPr sz="1350" b="0">
                <a:solidFill>
                  <a:srgbClr val="636B74"/>
                </a:solidFill>
              </a:rPr>
              <a:t>Every saved run should be easy to inspect and compare.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61E86B-5FC7-47A2-B4A9-1012ED3A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807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ONE SENTENCE RULE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E4F0E1-03DD-4212-A2E5-F5235398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77100"/>
            <a:ext cx="8077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Run Vanilla first. Add timing, stress, portfolio, or friction only when that specific question matters.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9DC9E0-C094-45DC-816C-811C2A3A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048500"/>
            <a:ext cx="807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IMPORTANT CAVEAT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448148-C392-49BA-814D-DDB35F26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277100"/>
            <a:ext cx="807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None of these tools turns a backtest into live readiness by itself.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3950C9-A9C8-478D-ABCF-82B36B11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34350"/>
            <a:ext cx="1129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44" name="source">
            <a:extLst xmlns:a="http://schemas.openxmlformats.org/drawingml/2006/main">
              <a:ext uri="{FF2B5EF4-FFF2-40B4-BE49-F238E27FC236}">
                <a16:creationId xmlns:a16="http://schemas.microsoft.com/office/drawing/2014/main" id="{AE1163A9-0C31-4CE2-A3FD-C15C62FC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58150"/>
            <a:ext cx="4991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636B74"/>
                </a:solidFill>
              </a:defRPr>
            </a:pPr>
            <a:r>
              <a:rPr sz="900" b="0" i="1">
                <a:solidFill>
                  <a:srgbClr val="636B74"/>
                </a:solidFill>
              </a:rPr>
              <a:t>Core code paths: alpha/engine/backtester.py, portfolio.py, execution_timing.py, crisis.py, friction_analysis.py</a:t>
            </a:r>
          </a:p>
        </p:txBody>
      </p:sp>
    </p:spTree>
    <p:extLst>
      <p:ext uri="{BB962C8B-B14F-4D97-AF65-F5344CB8AC3E}">
        <p14:creationId xmlns:p14="http://schemas.microsoft.com/office/powerpoint/2010/main" val="2685274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3E5F6A2-A500-4792-94E5-166EB204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AAE7575-DCE7-47D1-B47A-59AE233F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7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VANILLA BACKTEST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C5C78E-781B-4252-9749-87D8CA8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85850"/>
            <a:ext cx="8020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81D"/>
                </a:solidFill>
              </a:defRPr>
            </a:pPr>
            <a:r>
              <a:rPr sz="3600" b="1">
                <a:solidFill>
                  <a:srgbClr val="15181D"/>
                </a:solidFill>
              </a:rPr>
              <a:t>Baseline: prior information, next-open fills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C3B59C7-5A68-4EEE-A491-6A454DD5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8324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6B74"/>
                </a:solidFill>
              </a:defRPr>
            </a:pPr>
            <a:r>
              <a:rPr sz="1725" b="0">
                <a:solidFill>
                  <a:srgbClr val="636B74"/>
                </a:solidFill>
              </a:rPr>
              <a:t>This is the default truth path for daily strategies. It is the first run before any extra diagnostics.</a:t>
            </a:r>
          </a:p>
        </p:txBody>
      </p:sp>
      <p:sp>
        <p:nvSpPr>
          <p:cNvPr id="5" name="command">
            <a:extLst xmlns:a="http://schemas.openxmlformats.org/drawingml/2006/main">
              <a:ext uri="{FF2B5EF4-FFF2-40B4-BE49-F238E27FC236}">
                <a16:creationId xmlns:a16="http://schemas.microsoft.com/office/drawing/2014/main" id="{4EA21C3F-901B-4803-905D-9B9DD21C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8890"/>
            <a:ext cx="7953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51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36D26-4CA7-4D90-9CCC-3D7E4A4D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746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uv run python strategies/run_strategy.py strategy_mr_dv2.py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1BDF7-EF0A-4310-831F-67D51A82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746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6DEE8"/>
                </a:solidFill>
              </a:defRPr>
            </a:pPr>
            <a:r>
              <a:rPr sz="1200" b="0">
                <a:solidFill>
                  <a:srgbClr val="D6DEE8"/>
                </a:solidFill>
              </a:rPr>
              <a:t>Works for modules exposing run_variant(...).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F4D6D-6BE6-4E8A-A921-DD08AA64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TIMING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736D2-9333-4E3A-8900-ED658402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796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decision_t = f(I_{t-1}); order is created inside iterate(); fill happens at current_bar Open.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ACC3D-7FCE-4F51-9A68-E958B15B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746497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7DEB3-464E-4E2C-A0CA-455A6041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0BA84-0733-46E4-A848-C238E95E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947" y="4352925"/>
            <a:ext cx="518782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F7133-8BCF-4BEE-8B51-CDC876F0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9E7E1-E616-4F79-85AA-F115145D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2746497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981C8-5AE0-4F0D-9310-9070CE17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report.html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81C78-595F-408B-8452-7534DC0C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947" y="4791075"/>
            <a:ext cx="5187828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FCF94-B1DB-41F4-8312-4C403055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human-readable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7709C-052A-4908-8A71-AB8DA609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2746497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72A75-BB20-4F71-9742-EFA0D731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transactions.csv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19242-D381-40A5-8DA2-EEC8BABB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947" y="5286375"/>
            <a:ext cx="5187828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261A2-9843-45C9-9AD4-AB2F3D06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executed order ledger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B3681-FD55-4832-B0A9-6E52C3C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81675"/>
            <a:ext cx="2746497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2A0F3-3DCB-4ACF-B5CC-1C6AEAA5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run_info.json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D50FD-99BC-4418-88EC-862A8EA8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947" y="5781675"/>
            <a:ext cx="5187828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C36A8-2AE5-4A97-B5A0-EAB04F3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864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identity and parameters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5769D-2EF5-4FC2-85C7-CEB0C063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76975"/>
            <a:ext cx="2746497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907BC-7A32-4EB1-98E1-D66F9E95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summary.json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FA5811-C9E1-43AE-ACB1-740B349C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947" y="6276975"/>
            <a:ext cx="5187828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C395CB-A79E-4233-B0CC-A20DD67A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3817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small top-line metrics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BC800D-6685-4D5A-9AF4-DDE887FB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796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81D"/>
                </a:solidFill>
              </a:defRPr>
            </a:pPr>
            <a:r>
              <a:rPr sz="2025" b="1">
                <a:solidFill>
                  <a:srgbClr val="15181D"/>
                </a:solidFill>
              </a:rPr>
              <a:t>Example saved summary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C0FF34-E68D-4B6B-A809-AF4B54DE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6705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18.07%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826C07-A234-4B5E-9981-228B68F3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0045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Annual return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2838DE-0E5C-4B15-9D55-848B8E33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2905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strategy_mo_atr_normalized_ndx_vxn_scaled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33B34C-F551-455E-A50C-C92111DE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06705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1.29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CE38B-AF8C-4351-B491-8466F94A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60045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Sharpe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6FCC48-D9F7-49BA-A1EA-06F7B899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2905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repo helper convention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0C3F01-028A-42A7-A954-E01D0F40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6720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2318"/>
                </a:solidFill>
              </a:defRPr>
            </a:pPr>
            <a:r>
              <a:rPr sz="3150" b="1">
                <a:solidFill>
                  <a:srgbClr val="B42318"/>
                </a:solidFill>
              </a:rPr>
              <a:t>-22.58%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0B5DDC-A087-4602-B317-62DACDD6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0060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Max drawdown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2ED7AB-8860-4DAB-B9FD-2C54BA33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full sample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5D177D-D6E5-4BF1-9223-0AF2855C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26720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D28D9"/>
                </a:solidFill>
              </a:defRPr>
            </a:pPr>
            <a:r>
              <a:rPr sz="3150" b="1">
                <a:solidFill>
                  <a:srgbClr val="6D28D9"/>
                </a:solidFill>
              </a:rPr>
              <a:t>840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3CE387-431C-4CD8-B1AE-F12944BB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80060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Trades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6DDAA2-E652-4422-AB49-99A9EBF2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0292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closed trade count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7C0550-FE8B-4D24-9481-189C3416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1020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</a:defRPr>
            </a:pPr>
            <a:r>
              <a:rPr sz="1125" b="1">
                <a:solidFill>
                  <a:srgbClr val="B7791F"/>
                </a:solidFill>
              </a:rPr>
              <a:t>READ THIS 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CB51EE-1574-4B9F-B23E-E943DF32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38800"/>
            <a:ext cx="7962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A baseline research result under the repo's current engine assumptions, not a live execution claim.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4F07C5-17E5-4C85-8EDF-D2931FBC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86800"/>
            <a:ext cx="1232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46" name="source">
            <a:extLst xmlns:a="http://schemas.openxmlformats.org/drawingml/2006/main">
              <a:ext uri="{FF2B5EF4-FFF2-40B4-BE49-F238E27FC236}">
                <a16:creationId xmlns:a16="http://schemas.microsoft.com/office/drawing/2014/main" id="{ACF7BC6F-2261-4219-8C94-75E8B379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8553450"/>
            <a:ext cx="396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636B74"/>
                </a:solidFill>
              </a:defRPr>
            </a:pPr>
            <a:r>
              <a:rPr sz="900" b="0" i="1">
                <a:solidFill>
                  <a:srgbClr val="636B74"/>
                </a:solidFill>
              </a:rPr>
              <a:t>Code: alpha/engine/backtester.py, alpha/engine/report.py, strategies/run_strategy.py</a:t>
            </a:r>
          </a:p>
        </p:txBody>
      </p:sp>
    </p:spTree>
    <p:extLst>
      <p:ext uri="{BB962C8B-B14F-4D97-AF65-F5344CB8AC3E}">
        <p14:creationId xmlns:p14="http://schemas.microsoft.com/office/powerpoint/2010/main" val="612384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9BD0647-7682-43C9-B8B6-A36CE526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012BCB1-342A-4F6D-BBAF-8D67FC65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447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PORTFOLIO ANALYSIS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F2CA1A-2DDA-4F28-8AF3-79544192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85850"/>
            <a:ext cx="59055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81D"/>
                </a:solidFill>
              </a:defRPr>
            </a:pPr>
            <a:r>
              <a:rPr sz="3600" b="1">
                <a:solidFill>
                  <a:srgbClr val="15181D"/>
                </a:solidFill>
              </a:rPr>
              <a:t>Pods compound independently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C15E085-2D16-467F-B0DC-4BB773A4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887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6B74"/>
                </a:solidFill>
              </a:defRPr>
            </a:pPr>
            <a:r>
              <a:rPr sz="1725" b="0">
                <a:solidFill>
                  <a:srgbClr val="636B74"/>
                </a:solidFill>
              </a:rPr>
              <a:t>The portfolio report is a read-only aggregation of completed strategy runs, matching the pod model.</a:t>
            </a:r>
          </a:p>
        </p:txBody>
      </p:sp>
      <p:sp>
        <p:nvSpPr>
          <p:cNvPr id="5" name="command">
            <a:extLst xmlns:a="http://schemas.openxmlformats.org/drawingml/2006/main">
              <a:ext uri="{FF2B5EF4-FFF2-40B4-BE49-F238E27FC236}">
                <a16:creationId xmlns:a16="http://schemas.microsoft.com/office/drawing/2014/main" id="{0CB86443-9725-49E5-B932-EB5A0BAC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4640"/>
            <a:ext cx="7953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51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80F0C-B42B-410F-A7E3-E968D473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746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uv run python strategies/run_portfolio.py portfolios/current_multipod_all.yaml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FCB34-7D81-4C94-B943-BB047A34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746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6DEE8"/>
                </a:solidFill>
              </a:defRPr>
            </a:pPr>
            <a:r>
              <a:rPr sz="1200" b="0">
                <a:solidFill>
                  <a:srgbClr val="D6DEE8"/>
                </a:solidFill>
              </a:rPr>
              <a:t>Loads pod pickles, validates metadata, and writes a portfolio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47B4F-0CD6-47EF-8F10-D7E0D4E7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PORTFOLIO MATH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D8445-E8C2-4577-B814-5F6D09A9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7962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E_portfolio_t = sum_i E_pod_i,t. Do not replace this with daily weighted returns unless daily rebalancing is explicitly the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0434B-B272-49A8-A7B9-C76B0641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0135"/>
            <a:ext cx="26447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A9A1D-276E-4D26-83B1-EACA7B49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Diagnostic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02792-6D9B-49A3-8CF9-980DA0A9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4890135"/>
            <a:ext cx="5289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91A16-5735-49FC-AF45-512CFE25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91100"/>
            <a:ext cx="502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FEC4C-649A-47A6-951C-285881B7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28285"/>
            <a:ext cx="2644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1140C-43D7-4FAE-9B2A-AF726A8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Correlation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6E309-6DC8-4BA7-BBF1-D76DC819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5328285"/>
            <a:ext cx="528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79582-6F7D-4A58-9B5A-C9E41243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diversification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6481D-1D5F-40A5-A887-FD28CE3C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9785"/>
            <a:ext cx="2644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F5BF7-A4A4-48C3-BCB3-98284AAD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0075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Tail contribution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EDC04-CD9D-4907-9C6B-2656B4FF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5899785"/>
            <a:ext cx="528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367EC-0542-4CCE-A92E-9044AA0C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0075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worst-day pod impact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4488D-A1C1-4046-A868-2CC0303D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1285"/>
            <a:ext cx="2644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AD932-09DD-4B09-AED2-14D42D0C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Pod sections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3C313-1BFF-42EA-B4A4-9F85C0CE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6471285"/>
            <a:ext cx="528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0A9FBF-3D3C-4A5B-A9FE-32E0739B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72250"/>
            <a:ext cx="502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standalone behavior inside allocation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1C4AE6-A70A-474F-968B-8D911FEF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796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81D"/>
                </a:solidFill>
              </a:defRPr>
            </a:pPr>
            <a:r>
              <a:rPr sz="2025" b="1">
                <a:solidFill>
                  <a:srgbClr val="15181D"/>
                </a:solidFill>
              </a:rPr>
              <a:t>Example: current_multipod_all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38F1FB-10EA-4EED-AAB4-C70D0FD7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20.99%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A4B65-B5AE-4464-A532-CB44189A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8620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Annual return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DA725C-952B-48B5-9D29-EA50B3B2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portfolio vanilla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19994-9749-4A9A-8259-F355BB1E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35280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1.46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CCFAC-D1CE-4413-8760-C452758C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8620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Sharpe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F32B4E-E2FE-48FF-B601-CA3169BD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1148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combined curve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4E0CB-5303-4109-97E8-039BC3D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5295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2318"/>
                </a:solidFill>
              </a:defRPr>
            </a:pPr>
            <a:r>
              <a:rPr sz="3150" b="1">
                <a:solidFill>
                  <a:srgbClr val="B42318"/>
                </a:solidFill>
              </a:rPr>
              <a:t>-13.51%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FA4F8B-572A-4055-99FA-9439F1A4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8635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Max drawdown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52A7CF-4B6E-459A-B448-4ADE449E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1495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portfolio drawdown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8822E-46EF-40AF-B5C2-E1B3FCF0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55295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D28D9"/>
                </a:solidFill>
              </a:defRPr>
            </a:pPr>
            <a:r>
              <a:rPr sz="3150" b="1">
                <a:solidFill>
                  <a:srgbClr val="6D28D9"/>
                </a:solidFill>
              </a:rPr>
              <a:t>17,685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58246D-D44A-4968-8699-5566BC99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08635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Trades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A47400-9562-40CC-B0B0-B00A660B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31495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pooled pod trades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751052-F0C4-4647-9E42-C381377B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9595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</a:defRPr>
            </a:pPr>
            <a:r>
              <a:rPr sz="1125" b="1">
                <a:solidFill>
                  <a:srgbClr val="B7791F"/>
                </a:solidFill>
              </a:rPr>
              <a:t>OPERATOR READ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6EF2AE-5934-464E-A40B-97B70A50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24550"/>
            <a:ext cx="7962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This tells whether the book improves after combining sleeves, not whether one sleeve is live-ready.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0E633F-DB95-4E4E-9E82-1BE09B17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896350"/>
            <a:ext cx="1238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42" name="source">
            <a:extLst xmlns:a="http://schemas.openxmlformats.org/drawingml/2006/main">
              <a:ext uri="{FF2B5EF4-FFF2-40B4-BE49-F238E27FC236}">
                <a16:creationId xmlns:a16="http://schemas.microsoft.com/office/drawing/2014/main" id="{9E01E188-997B-40E6-A5D0-F28B3BCC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8820150"/>
            <a:ext cx="390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636B74"/>
                </a:solidFill>
              </a:defRPr>
            </a:pPr>
            <a:r>
              <a:rPr sz="900" b="0" i="1">
                <a:solidFill>
                  <a:srgbClr val="636B74"/>
                </a:solidFill>
              </a:rPr>
              <a:t>Code: alpha/engine/portfolio.py, alpha/engine/report.py, strategies/run_portfolio.py</a:t>
            </a:r>
          </a:p>
        </p:txBody>
      </p:sp>
    </p:spTree>
    <p:extLst>
      <p:ext uri="{BB962C8B-B14F-4D97-AF65-F5344CB8AC3E}">
        <p14:creationId xmlns:p14="http://schemas.microsoft.com/office/powerpoint/2010/main" val="13398622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E2CF3B5-DBED-48BB-AA3C-544E9B81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22FCF21-B627-4C01-A7CE-F8E1D539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EXECUTIONTIMINGANALYZER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5EE0AC-24BA-41CE-9966-9C666C81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8629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81D"/>
                </a:solidFill>
              </a:defRPr>
            </a:pPr>
            <a:r>
              <a:rPr sz="3600" b="1">
                <a:solidFill>
                  <a:srgbClr val="15181D"/>
                </a:solidFill>
              </a:rPr>
              <a:t>Timing robustness, not a new engine contract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913DED3-5D65-4711-BBC0-5A50DA9B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6324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6B74"/>
                </a:solidFill>
              </a:defRPr>
            </a:pPr>
            <a:r>
              <a:rPr sz="1725" b="0">
                <a:solidFill>
                  <a:srgbClr val="636B74"/>
                </a:solidFill>
              </a:rPr>
              <a:t>It replays the same order intent under alternate entry and exit fill rules.</a:t>
            </a:r>
          </a:p>
        </p:txBody>
      </p:sp>
      <p:sp>
        <p:nvSpPr>
          <p:cNvPr id="5" name="command">
            <a:extLst xmlns:a="http://schemas.openxmlformats.org/drawingml/2006/main">
              <a:ext uri="{FF2B5EF4-FFF2-40B4-BE49-F238E27FC236}">
                <a16:creationId xmlns:a16="http://schemas.microsoft.com/office/drawing/2014/main" id="{DC6FC5C0-75CB-43D3-9C5C-CBB08A26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0330"/>
            <a:ext cx="7953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51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3E99F-F9D0-4125-A9B0-8147C078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746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uv run python execution_timing_analyzer.py strategies/dv2/strategy_mr_dv2.py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AA745-82BB-4E3F-B1A5-34CBEC2A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746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6DEE8"/>
                </a:solidFill>
              </a:defRPr>
            </a:pPr>
            <a:r>
              <a:rPr sz="1200" b="0">
                <a:solidFill>
                  <a:srgbClr val="D6DEE8"/>
                </a:solidFill>
              </a:rPr>
              <a:t>The strategy must expose build_execution_timing_analysis_inputs().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03B39-E669-43CE-9064-CD141A46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</a:defRPr>
            </a:pPr>
            <a:r>
              <a:rPr sz="1125" b="1">
                <a:solidFill>
                  <a:srgbClr val="B7791F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1FD35-568D-4BF6-A973-1B2FA7DA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7962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entry_fill = signal_bar_t + entry_lag at Open or Close. Exit uses the selected exit lag and price field.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603EC-2720-4705-A014-2CEDD0C7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26447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B64BD-7D57-4F0C-8C42-07789D46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C5696-3C3B-4AB9-95FE-0F0A52D1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4695825"/>
            <a:ext cx="5289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9DE2D-0146-4B5D-BDAA-B6684DA9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00600"/>
            <a:ext cx="502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Risk 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61691-17A0-49BE-AC93-1BFBECBC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26447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24753-D3A5-48E2-B127-9C5CB5D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same_open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348D9-5FD5-4236-8A85-658FC649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5133975"/>
            <a:ext cx="5289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5BCA4-9A0D-48FF-82EE-E32646D1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502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diagnostic for daily OHLC signals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0A665-A3C2-429D-8463-CF062F9E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9275"/>
            <a:ext cx="26447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EF08A-6F70-4507-A378-5CFA9487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same_close_moc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BC457-A001-49C8-B7FB-380EF9A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5629275"/>
            <a:ext cx="5289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0BBFF-E289-46B4-82A7-B9EBE0B6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34050"/>
            <a:ext cx="502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MOC only if known before cutoff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BF91A-2B34-4B42-9382-D21AC2C1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24575"/>
            <a:ext cx="26447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8C74D-C0A8-4E62-B38B-B5A4938C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next_open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5A0F79-C7E7-44C0-8554-AA520B52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6124575"/>
            <a:ext cx="5289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08893-9374-4EBC-93C4-F8ED401F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29350"/>
            <a:ext cx="502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Vanilla daily default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B0AE1F-AEE7-4412-AF9E-5E30DDF9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19875"/>
            <a:ext cx="26447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2FFA2-4AF4-4BCF-92CB-9E044AC6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next_close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B6A0B3-4645-44B6-8385-B6372B55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6619875"/>
            <a:ext cx="5289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52C0F3-2362-423A-BE55-D5A03D3C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724650"/>
            <a:ext cx="502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close/MOC diagnostic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CC652-A371-40CA-88EC-8B5DB0AD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47950"/>
            <a:ext cx="796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81D"/>
                </a:solidFill>
              </a:defRPr>
            </a:pPr>
            <a:r>
              <a:rPr sz="2025" b="1">
                <a:solidFill>
                  <a:srgbClr val="15181D"/>
                </a:solidFill>
              </a:rPr>
              <a:t>Example timing matrix rows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DE839F-EAEA-4C1A-82B7-10147EB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58490"/>
            <a:ext cx="213411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96AC79-69F9-4BEA-A332-AD480FC2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Entry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801406-80D2-47BC-8EFF-BC4890AE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390" y="3158490"/>
            <a:ext cx="213411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D8B96A-BDC3-4C1E-BFA9-88898907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25755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F40A92-16B2-4806-AD45-338B268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6555" y="3158490"/>
            <a:ext cx="128046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CCEE16-FF2B-402E-88DA-A923920D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2575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Sharpe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F7CD0C-B15B-4B4C-91D6-38C60460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074" y="3158490"/>
            <a:ext cx="234752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6A31AD-A165-4A04-8899-6B3D4ABC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3257550"/>
            <a:ext cx="207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529A02-B024-486C-9640-522B3AAA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596640"/>
            <a:ext cx="21341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4BEE24-8E56-443C-9AF8-0DD7EC04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T+1 Open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8EB601-CC56-4161-996C-995D2B14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390" y="3596640"/>
            <a:ext cx="21341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B03583-0B85-407E-A639-9FF695CC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69570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T+1 Open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2F97A0-364D-4254-910C-03CF995C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6555" y="3596640"/>
            <a:ext cx="1280469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463988-5100-4E72-B53D-56BACAAF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69570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1.19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61E37A-3195-4B34-9F18-EC038A15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074" y="3596640"/>
            <a:ext cx="234752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F7282C-DBD5-4A11-968D-5481E87A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3695700"/>
            <a:ext cx="207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Clean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4AA410-0706-46E4-9A48-DC0E0B63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110990"/>
            <a:ext cx="21341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DD54E1-BA2B-4F9B-822A-0598E134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1005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T Close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4A9582-3261-4F93-9ACE-F0510822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390" y="4110990"/>
            <a:ext cx="21341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D66479-CEE4-491F-B208-90767DAF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21005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T Close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93ABB3-84A2-4066-83D1-294C1CB8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6555" y="4110990"/>
            <a:ext cx="1280469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10953A-F110-4623-AB4B-F29AB1A2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2100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1.21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7570BA-DC8F-473F-BBE1-32ABC2B0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074" y="4110990"/>
            <a:ext cx="234752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D90948-7574-4B9C-969D-326041EA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4210050"/>
            <a:ext cx="207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Biased MOC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76B98B-456C-4E51-8421-E43573A1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625340"/>
            <a:ext cx="21341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5B591F-6C09-4569-8EE0-B8CD15F2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2440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T+1 Open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6EBD20-DD61-4CF6-9C62-2301FDA0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390" y="4625340"/>
            <a:ext cx="21341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2CAAAD-24E4-40FC-BD74-F34C1C5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72440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T+1 Close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A948D8-98CE-4299-9AD8-0241F44B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6555" y="4625340"/>
            <a:ext cx="1280469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52700D-4478-4978-93D1-7C64A021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72440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1.13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96CD54-B533-49F2-9595-F5E860B2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074" y="4625340"/>
            <a:ext cx="234752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294C1E-9A77-4D08-AD85-67E8ECB9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4724400"/>
            <a:ext cx="207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MOC Assumption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E64FD4-F95F-49A9-A7A7-F58A08C2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139690"/>
            <a:ext cx="21341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B1D434-57C2-4DC2-A4CB-BCC17050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3875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T+1 Close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3A60FE-D300-467E-BAAF-D6F702FB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390" y="5139690"/>
            <a:ext cx="21341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7E0BAB-B310-446C-A4C6-482E1C78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23875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T+1 Open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25D13EE-1DE5-44A7-BD6D-7E9FEFC0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6555" y="5139690"/>
            <a:ext cx="1280469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C13076-6A98-4A27-B94E-3D298E58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2387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1.20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8F2F0A-4840-43A2-8097-29A713C9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074" y="5139690"/>
            <a:ext cx="234752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08EF48-25F3-406A-B38B-42AAB752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5238750"/>
            <a:ext cx="207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MOC Assumption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38EBCF-E1D7-49E6-94EE-A0C6AD2F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4835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SAVED OUTPUTS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6E2261-A69B-499B-92E0-6FFC73C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076950"/>
            <a:ext cx="796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execution_timing_metrics.csv plus return, CVaR, Sharpe, and drawdown matrices.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EF87BE3-9C73-456B-B211-2C7E9BDD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05850"/>
            <a:ext cx="1299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74" name="source">
            <a:extLst xmlns:a="http://schemas.openxmlformats.org/drawingml/2006/main">
              <a:ext uri="{FF2B5EF4-FFF2-40B4-BE49-F238E27FC236}">
                <a16:creationId xmlns:a16="http://schemas.microsoft.com/office/drawing/2014/main" id="{938BCB7D-9727-45B4-9072-823F2028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629650"/>
            <a:ext cx="3295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636B74"/>
                </a:solidFill>
              </a:defRPr>
            </a:pPr>
            <a:r>
              <a:rPr sz="900" b="0" i="1">
                <a:solidFill>
                  <a:srgbClr val="636B74"/>
                </a:solidFill>
              </a:rPr>
              <a:t>Code: alpha/engine/execution_timing.py, execution_timing_analyzer.py</a:t>
            </a:r>
          </a:p>
        </p:txBody>
      </p:sp>
    </p:spTree>
    <p:extLst>
      <p:ext uri="{BB962C8B-B14F-4D97-AF65-F5344CB8AC3E}">
        <p14:creationId xmlns:p14="http://schemas.microsoft.com/office/powerpoint/2010/main" val="4491562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63656B1-8CCD-4E2A-BEB1-C383DC3F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F9CA3D4-4998-465D-9D02-C8680FB5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STRESS / CRISIS REPLAY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26497-C5AB-4B64-A892-DF6206F2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81153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81D"/>
                </a:solidFill>
              </a:defRPr>
            </a:pPr>
            <a:r>
              <a:rPr sz="3600" b="1">
                <a:solidFill>
                  <a:srgbClr val="15181D"/>
                </a:solidFill>
              </a:rPr>
              <a:t>Fresh-capital replay through named shocks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AB95EA8-0DDA-4DA3-A5D6-1B8DC8BF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810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6B74"/>
                </a:solidFill>
              </a:defRPr>
            </a:pPr>
            <a:r>
              <a:rPr sz="1725" b="0">
                <a:solidFill>
                  <a:srgbClr val="636B74"/>
                </a:solidFill>
              </a:rPr>
              <a:t>The analyzer restricts the execution calendar to each crisis while preserving pre-crisis history for causal signals.</a:t>
            </a:r>
          </a:p>
        </p:txBody>
      </p:sp>
      <p:sp>
        <p:nvSpPr>
          <p:cNvPr id="5" name="command">
            <a:extLst xmlns:a="http://schemas.openxmlformats.org/drawingml/2006/main">
              <a:ext uri="{FF2B5EF4-FFF2-40B4-BE49-F238E27FC236}">
                <a16:creationId xmlns:a16="http://schemas.microsoft.com/office/drawing/2014/main" id="{0CCCD076-021A-4F1B-8ACA-2C20AF41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3220"/>
            <a:ext cx="7953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51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21642-BEF3-4AFA-AEAD-EA45BD95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746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uv run python strategies/run_crisis_replay.py strategy_mr_dv2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1D2D3-6E3F-42E7-A583-4796C21A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746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6DEE8"/>
                </a:solidFill>
              </a:defRPr>
            </a:pPr>
            <a:r>
              <a:rPr sz="1200" b="0">
                <a:solidFill>
                  <a:srgbClr val="D6DEE8"/>
                </a:solidFill>
              </a:rPr>
              <a:t>Supported keys are listed in alpha.engine.crisis.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F40EC-2762-4B56-8635-32CD5533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89BBE-497A-4129-9678-ECEB335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796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For crisis c: R_c = V_end / V_0 - 1. Each window starts from fresh capital.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3487A-2675-42D4-A860-E01E4B0C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7255"/>
            <a:ext cx="293863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9219F-6BE5-4078-9C36-AF0A1DC0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Window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2DD95-0C6B-4C8F-BA1C-F30F5966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089" y="4707255"/>
            <a:ext cx="499568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EBC7E-751C-4F7B-8945-3F587C99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472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5EAEE-F7BC-45AF-967E-E981318A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5405"/>
            <a:ext cx="293863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EA76B-2855-4137-A5A1-92938169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gfc_2008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F7B26-4429-433A-AE04-73AE7065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089" y="5145405"/>
            <a:ext cx="499568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C5205-3BF5-4B13-9740-022E4D01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72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2008-09-15 to 2009-03-09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5818B-7134-4AB3-B5AD-30E59745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0705"/>
            <a:ext cx="293863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ADC2A-2B8D-4691-B7F1-AE48C97F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covid_crash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FFF0D-6484-48FC-8778-6465DB24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089" y="5640705"/>
            <a:ext cx="499568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E0D28-4923-447D-859F-4338361F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34050"/>
            <a:ext cx="472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2020-02-20 to 2020-04-07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24845-1C44-4BF4-8DDF-060F1665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36005"/>
            <a:ext cx="293863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AFDCD-5DAE-41E6-AADD-61E67499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inflation_bear_2022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F3114-8C86-4F69-A762-CC10BC2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089" y="6136005"/>
            <a:ext cx="499568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5BEC3-CE22-44C4-998B-A4D999C0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229350"/>
            <a:ext cx="472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2022-01-03 to 2022-10-12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663A4B-D66E-4F26-B780-413C7D53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31305"/>
            <a:ext cx="293863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A2CC6-DA95-4771-B48C-DE191F55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trump_tariffs_2025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C78DAA-5142-44E2-9755-0FE7DB06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089" y="6631305"/>
            <a:ext cx="499568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53D782-CCBD-4EEA-B6A4-E8C5688B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24650"/>
            <a:ext cx="4724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2025-02-01 to 2025-04-30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89A55A-04C2-4A12-8A6F-BE8DC7FC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95600"/>
            <a:ext cx="796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81D"/>
                </a:solidFill>
              </a:defRPr>
            </a:pPr>
            <a:r>
              <a:rPr sz="2025" b="1">
                <a:solidFill>
                  <a:srgbClr val="15181D"/>
                </a:solidFill>
              </a:rPr>
              <a:t>Example: archived strategy_mr_dv2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6C004F-7DFC-4136-833A-4956CD8D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421380"/>
            <a:ext cx="335393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0EC298-B4DF-4A79-ACA4-E661AB6E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24250"/>
            <a:ext cx="308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Crisis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B7D0B8-18CF-4A10-9377-C619AD19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3205" y="3421380"/>
            <a:ext cx="214651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A9BE6D-327E-464D-AA68-9FACA969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524250"/>
            <a:ext cx="1885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C2366E-A0BF-44D3-9590-7E45FB5D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770" y="3421380"/>
            <a:ext cx="241483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EB95EC-E6C9-4DF1-88A2-1E7C2C3A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35242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Relative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A3D555-94C5-4323-993B-80C9F787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59530"/>
            <a:ext cx="335393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EE5192-60A5-4C32-946A-00223661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624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gfc_2008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D7226E-8F00-4A21-B26C-EC6CA5DB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3205" y="3859530"/>
            <a:ext cx="21465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395F80-4D14-474E-8979-9414B803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96240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+3.0%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3A467A-0B1C-4545-AA2B-7585EBBC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770" y="3859530"/>
            <a:ext cx="241483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0C13B3-8E8D-4C0A-BEF4-3AA813D2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39624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+46.3 pp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5BB159-B46A-4967-B3AF-89F60015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73880"/>
            <a:ext cx="335393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EC112A-7C5E-4258-AC2E-2F9752FA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covid_crash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9E91F2-8309-4F92-93D4-E7AA7F6C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3205" y="4373880"/>
            <a:ext cx="21465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57DE8E-D174-445A-BA3F-8D12D7F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4767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-13.1%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D5F557-26DC-49EC-B23B-75E73074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770" y="4373880"/>
            <a:ext cx="241483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1F3074-DB22-4016-9F21-5D93810C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4767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+8.1 pp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8E0EE8-753B-4AC0-BC21-4D62B18E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88230"/>
            <a:ext cx="335393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307984-76D8-4E07-A216-DF762D06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911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inflation_bear_2022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6E4478-F9E2-487C-ABCA-167B521F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3205" y="4888230"/>
            <a:ext cx="21465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8A09A0-49DF-4DB8-BE8E-0DE0C851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99110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-10.2%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C078C5-CA04-425C-A94C-5246956D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770" y="4888230"/>
            <a:ext cx="241483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061C2F-D9F5-4594-9CCF-36F3A20A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9911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+15.3 pp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DA1408-DB19-4503-932F-323F29F7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402580"/>
            <a:ext cx="335393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E24BEE-E2F0-4428-BE3E-C60D4260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054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trump_tariffs_2025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184720-46D7-4C26-8C72-629E9318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3205" y="5402580"/>
            <a:ext cx="214651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1B94BB-EDE9-4BA8-807D-C837EE18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55054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-4.4%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C73711-BFAB-47B6-AEF0-EC176D62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770" y="5402580"/>
            <a:ext cx="241483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453AD8-E3AE-49D4-96A0-8839F320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550545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+2.7 pp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66CFB3-C312-4FD0-910B-4B868D89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11505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</a:defRPr>
            </a:pPr>
            <a:r>
              <a:rPr sz="1125" b="1">
                <a:solidFill>
                  <a:srgbClr val="B7791F"/>
                </a:solidFill>
              </a:rPr>
              <a:t>CAVEAT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05A8EA-525F-4CE0-BFAB-5689566A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43650"/>
            <a:ext cx="796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Historical crises are useful samples. They are not complete future scenario coverage.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6B6762-481E-493F-9B33-0630C915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029700"/>
            <a:ext cx="1238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64" name="source">
            <a:extLst xmlns:a="http://schemas.openxmlformats.org/drawingml/2006/main">
              <a:ext uri="{FF2B5EF4-FFF2-40B4-BE49-F238E27FC236}">
                <a16:creationId xmlns:a16="http://schemas.microsoft.com/office/drawing/2014/main" id="{68A9C451-7B81-4006-A917-1DC201F6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891540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636B74"/>
                </a:solidFill>
              </a:defRPr>
            </a:pPr>
            <a:r>
              <a:rPr sz="900" b="0" i="1">
                <a:solidFill>
                  <a:srgbClr val="636B74"/>
                </a:solidFill>
              </a:rPr>
              <a:t>Code: alpha/engine/crisis.py, alpha/engine/report.py, strategies/run_crisis_replay.py</a:t>
            </a:r>
          </a:p>
        </p:txBody>
      </p:sp>
    </p:spTree>
    <p:extLst>
      <p:ext uri="{BB962C8B-B14F-4D97-AF65-F5344CB8AC3E}">
        <p14:creationId xmlns:p14="http://schemas.microsoft.com/office/powerpoint/2010/main" val="9839236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0355E68-3385-4850-B67C-1A6D2CD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EC70D39-25DB-4C6F-BFDB-03C11B50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27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D28D9"/>
                </a:solidFill>
              </a:defRPr>
            </a:pPr>
            <a:r>
              <a:rPr sz="1275" b="1">
                <a:solidFill>
                  <a:srgbClr val="6D28D9"/>
                </a:solidFill>
              </a:rPr>
              <a:t>FRICTIONANALYSIS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DC2615-CA6B-4FB4-8B36-6F2BECC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85850"/>
            <a:ext cx="9639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81D"/>
                </a:solidFill>
              </a:defRPr>
            </a:pPr>
            <a:r>
              <a:rPr sz="3600" b="1">
                <a:solidFill>
                  <a:srgbClr val="15181D"/>
                </a:solidFill>
              </a:rPr>
              <a:t>Order realism overlay for auction capacity and cost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5BAE161-CA73-47AB-A35B-C077654A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6B74"/>
                </a:solidFill>
              </a:defRPr>
            </a:pPr>
            <a:r>
              <a:rPr sz="1725" b="0">
                <a:solidFill>
                  <a:srgbClr val="636B74"/>
                </a:solidFill>
              </a:rPr>
              <a:t>It reads completed orders and pricing data. It does not change fills, PnL, sizing, or Vanilla reports.</a:t>
            </a:r>
          </a:p>
        </p:txBody>
      </p:sp>
      <p:sp>
        <p:nvSpPr>
          <p:cNvPr id="5" name="command">
            <a:extLst xmlns:a="http://schemas.openxmlformats.org/drawingml/2006/main">
              <a:ext uri="{FF2B5EF4-FFF2-40B4-BE49-F238E27FC236}">
                <a16:creationId xmlns:a16="http://schemas.microsoft.com/office/drawing/2014/main" id="{B39027A4-72DB-46D9-AC5C-AC9D4E1F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7953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51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DC543-CCF5-481E-8FF4-8B5F4A06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746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uv run python strategies/run_friction_analysis.py dv2/strategy_mr_dv2.py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9C80D-94A8-4887-9A3D-4EE8D1A8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746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6DEE8"/>
                </a:solidFill>
              </a:defRPr>
            </a:pPr>
            <a:r>
              <a:rPr sz="1200" b="0">
                <a:solidFill>
                  <a:srgbClr val="D6DEE8"/>
                </a:solidFill>
              </a:rPr>
              <a:t>The strategy must expose run_friction_analysis(...).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C43E7-1390-42F4-922F-A920466E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CORE CALCULATION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B97F9-C32B-4DF2-8700-617F0D3E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7962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auction_proxy_t = lagged 20-day median dollar ADV * auction_fraction. participation_t = abs(order_notional_t) / auction_proxy_t.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73775-9F1E-4739-B9CB-7360D621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1495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6B304-BC3E-4BF0-8671-087CB035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207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9C3BC-A712-4767-B34E-37E3FD85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341495"/>
            <a:ext cx="560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2C1B0-AD7A-4101-A6D6-B0AE7BC8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38650"/>
            <a:ext cx="533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Assumption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B1CF0-ADB1-41EF-841B-164191C1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9645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6578E-AE05-45D7-A0F4-263DA10E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207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MOO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87E74-6D63-40EC-9A98-3A5E6F8B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779645"/>
            <a:ext cx="560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CFDC8-6ABA-408D-AD62-90BACE44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76800"/>
            <a:ext cx="533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2% of lagged dollar ADV proxy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A453B-2668-456B-8FD5-81F47404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4945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1473E-0961-4E61-B0B5-0E5ED5C9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72100"/>
            <a:ext cx="207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MOC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13FC3-87B2-4890-BBAC-744A2F17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74945"/>
            <a:ext cx="560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375A0-AAE0-4505-B3CF-5FEDA86E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72100"/>
            <a:ext cx="533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10% of lagged dollar ADV proxy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174C5-490B-479F-911C-EF7024CA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0245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2F3E6-F1E9-4E8B-8918-63547606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67400"/>
            <a:ext cx="207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Default 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39388-2786-4F24-A89A-301DBDA0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770245"/>
            <a:ext cx="560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BA5AB-B32A-4018-845F-7EE85058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867400"/>
            <a:ext cx="533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2.5 bps plus commission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04F8C-B450-4CCE-9924-B8EF55FA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65545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896247-0F15-4636-86E1-D28B9D85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62700"/>
            <a:ext cx="2076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181D"/>
                </a:solidFill>
              </a:defRPr>
            </a:pPr>
            <a:r>
              <a:rPr sz="1200" b="1">
                <a:solidFill>
                  <a:srgbClr val="15181D"/>
                </a:solidFill>
              </a:rPr>
              <a:t>Impact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AE7AE4-ED9D-4255-81F7-CE6B2662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265545"/>
            <a:ext cx="560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4CBA9D-CBAF-4F61-A40F-041E359D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362700"/>
            <a:ext cx="533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6B74"/>
                </a:solidFill>
              </a:defRPr>
            </a:pPr>
            <a:r>
              <a:rPr sz="1200" b="0">
                <a:solidFill>
                  <a:srgbClr val="636B74"/>
                </a:solidFill>
              </a:rPr>
              <a:t>adverse proxy, not broker truth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186F8-70F3-445C-A07B-9751B57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796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81D"/>
                </a:solidFill>
              </a:defRPr>
            </a:pPr>
            <a:r>
              <a:rPr sz="2025" b="1">
                <a:solidFill>
                  <a:srgbClr val="15181D"/>
                </a:solidFill>
              </a:rPr>
              <a:t>Example: NDX VXN scaled friction run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1B4937-D197-4542-9ED0-48372A47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7791F"/>
                </a:solidFill>
              </a:defRPr>
            </a:pPr>
            <a:r>
              <a:rPr sz="3150" b="1">
                <a:solidFill>
                  <a:srgbClr val="B7791F"/>
                </a:solidFill>
              </a:rPr>
              <a:t>Watch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7FEEEC-C0DF-4D85-AED3-C8787920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Friction verdict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E7565B-4C29-43AE-905E-0468F1C6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814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auction verdict: Stressed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EBE96-52EF-4E45-88D5-0E558651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80035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3,126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C89A9E-0EB3-45FB-BE6F-3531766F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33375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Orders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C0E4CC-D14A-4222-A962-FD8B56EF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5814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$303.7M assessed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843CEB-27C1-412D-A019-2EFFE595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2318"/>
                </a:solidFill>
              </a:defRPr>
            </a:pPr>
            <a:r>
              <a:rPr sz="3150" b="1">
                <a:solidFill>
                  <a:srgbClr val="B42318"/>
                </a:solidFill>
              </a:rPr>
              <a:t>8.64%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D04DA7-8BE7-41AE-B429-B0905B2D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3390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Auction p95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F646A9-86CD-4A64-9608-955521B4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625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participation proxy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FB15A3-D8DC-4A66-86CE-D7BE1402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0050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D28D9"/>
                </a:solidFill>
              </a:defRPr>
            </a:pPr>
            <a:r>
              <a:rPr sz="3150" b="1">
                <a:solidFill>
                  <a:srgbClr val="6D28D9"/>
                </a:solidFill>
              </a:rPr>
              <a:t>-0.12 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B06CDB-F587-429F-A2F6-054489D0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533900"/>
            <a:ext cx="381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Return impact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BDEBA9-1767-4885-BC84-3C28E89A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7625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6B74"/>
                </a:solidFill>
              </a:defRPr>
            </a:pPr>
            <a:r>
              <a:rPr sz="1050" b="0">
                <a:solidFill>
                  <a:srgbClr val="636B74"/>
                </a:solidFill>
              </a:rPr>
              <a:t>18.07% to 17.95%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578741-D9A9-433B-8BDB-B7839498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BOUNDARY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AE910D-CBCE-4432-9D36-A37D775C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72100"/>
            <a:ext cx="796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No rescale, no retrade, no fill changes. This is a diagnostic overlay only.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119946-B8B1-48BB-83E7-272B6E16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20100"/>
            <a:ext cx="1280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46" name="source">
            <a:extLst xmlns:a="http://schemas.openxmlformats.org/drawingml/2006/main">
              <a:ext uri="{FF2B5EF4-FFF2-40B4-BE49-F238E27FC236}">
                <a16:creationId xmlns:a16="http://schemas.microsoft.com/office/drawing/2014/main" id="{14F683C6-2070-4A9D-AA1C-26268568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8286750"/>
            <a:ext cx="348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636B74"/>
                </a:solidFill>
              </a:defRPr>
            </a:pPr>
            <a:r>
              <a:rPr sz="900" b="0" i="1">
                <a:solidFill>
                  <a:srgbClr val="636B74"/>
                </a:solidFill>
              </a:rPr>
              <a:t>Code: alpha/engine/friction_analysis.py, strategies/run_friction_analysis.py</a:t>
            </a:r>
          </a:p>
        </p:txBody>
      </p:sp>
    </p:spTree>
    <p:extLst>
      <p:ext uri="{BB962C8B-B14F-4D97-AF65-F5344CB8AC3E}">
        <p14:creationId xmlns:p14="http://schemas.microsoft.com/office/powerpoint/2010/main" val="13863549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C254769-0332-412C-A1E4-3442960B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3256F61-382F-4B73-9F74-F1C04CDE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40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ARTIFACT CONTRACT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D4376F-835E-4416-A0C7-546EA910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85850"/>
            <a:ext cx="81153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81D"/>
                </a:solidFill>
              </a:defRPr>
            </a:pPr>
            <a:r>
              <a:rPr sz="3600" b="1">
                <a:solidFill>
                  <a:srgbClr val="15181D"/>
                </a:solidFill>
              </a:rPr>
              <a:t>Saved runs have a predictable folder shape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C7ABD71-D8D1-4E8D-B727-217F800E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0115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6B74"/>
                </a:solidFill>
              </a:defRPr>
            </a:pPr>
            <a:r>
              <a:rPr sz="1725" b="0">
                <a:solidFill>
                  <a:srgbClr val="636B74"/>
                </a:solidFill>
              </a:rPr>
              <a:t>The goal is simple inspection: know what entity ran, what analysis type it used, and which files carry the evidence.</a:t>
            </a:r>
          </a:p>
        </p:txBody>
      </p:sp>
      <p:sp>
        <p:nvSpPr>
          <p:cNvPr id="5" name="command">
            <a:extLst xmlns:a="http://schemas.openxmlformats.org/drawingml/2006/main">
              <a:ext uri="{FF2B5EF4-FFF2-40B4-BE49-F238E27FC236}">
                <a16:creationId xmlns:a16="http://schemas.microsoft.com/office/drawing/2014/main" id="{C50F582F-96D6-4B0C-AB4D-958C487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7530"/>
            <a:ext cx="7953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51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53568-A109-44DC-8EE0-0DC01714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7467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results/research/{entity_type}/{entity_id}/{analysis_type}/{timestamp}/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C4496-1967-412E-9EB0-4E7F7947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746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6DEE8"/>
                </a:solidFill>
              </a:defRPr>
            </a:pPr>
            <a:r>
              <a:rPr sz="1200" b="0">
                <a:solidFill>
                  <a:srgbClr val="D6DEE8"/>
                </a:solidFill>
              </a:rPr>
              <a:t>Example: results/research/strategy/strategy_mr_dv2/friction_analysis/...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8F759-4C69-4002-8274-D994BDCB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3380"/>
            <a:ext cx="3889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27A60-27EF-43C1-81A5-82E36E86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Analysis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F15A9-2521-4F32-A578-DB648E04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825" y="4183380"/>
            <a:ext cx="404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BC32E-84D7-45EA-86CD-B1ACAB08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377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95C3C-6ABF-490B-BA67-1BFB3471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1530"/>
            <a:ext cx="3889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A3D6F-A846-4195-B1E4-0B9763B2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vanilla_backtest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B1F36-9AF6-4250-84F2-D5078CAB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825" y="4621530"/>
            <a:ext cx="404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DEBF4-7FAC-4ABF-AA2B-F87F53B1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24400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strategy or portfolio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238F9-ACD0-4CC5-BCB4-3DBBC9BF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4930"/>
            <a:ext cx="3889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672B4-B6A5-4B5F-9271-B8729C49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execution_timing_analyzer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7A0C3-07BA-402D-8FF0-C35C4E53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825" y="5154930"/>
            <a:ext cx="404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7C3F1-1B85-410B-B867-CF3282D5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57800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ED144-3E19-4274-989F-3F40E3A2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88330"/>
            <a:ext cx="3889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1C526-4A4D-4F7A-96BF-A00FD875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stress_analysis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91BAA-981D-4584-8618-ECB1232F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825" y="5688330"/>
            <a:ext cx="404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B275B-48A5-459F-A63F-8339018C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91200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strategy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2F1A1-A9EE-4C28-9490-887CF92A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21730"/>
            <a:ext cx="3889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5B4071-A66E-42AE-9EF7-9C23D454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friction_analysis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0508DE-E926-49E4-B674-DA2B2DB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825" y="6221730"/>
            <a:ext cx="404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D4CA1-F2D8-4208-8468-92C60D95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24600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strategy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AC0CAA-BE17-4A50-9AD2-B83A4DEE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796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81D"/>
                </a:solidFill>
              </a:defRPr>
            </a:pPr>
            <a:r>
              <a:rPr sz="2025" b="1">
                <a:solidFill>
                  <a:srgbClr val="15181D"/>
                </a:solidFill>
              </a:rPr>
              <a:t>Minimum files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7D452A-B586-4490-A14F-DC11493B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634740"/>
            <a:ext cx="2746497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E87F3-FBDF-4134-AB6E-41611DCE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338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4B0CAC-F971-49E7-8EE9-B8817D2C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772" y="3634740"/>
            <a:ext cx="518782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398F3E-2B35-4ED2-99DE-F26CABCA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73380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F80C69-47FB-45EF-884B-4A244103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072890"/>
            <a:ext cx="274649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909C8B-9C67-4F8F-8F03-DF2A0AEE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719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run_info.json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EC5F20-3A92-4201-BBB3-32567661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772" y="4072890"/>
            <a:ext cx="518782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626EC9-23FF-45A0-B328-5191017B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17195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identity and parameters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8ECCAC-4597-4CFE-A85E-556A0A96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606290"/>
            <a:ext cx="274649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8B9B79-1F0D-4DF7-93F0-A85D93B8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053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summary.json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65375A-CEA5-42A9-A7B4-6D1E2385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772" y="4606290"/>
            <a:ext cx="518782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0D48B3-BFA8-486F-B8F3-2D5BCDFE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70535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small top-line metrics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910415-1800-472F-A914-EF670D14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139690"/>
            <a:ext cx="274649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4D5230-3014-48FE-B37D-5DC72D83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387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report.html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3F09B0-0F7C-4E9B-8084-254E4DCB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772" y="5139690"/>
            <a:ext cx="518782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E5D5E3-6170-4596-8201-98A37D3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23875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human-readable report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0F605A-FA1A-4713-A9C2-A106828E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673090"/>
            <a:ext cx="274649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6F9271-D868-4509-A180-0461709B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721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*.csv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C8096A-0D9F-4E0B-B0AF-CFC8B805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772" y="5673090"/>
            <a:ext cx="518782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250C1C-2DA3-462A-A9DC-F0E19F24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77215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analysis-specific evidence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AB638C-94DD-4C1F-B6D1-59D8A133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WHY IT HELPS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040B4B-8C23-4224-9063-480A80BC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648450"/>
            <a:ext cx="7962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A future review can tell whether a number came from Vanilla, timing, stress, portfolio, or friction work.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7CC2DD-5035-4272-88F8-7E29DBF2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067800"/>
            <a:ext cx="1323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52" name="source">
            <a:extLst xmlns:a="http://schemas.openxmlformats.org/drawingml/2006/main">
              <a:ext uri="{FF2B5EF4-FFF2-40B4-BE49-F238E27FC236}">
                <a16:creationId xmlns:a16="http://schemas.microsoft.com/office/drawing/2014/main" id="{BF054319-6FBD-4D91-8D79-04CBF514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8991600"/>
            <a:ext cx="304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636B74"/>
                </a:solidFill>
              </a:defRPr>
            </a:pPr>
            <a:r>
              <a:rPr sz="900" b="0" i="1">
                <a:solidFill>
                  <a:srgbClr val="636B74"/>
                </a:solidFill>
              </a:rPr>
              <a:t>Code: alpha/engine/report.py, scripts/archive_research_results.py</a:t>
            </a:r>
          </a:p>
        </p:txBody>
      </p:sp>
    </p:spTree>
    <p:extLst>
      <p:ext uri="{BB962C8B-B14F-4D97-AF65-F5344CB8AC3E}">
        <p14:creationId xmlns:p14="http://schemas.microsoft.com/office/powerpoint/2010/main" val="10013618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78BB6AF-383D-4515-9D95-A0BEDD24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EA27023-AFD9-45CF-AC36-47879FE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704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RUNBOOK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E804C7-F170-4D18-99BA-882D32C5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85850"/>
            <a:ext cx="62484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81D"/>
                </a:solidFill>
              </a:defRPr>
            </a:pPr>
            <a:r>
              <a:rPr sz="3600" b="1">
                <a:solidFill>
                  <a:srgbClr val="15181D"/>
                </a:solidFill>
              </a:rPr>
              <a:t>Pick the analyzer by the question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11E90F5-6F6D-48C8-A715-8F67D8F0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90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6B74"/>
                </a:solidFill>
              </a:defRPr>
            </a:pPr>
            <a:r>
              <a:rPr sz="1725" b="0">
                <a:solidFill>
                  <a:srgbClr val="636B74"/>
                </a:solidFill>
              </a:rPr>
              <a:t>The question determines the tool. The tool determines the caveat.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97CF6-E8CE-40C0-838E-1A0BD52A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7530"/>
            <a:ext cx="608188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3930F-4BC2-48F0-A3D6-6C30566B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81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855D6-5F2E-41D3-AA19-102E1090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339" y="3097530"/>
            <a:ext cx="405459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9876A-E3F6-4563-A66C-1D315FFF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05274-8197-44BA-A417-D0B06F91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981" y="3097530"/>
            <a:ext cx="628461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B42AA-2A45-49F9-9257-90482E10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00400"/>
            <a:ext cx="6019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Main thing to inspect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03DC9-AF98-42EF-973B-58A0A706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5680"/>
            <a:ext cx="6081889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7DF56-E57B-49CD-88F0-18E3746D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Does it work under the house contract?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5028B-8D07-4564-AAF7-E86B4E3D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339" y="3535680"/>
            <a:ext cx="405459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8D98F-A50C-4767-9C80-7DDE4C13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Vanilla Backtest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706C4-0671-49CF-99A0-2FB351BA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981" y="3535680"/>
            <a:ext cx="6284619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72F7E-9210-4081-B5B0-7456BD18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38550"/>
            <a:ext cx="601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summary, report.html, transactions.csv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23A1C-4BBD-476C-B390-5422B68F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3380"/>
            <a:ext cx="6081889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348B8-6C9F-49A9-A060-7A5A5F27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Is performance timing fragile?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DD465-2481-4734-B59F-C1E3670D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339" y="4183380"/>
            <a:ext cx="405459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B91A1-8226-4D09-999C-C271BD0F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ExecutionTimingAnalyzer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D0426-DB73-4EAC-B498-45B5ACB8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981" y="4183380"/>
            <a:ext cx="6284619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A2416-8FD3-49BC-B13F-688272EC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286250"/>
            <a:ext cx="601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risk labels and timing matrices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32E4A-155E-450D-AA20-1370FADB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1080"/>
            <a:ext cx="6081889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E313A1-C23E-4F69-872E-CC5C05D7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Does it survive known shocks?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4588F-E942-4B70-9D7B-BAA472E2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339" y="4831080"/>
            <a:ext cx="405459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150C0A-84E4-41C2-B1ED-8C0E6A9A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3395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Stress Replay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CD8A36-6172-4D46-A5FF-D5180977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981" y="4831080"/>
            <a:ext cx="6284619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277A69-F8B2-4427-9E7E-41E733D6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933950"/>
            <a:ext cx="601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crisis_metrics.csv and paths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94BC0F-FD6E-4AA0-80C1-C28D76EF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8780"/>
            <a:ext cx="6081889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2D6105-4223-4B7A-B3D0-D41FA250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Do pods diversify?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BCF907-460E-42CD-ADE3-B12098D6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339" y="5478780"/>
            <a:ext cx="405459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A07BF9-DB07-4357-91DA-8415F982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8165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Portfolio Analysis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1E5101-D7BB-4389-859C-C486CEBC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981" y="5478780"/>
            <a:ext cx="6284619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31077D-92DD-4498-AE4A-49296F1E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81650"/>
            <a:ext cx="601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correlation and tail contribution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6B9CD2-D49C-4B14-93D5-DA32AA6A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26480"/>
            <a:ext cx="6081889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733F6F-6A8A-44A4-9897-487947C0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581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Are orders believable?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2C7AAE-66BB-4A02-BC61-60006CD7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339" y="6126480"/>
            <a:ext cx="405459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50DBAF-E8CC-4D14-B472-1420CAC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22935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FrictionAnalysis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00E4DF-96DC-4F69-A92E-ED0AF0F9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981" y="6126480"/>
            <a:ext cx="6284619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17D450-D3AF-4063-88A6-DBE1014E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601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verdict, p95 participation, scale limits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E79B77-608A-4278-921B-70E2F162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529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803D"/>
                </a:solidFill>
              </a:defRPr>
            </a:pPr>
            <a:r>
              <a:rPr sz="1125" b="1">
                <a:solidFill>
                  <a:srgbClr val="15803D"/>
                </a:solidFill>
              </a:rPr>
              <a:t>GREEN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0E432E-1C5A-48E1-94E8-06AA7307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77100"/>
            <a:ext cx="529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Use diagnostics before promotion.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66DCD6-711C-48CF-965F-1404F9A7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048500"/>
            <a:ext cx="529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</a:defRPr>
            </a:pPr>
            <a:r>
              <a:rPr sz="1125" b="1">
                <a:solidFill>
                  <a:srgbClr val="B7791F"/>
                </a:solidFill>
              </a:rPr>
              <a:t>YELLOW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1DC838-C45A-4BB4-865F-87ECF944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277100"/>
            <a:ext cx="529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Rerun after data, cost, or engine changes.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E661A6-36F3-4639-AE00-BF68EF5D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7048500"/>
            <a:ext cx="529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D2A766-2BD1-41DE-B2C8-443D8C8C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7277100"/>
            <a:ext cx="529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Do not turn biased cells into live claims.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3870E7-9917-4CDE-B206-CB155A87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91600"/>
            <a:ext cx="1276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48" name="source">
            <a:extLst xmlns:a="http://schemas.openxmlformats.org/drawingml/2006/main">
              <a:ext uri="{FF2B5EF4-FFF2-40B4-BE49-F238E27FC236}">
                <a16:creationId xmlns:a16="http://schemas.microsoft.com/office/drawing/2014/main" id="{12470F03-F667-4109-B2D4-C351B154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858250"/>
            <a:ext cx="3524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636B74"/>
                </a:solidFill>
              </a:defRPr>
            </a:pPr>
            <a:r>
              <a:rPr sz="900" b="0" i="1">
                <a:solidFill>
                  <a:srgbClr val="636B74"/>
                </a:solidFill>
              </a:rPr>
              <a:t>Repo doctrine: QUANT_PHILOSOPHY.md and ASSUMPTIONS_AND_GAPS.md</a:t>
            </a:r>
          </a:p>
        </p:txBody>
      </p:sp>
    </p:spTree>
    <p:extLst>
      <p:ext uri="{BB962C8B-B14F-4D97-AF65-F5344CB8AC3E}">
        <p14:creationId xmlns:p14="http://schemas.microsoft.com/office/powerpoint/2010/main" val="15412255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2FA4033-9971-400D-BB77-4D45DBB0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B0814E6-C805-4F80-B123-7F6CE597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93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BOTTOM LINE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17FD00-934B-4D93-99A9-FA60797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97345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181D"/>
                </a:solidFill>
              </a:defRPr>
            </a:pPr>
            <a:r>
              <a:rPr sz="3600" b="1">
                <a:solidFill>
                  <a:srgbClr val="15181D"/>
                </a:solidFill>
              </a:rPr>
              <a:t>The tools exist. The discipline is using the right one.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840E7F8-081B-44D6-931A-DD72BCF9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915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6B74"/>
                </a:solidFill>
              </a:defRPr>
            </a:pPr>
            <a:r>
              <a:rPr sz="1725" b="0">
                <a:solidFill>
                  <a:srgbClr val="636B74"/>
                </a:solidFill>
              </a:rPr>
              <a:t>The stack already covers returns, timing, stress, portfolio composition, and execution friction. Each diagnostic must keep its assumption boundary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D8C5A-9CC4-4B74-8FD2-83FD41D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803D"/>
                </a:solidFill>
              </a:defRPr>
            </a:pPr>
            <a:r>
              <a:rPr sz="1125" b="1">
                <a:solidFill>
                  <a:srgbClr val="15803D"/>
                </a:solidFill>
              </a:rPr>
              <a:t>MATURE SURFACES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3291A-E0F5-49F7-9195-CB77A8A2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796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Vanilla reports, portfolio aggregation, FrictionAnalysis, and the artifact tree are directly wired.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4CBFA-AD05-46A5-8E82-9E0242A3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91F"/>
                </a:solidFill>
              </a:defRPr>
            </a:pPr>
            <a:r>
              <a:rPr sz="1125" b="1">
                <a:solidFill>
                  <a:srgbClr val="B7791F"/>
                </a:solidFill>
              </a:rPr>
              <a:t>DIAGNOSTIC SURFACES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420F3-2480-4477-8ADF-ABC9A124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7962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Timing and crisis replay are powerful lenses, but they must not silently change execution semantics.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8225A-9849-4A04-9C11-8B9C9920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796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BEFORE LIVE CLAIMS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6CEED-A4E2-44DD-8EEB-5F6F0DE9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7962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81D"/>
                </a:solidFill>
              </a:defRPr>
            </a:pPr>
            <a:r>
              <a:rPr sz="1650" b="0">
                <a:solidFill>
                  <a:srgbClr val="15181D"/>
                </a:solidFill>
              </a:rPr>
              <a:t>Check data timing, cutoff, order type, auction participation, partial fills, broker constraints, and reconciliation.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C60F3-1768-4A0D-A608-943918F6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95600"/>
            <a:ext cx="796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181D"/>
                </a:solidFill>
              </a:defRPr>
            </a:pPr>
            <a:r>
              <a:rPr sz="2250" b="1">
                <a:solidFill>
                  <a:srgbClr val="15181D"/>
                </a:solidFill>
              </a:rPr>
              <a:t>Trust 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FD14E-F103-4ADE-95E9-3DA3AB50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455670"/>
            <a:ext cx="448461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9CEB0-C893-4D0E-A8A9-0CE4621D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43300"/>
            <a:ext cx="421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Before trusting a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E1B66-C843-446C-B6B8-BB829680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893" y="3455670"/>
            <a:ext cx="3449707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8CE61-0577-409D-8467-E4A5D9A7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3543300"/>
            <a:ext cx="3181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F8B4B-968F-490C-8D22-E3E02966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93820"/>
            <a:ext cx="448461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BA080-2DB0-4017-84FA-1149A688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81450"/>
            <a:ext cx="421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Data known at decision time?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A2BAF-51FF-4929-967F-4FECBD48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893" y="3893820"/>
            <a:ext cx="344970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7143B-5059-480E-834F-144DA7B7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3981450"/>
            <a:ext cx="318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Lookahead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C42D9-F2C7-4E85-A039-524E3497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427220"/>
            <a:ext cx="448461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FDC35-ABE6-44E9-827F-07947802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14850"/>
            <a:ext cx="421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Engine timing preserved?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8BFF9-09AB-4C1B-903F-88F0AA5E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893" y="4427220"/>
            <a:ext cx="344970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FD82AE-B9C5-4919-B83C-837796AD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514850"/>
            <a:ext cx="318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Vanilla vs timing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ACDB2-10CF-4A4E-94AC-521B4693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960620"/>
            <a:ext cx="448461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E84F1B-ED11-428B-8E41-91EBAB2D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48250"/>
            <a:ext cx="421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Stress reviewed?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1B08B3-6114-4DDF-8AFD-EBB181E1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893" y="4960620"/>
            <a:ext cx="344970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E315CF-612A-452E-B01F-CA706C88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048250"/>
            <a:ext cx="318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Crisis replay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3F4A15-6CA7-4AAF-BBE5-57025958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494020"/>
            <a:ext cx="448461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1098B1-D1B2-4685-BEB5-0A0F211A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81650"/>
            <a:ext cx="421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Pod math realistic?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D7646A-8BE2-45EF-B181-FC210B90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893" y="5494020"/>
            <a:ext cx="344970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54DEB4-EC7E-4945-8CDE-A4EC8425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581650"/>
            <a:ext cx="318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Independent compounding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373246-9583-45F0-9129-A1A43AA5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6027420"/>
            <a:ext cx="448461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0C719C-4C72-4096-8D3D-8F95765E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115050"/>
            <a:ext cx="421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81D"/>
                </a:solidFill>
              </a:defRPr>
            </a:pPr>
            <a:r>
              <a:rPr sz="1275" b="1">
                <a:solidFill>
                  <a:srgbClr val="15181D"/>
                </a:solidFill>
              </a:rPr>
              <a:t>Execution scale believable?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AF43BD-4CE4-4278-B94C-280CF515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893" y="6027420"/>
            <a:ext cx="344970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5A4B81-883E-40B2-944B-78815AA2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6115050"/>
            <a:ext cx="318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6B74"/>
                </a:solidFill>
              </a:defRPr>
            </a:pPr>
            <a:r>
              <a:rPr sz="1275" b="0">
                <a:solidFill>
                  <a:srgbClr val="636B74"/>
                </a:solidFill>
              </a:rPr>
              <a:t>FrictionAnalysis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999530-0BBE-4D72-9A4F-C621773D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24950"/>
            <a:ext cx="1377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7" name="source">
            <a:extLst xmlns:a="http://schemas.openxmlformats.org/drawingml/2006/main">
              <a:ext uri="{FF2B5EF4-FFF2-40B4-BE49-F238E27FC236}">
                <a16:creationId xmlns:a16="http://schemas.microsoft.com/office/drawing/2014/main" id="{5BF84E4D-BA48-4F10-9872-F16E9105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010650"/>
            <a:ext cx="2514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0" i="1">
                <a:solidFill>
                  <a:srgbClr val="636B74"/>
                </a:solidFill>
              </a:defRPr>
            </a:pPr>
            <a:r>
              <a:rPr sz="900" b="0" i="1">
                <a:solidFill>
                  <a:srgbClr val="636B74"/>
                </a:solidFill>
              </a:rPr>
              <a:t>This is a feature map, not a strategy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801258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2026-05-15T22:12:27.2930000Z</dcterms:created>
  <dcterms:modified xsi:type="dcterms:W3CDTF">2026-05-15T22:12:27.2930000Z</dcterms:modified>
</coreProperties>
</file>