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a548311224d3a" /><Relationship Type="http://schemas.openxmlformats.org/officeDocument/2006/relationships/extended-properties" Target="/docProps/app.xml" Id="Rc60c185ce2b24acb" /><Relationship Type="http://schemas.openxmlformats.org/officeDocument/2006/relationships/officeDocument" Target="/ppt/presentation.xml" Id="R68f1b10d3220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7484d5423c4829"/>
  </p:sldMasterIdLst>
  <p:notesMasterIdLst>
    <p:notesMasterId xmlns:r="http://schemas.openxmlformats.org/officeDocument/2006/relationships" r:id="Rdcec9a866b4341d5"/>
  </p:notesMasterIdLst>
  <p:sldIdLst>
    <p:sldId xmlns:r="http://schemas.openxmlformats.org/officeDocument/2006/relationships" id="256" r:id="R9f21069082a9407a"/>
    <p:sldId xmlns:r="http://schemas.openxmlformats.org/officeDocument/2006/relationships" id="257" r:id="R2e25c91a179f450d"/>
    <p:sldId xmlns:r="http://schemas.openxmlformats.org/officeDocument/2006/relationships" id="258" r:id="Ra4ad1fa910a04bfb"/>
    <p:sldId xmlns:r="http://schemas.openxmlformats.org/officeDocument/2006/relationships" id="259" r:id="Re6be907fc6884e17"/>
    <p:sldId xmlns:r="http://schemas.openxmlformats.org/officeDocument/2006/relationships" id="260" r:id="R09d13b3a80ba4cde"/>
    <p:sldId xmlns:r="http://schemas.openxmlformats.org/officeDocument/2006/relationships" id="261" r:id="R5b872b4d29cd4d2c"/>
    <p:sldId xmlns:r="http://schemas.openxmlformats.org/officeDocument/2006/relationships" id="262" r:id="R8624e1869d2e4eb4"/>
    <p:sldId xmlns:r="http://schemas.openxmlformats.org/officeDocument/2006/relationships" id="263" r:id="R0321ad34597141c7"/>
    <p:sldId xmlns:r="http://schemas.openxmlformats.org/officeDocument/2006/relationships" id="264" r:id="R3e2e73fbb5444f63"/>
    <p:sldId xmlns:r="http://schemas.openxmlformats.org/officeDocument/2006/relationships" id="265" r:id="Rfec96b3009004907"/>
    <p:sldId xmlns:r="http://schemas.openxmlformats.org/officeDocument/2006/relationships" id="266" r:id="Rf6a292ff3be84c59"/>
    <p:sldId xmlns:r="http://schemas.openxmlformats.org/officeDocument/2006/relationships" id="267" r:id="R92af33a0b7084924"/>
    <p:sldId xmlns:r="http://schemas.openxmlformats.org/officeDocument/2006/relationships" id="268" r:id="R5ce721fe51aa487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484d5423c4829" /><Relationship Type="http://schemas.openxmlformats.org/officeDocument/2006/relationships/theme" Target="/ppt/theme/theme1.xml" Id="Rc55f31268942499a" /><Relationship Type="http://schemas.openxmlformats.org/officeDocument/2006/relationships/notesMaster" Target="/ppt/notesMasters/notesMaster1.xml" Id="Rdcec9a866b4341d5" /><Relationship Type="http://schemas.openxmlformats.org/officeDocument/2006/relationships/presProps" Target="/ppt/presProps.xml" Id="R8451e51ff6de4154" /><Relationship Type="http://schemas.openxmlformats.org/officeDocument/2006/relationships/viewProps" Target="/ppt/viewProps.xml" Id="R156c9e8ae5184aef" /><Relationship Type="http://schemas.openxmlformats.org/officeDocument/2006/relationships/tableStyles" Target="/ppt/tableStyles.xml" Id="R7c5fb6ae89cb46be" /><Relationship Type="http://schemas.openxmlformats.org/officeDocument/2006/relationships/slide" Target="/ppt/slides/slide1.xml" Id="R9f21069082a9407a" /><Relationship Type="http://schemas.openxmlformats.org/officeDocument/2006/relationships/slide" Target="/ppt/slides/slide2.xml" Id="R2e25c91a179f450d" /><Relationship Type="http://schemas.openxmlformats.org/officeDocument/2006/relationships/slide" Target="/ppt/slides/slide3.xml" Id="Ra4ad1fa910a04bfb" /><Relationship Type="http://schemas.openxmlformats.org/officeDocument/2006/relationships/slide" Target="/ppt/slides/slide4.xml" Id="Re6be907fc6884e17" /><Relationship Type="http://schemas.openxmlformats.org/officeDocument/2006/relationships/slide" Target="/ppt/slides/slide5.xml" Id="R09d13b3a80ba4cde" /><Relationship Type="http://schemas.openxmlformats.org/officeDocument/2006/relationships/slide" Target="/ppt/slides/slide6.xml" Id="R5b872b4d29cd4d2c" /><Relationship Type="http://schemas.openxmlformats.org/officeDocument/2006/relationships/slide" Target="/ppt/slides/slide7.xml" Id="R8624e1869d2e4eb4" /><Relationship Type="http://schemas.openxmlformats.org/officeDocument/2006/relationships/slide" Target="/ppt/slides/slide8.xml" Id="R0321ad34597141c7" /><Relationship Type="http://schemas.openxmlformats.org/officeDocument/2006/relationships/slide" Target="/ppt/slides/slide9.xml" Id="R3e2e73fbb5444f63" /><Relationship Type="http://schemas.openxmlformats.org/officeDocument/2006/relationships/slide" Target="/ppt/slides/slide10.xml" Id="Rfec96b3009004907" /><Relationship Type="http://schemas.openxmlformats.org/officeDocument/2006/relationships/slide" Target="/ppt/slides/slide11.xml" Id="Rf6a292ff3be84c59" /><Relationship Type="http://schemas.openxmlformats.org/officeDocument/2006/relationships/slide" Target="/ppt/slides/slide12.xml" Id="R92af33a0b7084924" /><Relationship Type="http://schemas.openxmlformats.org/officeDocument/2006/relationships/slide" Target="/ppt/slides/slide13.xml" Id="R5ce721fe51aa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376df53290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e68899dd547b8" /><Relationship Type="http://schemas.openxmlformats.org/officeDocument/2006/relationships/notesMaster" Target="/ppt/notesMasters/notesMaster1.xml" Id="R74ad87c30e9c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9dd89940a48d3" /><Relationship Type="http://schemas.openxmlformats.org/officeDocument/2006/relationships/notesMaster" Target="/ppt/notesMasters/notesMaster1.xml" Id="R82de59f4cd114e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17bdbb80c40b2" /><Relationship Type="http://schemas.openxmlformats.org/officeDocument/2006/relationships/notesMaster" Target="/ppt/notesMasters/notesMaster1.xml" Id="R50eceaa8141c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945b9f6f84367" /><Relationship Type="http://schemas.openxmlformats.org/officeDocument/2006/relationships/notesMaster" Target="/ppt/notesMasters/notesMaster1.xml" Id="R1bcd178ad67c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13559268a642f4" /><Relationship Type="http://schemas.openxmlformats.org/officeDocument/2006/relationships/notesMaster" Target="/ppt/notesMasters/notesMaster1.xml" Id="Rab44ec3c98bb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e43e2c64f9480f" /><Relationship Type="http://schemas.openxmlformats.org/officeDocument/2006/relationships/notesMaster" Target="/ppt/notesMasters/notesMaster1.xml" Id="R0b6d13ea12e04d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131d81c4b40f7" /><Relationship Type="http://schemas.openxmlformats.org/officeDocument/2006/relationships/notesMaster" Target="/ppt/notesMasters/notesMaster1.xml" Id="R45299e9807b448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e2a0c817c84e3c" /><Relationship Type="http://schemas.openxmlformats.org/officeDocument/2006/relationships/notesMaster" Target="/ppt/notesMasters/notesMaster1.xml" Id="Ra5d65a6539b849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c463be92374043" /><Relationship Type="http://schemas.openxmlformats.org/officeDocument/2006/relationships/notesMaster" Target="/ppt/notesMasters/notesMaster1.xml" Id="Rb09d3fe351ea49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57f3e0b20c4d70" /><Relationship Type="http://schemas.openxmlformats.org/officeDocument/2006/relationships/notesMaster" Target="/ppt/notesMasters/notesMaster1.xml" Id="Rbd40711bb67e4c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394fcc37a54596" /><Relationship Type="http://schemas.openxmlformats.org/officeDocument/2006/relationships/notesMaster" Target="/ppt/notesMasters/notesMaster1.xml" Id="R084ada06d63842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ecc572c3284390" /><Relationship Type="http://schemas.openxmlformats.org/officeDocument/2006/relationships/notesMaster" Target="/ppt/notesMasters/notesMaster1.xml" Id="R463a7c22b16a46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17a834b0cb4706" /><Relationship Type="http://schemas.openxmlformats.org/officeDocument/2006/relationships/notesMaster" Target="/ppt/notesMasters/notesMaster1.xml" Id="Rf800232febe0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080772eb94c3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d7a6f1398646ad" /><Relationship Type="http://schemas.openxmlformats.org/officeDocument/2006/relationships/slideLayout" Target="/ppt/slideLayouts/slideLayout2.xml" Id="Rac41a281bfa7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41a281bfa7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b9076b0c04ffd" /><Relationship Type="http://schemas.openxmlformats.org/officeDocument/2006/relationships/notesSlide" Target="/ppt/notesSlides/notesSlide1.xml" Id="Rfd917465bfdb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44c6b6aa14451" /><Relationship Type="http://schemas.openxmlformats.org/officeDocument/2006/relationships/notesSlide" Target="/ppt/notesSlides/notesSlide2.xml" Id="R32aeae7a179b42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5c27cd96b64c74" /><Relationship Type="http://schemas.openxmlformats.org/officeDocument/2006/relationships/notesSlide" Target="/ppt/notesSlides/notesSlide3.xml" Id="R44376035608843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3d894c7044794" /><Relationship Type="http://schemas.openxmlformats.org/officeDocument/2006/relationships/notesSlide" Target="/ppt/notesSlides/notesSlide4.xml" Id="R6dc7c99a2e8348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9a9a828934fe3" /><Relationship Type="http://schemas.openxmlformats.org/officeDocument/2006/relationships/notesSlide" Target="/ppt/notesSlides/notesSlide5.xml" Id="R0a0345f4bc26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2e66b4d0f4e92" /><Relationship Type="http://schemas.openxmlformats.org/officeDocument/2006/relationships/notesSlide" Target="/ppt/notesSlides/notesSlide6.xml" Id="R48db8f4a77e647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06fdd0a63f4c15" /><Relationship Type="http://schemas.openxmlformats.org/officeDocument/2006/relationships/notesSlide" Target="/ppt/notesSlides/notesSlide7.xml" Id="Rd28702742615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deaefd59c443e9" /><Relationship Type="http://schemas.openxmlformats.org/officeDocument/2006/relationships/notesSlide" Target="/ppt/notesSlides/notesSlide8.xml" Id="Rac233082508645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dbfd47b5ee497b" /><Relationship Type="http://schemas.openxmlformats.org/officeDocument/2006/relationships/notesSlide" Target="/ppt/notesSlides/notesSlide9.xml" Id="R6ebd252e37cd42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63814e22942a5" /><Relationship Type="http://schemas.openxmlformats.org/officeDocument/2006/relationships/notesSlide" Target="/ppt/notesSlides/notesSlide10.xml" Id="Ra1e5a79b482940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10ad605c44fe4" /><Relationship Type="http://schemas.openxmlformats.org/officeDocument/2006/relationships/notesSlide" Target="/ppt/notesSlides/notesSlide11.xml" Id="R65f15b00d7c64d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f43073575748d1" /><Relationship Type="http://schemas.openxmlformats.org/officeDocument/2006/relationships/notesSlide" Target="/ppt/notesSlides/notesSlide12.xml" Id="Ra59f9a5a9ddd45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e3e3df60ee46bc" /><Relationship Type="http://schemas.openxmlformats.org/officeDocument/2006/relationships/notesSlide" Target="/ppt/notesSlides/notesSlide13.xml" Id="Rcee2809ae7404f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031D3A03-BD1A-45F2-8796-F050CF0C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</p:spPr>
      </p:sp>
      <p:sp>
        <p:nvSpPr>
          <p:cNvPr id="2" name="cover-band">
            <a:extLst xmlns:a="http://schemas.openxmlformats.org/drawingml/2006/main">
              <a:ext uri="{FF2B5EF4-FFF2-40B4-BE49-F238E27FC236}">
                <a16:creationId xmlns:a16="http://schemas.microsoft.com/office/drawing/2014/main" id="{8A567C44-833C-4219-8ECD-6D7CAEB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3D253134-2CD1-45A5-BF6D-92A970E1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2667000" cy="35097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A247"/>
            </a:solidFill>
            <a:prstDash val="solid"/>
          </a:ln>
        </p:spPr>
      </p:sp>
      <p:sp>
        <p:nvSpPr>
          <p:cNvPr id="4" name="label-text">
            <a:extLst xmlns:a="http://schemas.openxmlformats.org/drawingml/2006/main">
              <a:ext uri="{FF2B5EF4-FFF2-40B4-BE49-F238E27FC236}">
                <a16:creationId xmlns:a16="http://schemas.microsoft.com/office/drawing/2014/main" id="{FEDBF5B6-E9C3-4544-9108-2D51040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D6A247"/>
                </a:solidFill>
              </a:defRPr>
            </a:pPr>
            <a:r>
              <a:rPr sz="1275" b="1">
                <a:solidFill>
                  <a:srgbClr val="D6A247"/>
                </a:solidFill>
              </a:rPr>
              <a:t>UNIFIED REHEARSAL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E5CC5C6-5481-414D-955C-95FC4822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16497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8700" b="1">
                <a:solidFill>
                  <a:srgbClr val="FFFFFF"/>
                </a:solidFill>
              </a:defRPr>
            </a:pPr>
            <a:r>
              <a:rPr sz="8700" b="1">
                <a:solidFill>
                  <a:srgbClr val="FFFFFF"/>
                </a:solidFill>
              </a:rPr>
              <a:t>Incubation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1E5664-A6C4-4D40-83EA-52D4C678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7715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0">
                <a:solidFill>
                  <a:srgbClr val="CFE3D7"/>
                </a:solidFill>
              </a:defRPr>
            </a:pPr>
            <a:r>
              <a:rPr sz="2550" b="0">
                <a:solidFill>
                  <a:srgbClr val="CFE3D7"/>
                </a:solidFill>
              </a:rPr>
              <a:t>SIM ledger truth, IBKR price evidence, paper as probe only.</a:t>
            </a:r>
          </a:p>
        </p:txBody>
      </p:sp>
      <p:sp>
        <p:nvSpPr>
          <p:cNvPr id="7" name="node-Research">
            <a:extLst xmlns:a="http://schemas.openxmlformats.org/drawingml/2006/main">
              <a:ext uri="{FF2B5EF4-FFF2-40B4-BE49-F238E27FC236}">
                <a16:creationId xmlns:a16="http://schemas.microsoft.com/office/drawing/2014/main" id="{7458E742-8E2D-44CB-8E16-CEE2F19B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7246"/>
            <a:ext cx="35671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172B20"/>
          </a:solidFill>
          <a:ln xmlns:a="http://schemas.openxmlformats.org/drawingml/2006/main">
            <a:solidFill>
              <a:srgbClr val="D7E5DC"/>
            </a:solidFill>
            <a:prstDash val="solid"/>
          </a:ln>
        </p:spPr>
      </p:sp>
      <p:sp>
        <p:nvSpPr>
          <p:cNvPr id="8" name="node-label">
            <a:extLst xmlns:a="http://schemas.openxmlformats.org/drawingml/2006/main">
              <a:ext uri="{FF2B5EF4-FFF2-40B4-BE49-F238E27FC236}">
                <a16:creationId xmlns:a16="http://schemas.microsoft.com/office/drawing/2014/main" id="{E668CBB0-C841-40E9-B1A1-FEF9AE6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D7E5DC"/>
                </a:solidFill>
              </a:defRPr>
            </a:pPr>
            <a:r>
              <a:rPr sz="1875" b="1">
                <a:solidFill>
                  <a:srgbClr val="D7E5DC"/>
                </a:solidFill>
              </a:rPr>
              <a:t>Research</a:t>
            </a:r>
          </a:p>
        </p:txBody>
      </p:sp>
      <p:sp>
        <p:nvSpPr>
          <p:cNvPr id="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F0D6B680-F1FB-4930-B136-D27EECF1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B8C9BE"/>
                </a:solidFill>
              </a:defRPr>
            </a:pPr>
            <a:r>
              <a:rPr sz="1575" b="0">
                <a:solidFill>
                  <a:srgbClr val="B8C9BE"/>
                </a:solidFill>
              </a:rPr>
              <a:t>edge and backtest</a:t>
            </a:r>
          </a:p>
        </p:txBody>
      </p:sp>
      <p:sp>
        <p:nvSpPr>
          <p:cNvPr id="10" name="arrow-0">
            <a:extLst xmlns:a="http://schemas.openxmlformats.org/drawingml/2006/main">
              <a:ext uri="{FF2B5EF4-FFF2-40B4-BE49-F238E27FC236}">
                <a16:creationId xmlns:a16="http://schemas.microsoft.com/office/drawing/2014/main" id="{6C40C34B-C71E-44AB-AE6F-DEA4C70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1" name="node-Incubation">
            <a:extLst xmlns:a="http://schemas.openxmlformats.org/drawingml/2006/main">
              <a:ext uri="{FF2B5EF4-FFF2-40B4-BE49-F238E27FC236}">
                <a16:creationId xmlns:a16="http://schemas.microsoft.com/office/drawing/2014/main" id="{328C8DA8-8016-46E2-BD8F-272DA58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327246"/>
            <a:ext cx="35671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1C3A2A"/>
          </a:solidFill>
          <a:ln xmlns:a="http://schemas.openxmlformats.org/drawingml/2006/main">
            <a:solidFill>
              <a:srgbClr val="D6A247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CC14FF57-A74A-459E-A423-F702C2A3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D6A247"/>
                </a:solidFill>
              </a:defRPr>
            </a:pPr>
            <a:r>
              <a:rPr sz="1875" b="1">
                <a:solidFill>
                  <a:srgbClr val="D6A247"/>
                </a:solidFill>
              </a:rPr>
              <a:t>Incubation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012BF7E-7C12-4107-80D4-761603FB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3395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B8C9BE"/>
                </a:solidFill>
              </a:defRPr>
            </a:pPr>
            <a:r>
              <a:rPr sz="1575" b="0">
                <a:solidFill>
                  <a:srgbClr val="B8C9BE"/>
                </a:solidFill>
              </a:rPr>
              <a:t>client rehearsal</a:t>
            </a:r>
          </a:p>
        </p:txBody>
      </p:sp>
      <p:sp>
        <p:nvSpPr>
          <p:cNvPr id="14" name="arrow-1">
            <a:extLst xmlns:a="http://schemas.openxmlformats.org/drawingml/2006/main">
              <a:ext uri="{FF2B5EF4-FFF2-40B4-BE49-F238E27FC236}">
                <a16:creationId xmlns:a16="http://schemas.microsoft.com/office/drawing/2014/main" id="{1C8699FD-ED76-4F8B-AD77-74202E57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5" name="node-Probe">
            <a:extLst xmlns:a="http://schemas.openxmlformats.org/drawingml/2006/main">
              <a:ext uri="{FF2B5EF4-FFF2-40B4-BE49-F238E27FC236}">
                <a16:creationId xmlns:a16="http://schemas.microsoft.com/office/drawing/2014/main" id="{3B22E7B5-F44A-4A02-9337-DEEFE69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27246"/>
            <a:ext cx="35671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17363A"/>
          </a:solidFill>
          <a:ln xmlns:a="http://schemas.openxmlformats.org/drawingml/2006/main">
            <a:solidFill>
              <a:srgbClr val="5DB0B8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1B8AD63C-8B3A-44C9-B399-4ED48844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33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5DB0B8"/>
                </a:solidFill>
              </a:defRPr>
            </a:pPr>
            <a:r>
              <a:rPr sz="1875" b="1">
                <a:solidFill>
                  <a:srgbClr val="5DB0B8"/>
                </a:solidFill>
              </a:rPr>
              <a:t>Probe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FCF95C9E-0667-4104-AB43-B8ADEAE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3395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B8C9BE"/>
                </a:solidFill>
              </a:defRPr>
            </a:pPr>
            <a:r>
              <a:rPr sz="1575" b="0">
                <a:solidFill>
                  <a:srgbClr val="B8C9BE"/>
                </a:solidFill>
              </a:rPr>
              <a:t>IBKR paper evidence</a:t>
            </a:r>
          </a:p>
        </p:txBody>
      </p:sp>
      <p:sp>
        <p:nvSpPr>
          <p:cNvPr id="18" name="arrow-2">
            <a:extLst xmlns:a="http://schemas.openxmlformats.org/drawingml/2006/main">
              <a:ext uri="{FF2B5EF4-FFF2-40B4-BE49-F238E27FC236}">
                <a16:creationId xmlns:a16="http://schemas.microsoft.com/office/drawing/2014/main" id="{BC446362-DD9C-4876-AB94-B481056E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32435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9" name="node-Live">
            <a:extLst xmlns:a="http://schemas.openxmlformats.org/drawingml/2006/main">
              <a:ext uri="{FF2B5EF4-FFF2-40B4-BE49-F238E27FC236}">
                <a16:creationId xmlns:a16="http://schemas.microsoft.com/office/drawing/2014/main" id="{E0DFA1FF-2516-4FE7-83A4-F4A2618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5538" y="4327246"/>
            <a:ext cx="35671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172A40"/>
          </a:solidFill>
          <a:ln xmlns:a="http://schemas.openxmlformats.org/drawingml/2006/main">
            <a:solidFill>
              <a:srgbClr val="83A8D8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2C250F65-D3AB-42E2-B9D1-14D47D4C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533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83A8D8"/>
                </a:solidFill>
              </a:defRPr>
            </a:pPr>
            <a:r>
              <a:rPr sz="1875" b="1">
                <a:solidFill>
                  <a:srgbClr val="83A8D8"/>
                </a:solidFill>
              </a:rPr>
              <a:t>Live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8F8F740E-9A8F-4055-B150-A12E99A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93395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B8C9BE"/>
                </a:solidFill>
              </a:defRPr>
            </a:pPr>
            <a:r>
              <a:rPr sz="1575" b="0">
                <a:solidFill>
                  <a:srgbClr val="B8C9BE"/>
                </a:solidFill>
              </a:rPr>
              <a:t>small then scale</a:t>
            </a:r>
          </a:p>
        </p:txBody>
      </p:sp>
    </p:spTree>
    <p:extLst>
      <p:ext uri="{BB962C8B-B14F-4D97-AF65-F5344CB8AC3E}">
        <p14:creationId xmlns:p14="http://schemas.microsoft.com/office/powerpoint/2010/main" val="4911053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ABCA1D6-91C9-467E-870F-4D50A86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4DDDDB7-4E75-483F-AF75-CC5FB3A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PURPOSE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185FC4-E8CB-4DAA-B887-A5FE99F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4965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Incubation answers one operational question.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2CC947-41C9-4DE5-9BA1-92CA895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0344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Can this client stack run the strategy through the live process without using broker fills as truth?</a:t>
            </a:r>
          </a:p>
        </p:txBody>
      </p:sp>
      <p:sp>
        <p:nvSpPr>
          <p:cNvPr id="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B3123FBF-BD3E-4A8B-9C77-284C4F9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618CD8D-C344-42AA-BF28-F9E5C648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01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StrategyHost creates the decision.</a:t>
            </a:r>
          </a:p>
        </p:txBody>
      </p:sp>
      <p:sp>
        <p:nvSpPr>
          <p:cNvPr id="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892BBD7-05C8-4236-B0B8-D250AC69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E371489-AF46-4DC6-A2F6-9066C1B4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901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DecisionPlan becomes a VPlan / order intent.</a:t>
            </a:r>
          </a:p>
        </p:txBody>
      </p:sp>
      <p:sp>
        <p:nvSpPr>
          <p:cNvPr id="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AB9635FA-38C1-4125-91FB-2012119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DBEF031-A86F-4654-891D-8D548B75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901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SIM broker accepts, settles, reconciles, and updates PodState.</a:t>
            </a:r>
          </a:p>
        </p:txBody>
      </p:sp>
      <p:sp>
        <p:nvSpPr>
          <p:cNvPr id="11" name="bullet-mark">
            <a:extLst xmlns:a="http://schemas.openxmlformats.org/drawingml/2006/main">
              <a:ext uri="{FF2B5EF4-FFF2-40B4-BE49-F238E27FC236}">
                <a16:creationId xmlns:a16="http://schemas.microsoft.com/office/drawing/2014/main" id="{CA7614E9-1B24-454D-A67C-9FADEBC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29A49AF-E1FD-4D9B-BC84-DA63237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901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IBKR is used only where real price/reference evidence is needed.</a:t>
            </a:r>
          </a:p>
        </p:txBody>
      </p:sp>
      <p:sp>
        <p:nvSpPr>
          <p:cNvPr id="13" name="not-proof-panel">
            <a:extLst xmlns:a="http://schemas.openxmlformats.org/drawingml/2006/main">
              <a:ext uri="{FF2B5EF4-FFF2-40B4-BE49-F238E27FC236}">
                <a16:creationId xmlns:a16="http://schemas.microsoft.com/office/drawing/2014/main" id="{4EF3E1F6-F9FD-44EB-9E68-078E3478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1326" y="3503524"/>
            <a:ext cx="6857524" cy="2374849"/>
          </a:xfrm>
          <a:prstGeom xmlns:a="http://schemas.openxmlformats.org/drawingml/2006/main" prst="roundRect">
            <a:avLst>
              <a:gd name="adj" fmla="val 7219"/>
            </a:avLst>
          </a:prstGeom>
          <a:solidFill xmlns:a="http://schemas.openxmlformats.org/drawingml/2006/main">
            <a:srgbClr val="F3DEDC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14" name="not-proof-title">
            <a:extLst xmlns:a="http://schemas.openxmlformats.org/drawingml/2006/main">
              <a:ext uri="{FF2B5EF4-FFF2-40B4-BE49-F238E27FC236}">
                <a16:creationId xmlns:a16="http://schemas.microsoft.com/office/drawing/2014/main" id="{D7E2ADCC-3862-4AE8-9D5B-FC42E00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752850"/>
            <a:ext cx="628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A43E32"/>
                </a:solidFill>
              </a:defRPr>
            </a:pPr>
            <a:r>
              <a:rPr sz="2100" b="1">
                <a:solidFill>
                  <a:srgbClr val="A43E32"/>
                </a:solidFill>
              </a:rPr>
              <a:t>It does not prove</a:t>
            </a:r>
          </a:p>
        </p:txBody>
      </p:sp>
      <p:sp>
        <p:nvSpPr>
          <p:cNvPr id="1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543EABD9-0742-4271-AB39-1193E45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E32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3A75AD4-4FB2-428D-B3BE-61F50D6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248150"/>
            <a:ext cx="601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alpha</a:t>
            </a:r>
          </a:p>
        </p:txBody>
      </p:sp>
      <p:sp>
        <p:nvSpPr>
          <p:cNvPr id="1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12CC8774-4275-4A1C-9B3F-482649BC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762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E32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1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33C4B62-7957-4E44-8CC4-8A96EC6F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762500"/>
            <a:ext cx="601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real broker execution quality</a:t>
            </a:r>
          </a:p>
        </p:txBody>
      </p:sp>
      <p:sp>
        <p:nvSpPr>
          <p:cNvPr id="1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20760062-CD95-4996-9798-499BC0C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E32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2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33121FD-194D-48F8-A379-7D2E560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257800"/>
            <a:ext cx="601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partial fills, rejects, latency, or queue behavior</a:t>
            </a:r>
          </a:p>
        </p:txBody>
      </p:sp>
    </p:spTree>
    <p:extLst>
      <p:ext uri="{BB962C8B-B14F-4D97-AF65-F5344CB8AC3E}">
        <p14:creationId xmlns:p14="http://schemas.microsoft.com/office/powerpoint/2010/main" val="8168269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7C6402A-9DE7-464F-B6DD-252A0F9A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ADEF745-C482-4B6C-B0BD-D07DE1F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OPERATOR STORY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824C11-4627-4090-BDD4-58F23826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90678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One ladder, not separate product lanes.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30CECA-78A7-4F01-8C35-B60BA76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782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Incubation is the rehearsal state. Paper is a broker probe. Live starts tiny.</a:t>
            </a:r>
          </a:p>
        </p:txBody>
      </p:sp>
      <p:sp>
        <p:nvSpPr>
          <p:cNvPr id="5" name="node-Backtest">
            <a:extLst xmlns:a="http://schemas.openxmlformats.org/drawingml/2006/main">
              <a:ext uri="{FF2B5EF4-FFF2-40B4-BE49-F238E27FC236}">
                <a16:creationId xmlns:a16="http://schemas.microsoft.com/office/drawing/2014/main" id="{12E99F1B-1576-4A71-A2D1-DDE940B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3524"/>
            <a:ext cx="2735580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7EEF7"/>
          </a:solidFill>
          <a:ln xmlns:a="http://schemas.openxmlformats.org/drawingml/2006/main">
            <a:solidFill>
              <a:srgbClr val="2F5F98"/>
            </a:solidFill>
            <a:prstDash val="solid"/>
          </a:ln>
        </p:spPr>
      </p:sp>
      <p:sp>
        <p:nvSpPr>
          <p:cNvPr id="6" name="node-label">
            <a:extLst xmlns:a="http://schemas.openxmlformats.org/drawingml/2006/main">
              <a:ext uri="{FF2B5EF4-FFF2-40B4-BE49-F238E27FC236}">
                <a16:creationId xmlns:a16="http://schemas.microsoft.com/office/drawing/2014/main" id="{8FF7EB97-BF69-40FB-94E5-84A00A7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Backtest</a:t>
            </a:r>
          </a:p>
        </p:txBody>
      </p:sp>
      <p:sp>
        <p:nvSpPr>
          <p:cNvPr id="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8326FF3-3DEB-4E03-B03C-9762B981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research semantics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5C2436ED-9EAC-4420-8317-F0673C48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9" name="node-Incubation">
            <a:extLst xmlns:a="http://schemas.openxmlformats.org/drawingml/2006/main">
              <a:ext uri="{FF2B5EF4-FFF2-40B4-BE49-F238E27FC236}">
                <a16:creationId xmlns:a16="http://schemas.microsoft.com/office/drawing/2014/main" id="{D811A450-B3E2-4317-AC8D-C82F68C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503524"/>
            <a:ext cx="2735580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node-label">
            <a:extLst xmlns:a="http://schemas.openxmlformats.org/drawingml/2006/main">
              <a:ext uri="{FF2B5EF4-FFF2-40B4-BE49-F238E27FC236}">
                <a16:creationId xmlns:a16="http://schemas.microsoft.com/office/drawing/2014/main" id="{20465AC6-0278-47EB-BCB5-692952CF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Incubation</a:t>
            </a:r>
          </a:p>
        </p:txBody>
      </p:sp>
      <p:sp>
        <p:nvSpPr>
          <p:cNvPr id="1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D0AA679D-B469-46E8-8990-68627486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SIM ledger rehearsal</a:t>
            </a:r>
          </a:p>
        </p:txBody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33A12B4B-2CFE-41FC-BA5A-C0EC825F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3" name="node-Paper probe">
            <a:extLst xmlns:a="http://schemas.openxmlformats.org/drawingml/2006/main">
              <a:ext uri="{FF2B5EF4-FFF2-40B4-BE49-F238E27FC236}">
                <a16:creationId xmlns:a16="http://schemas.microsoft.com/office/drawing/2014/main" id="{74DBA4B8-DFC8-4CEE-82A7-D533C381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503524"/>
            <a:ext cx="2735580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3F2F2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14" name="node-label">
            <a:extLst xmlns:a="http://schemas.openxmlformats.org/drawingml/2006/main">
              <a:ext uri="{FF2B5EF4-FFF2-40B4-BE49-F238E27FC236}">
                <a16:creationId xmlns:a16="http://schemas.microsoft.com/office/drawing/2014/main" id="{8EE5AF1A-01C3-42BA-B621-4A6A181B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Paper probe</a:t>
            </a:r>
          </a:p>
        </p:txBody>
      </p:sp>
      <p:sp>
        <p:nvSpPr>
          <p:cNvPr id="15" name="node-detail">
            <a:extLst xmlns:a="http://schemas.openxmlformats.org/drawingml/2006/main">
              <a:ext uri="{FF2B5EF4-FFF2-40B4-BE49-F238E27FC236}">
                <a16:creationId xmlns:a16="http://schemas.microsoft.com/office/drawing/2014/main" id="{00A82A69-AD5B-4511-8E95-D072C9B0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IBC / TWS / API evidence</a:t>
            </a:r>
          </a:p>
        </p:txBody>
      </p:sp>
      <p:sp>
        <p:nvSpPr>
          <p:cNvPr id="16" name="arrow-2">
            <a:extLst xmlns:a="http://schemas.openxmlformats.org/drawingml/2006/main">
              <a:ext uri="{FF2B5EF4-FFF2-40B4-BE49-F238E27FC236}">
                <a16:creationId xmlns:a16="http://schemas.microsoft.com/office/drawing/2014/main" id="{B547060B-05CD-4382-BEAA-D707D0A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7" name="node-Small live">
            <a:extLst xmlns:a="http://schemas.openxmlformats.org/drawingml/2006/main">
              <a:ext uri="{FF2B5EF4-FFF2-40B4-BE49-F238E27FC236}">
                <a16:creationId xmlns:a16="http://schemas.microsoft.com/office/drawing/2014/main" id="{755B6862-611D-4A1F-B901-EFA6E7B5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740" y="3503524"/>
            <a:ext cx="2735580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18" name="node-label">
            <a:extLst xmlns:a="http://schemas.openxmlformats.org/drawingml/2006/main">
              <a:ext uri="{FF2B5EF4-FFF2-40B4-BE49-F238E27FC236}">
                <a16:creationId xmlns:a16="http://schemas.microsoft.com/office/drawing/2014/main" id="{FB91D1D4-4C1C-486D-B634-1ABEB0F9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7147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B97916"/>
                </a:solidFill>
              </a:defRPr>
            </a:pPr>
            <a:r>
              <a:rPr sz="1875" b="1">
                <a:solidFill>
                  <a:srgbClr val="B97916"/>
                </a:solidFill>
              </a:rPr>
              <a:t>Small live</a:t>
            </a:r>
          </a:p>
        </p:txBody>
      </p:sp>
      <p:sp>
        <p:nvSpPr>
          <p:cNvPr id="1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CC63271-CF7B-4E9E-B8B6-7BE8F601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148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real broker canary</a:t>
            </a:r>
          </a:p>
        </p:txBody>
      </p:sp>
      <p:sp>
        <p:nvSpPr>
          <p:cNvPr id="20" name="arrow-3">
            <a:extLst xmlns:a="http://schemas.openxmlformats.org/drawingml/2006/main">
              <a:ext uri="{FF2B5EF4-FFF2-40B4-BE49-F238E27FC236}">
                <a16:creationId xmlns:a16="http://schemas.microsoft.com/office/drawing/2014/main" id="{477E6960-B1FB-465F-A595-3A9B0714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21" name="node-Bigger live">
            <a:extLst xmlns:a="http://schemas.openxmlformats.org/drawingml/2006/main">
              <a:ext uri="{FF2B5EF4-FFF2-40B4-BE49-F238E27FC236}">
                <a16:creationId xmlns:a16="http://schemas.microsoft.com/office/drawing/2014/main" id="{77453698-9319-44B8-BB43-6A096F6D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3270" y="3503524"/>
            <a:ext cx="2735580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231D"/>
            </a:solidFill>
            <a:prstDash val="solid"/>
          </a:ln>
        </p:spPr>
      </p:sp>
      <p:sp>
        <p:nvSpPr>
          <p:cNvPr id="22" name="node-label">
            <a:extLst xmlns:a="http://schemas.openxmlformats.org/drawingml/2006/main">
              <a:ext uri="{FF2B5EF4-FFF2-40B4-BE49-F238E27FC236}">
                <a16:creationId xmlns:a16="http://schemas.microsoft.com/office/drawing/2014/main" id="{81459F9E-1D3C-4502-A567-83661D4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7147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7231D"/>
                </a:solidFill>
              </a:defRPr>
            </a:pPr>
            <a:r>
              <a:rPr sz="1875" b="1">
                <a:solidFill>
                  <a:srgbClr val="17231D"/>
                </a:solidFill>
              </a:rPr>
              <a:t>Bigger live</a:t>
            </a:r>
          </a:p>
        </p:txBody>
      </p:sp>
      <p:sp>
        <p:nvSpPr>
          <p:cNvPr id="2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8EB2F445-D705-434F-A2E6-8D1836B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1148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after evidence</a:t>
            </a:r>
          </a:p>
        </p:txBody>
      </p:sp>
      <p:sp>
        <p:nvSpPr>
          <p:cNvPr id="2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C642AA4-EE95-42F7-A0CC-020A49A3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5200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6150" b="1">
                <a:solidFill>
                  <a:srgbClr val="1D6B4F"/>
                </a:solidFill>
              </a:defRPr>
            </a:pPr>
            <a:r>
              <a:rPr sz="6150" b="1">
                <a:solidFill>
                  <a:srgbClr val="1D6B4F"/>
                </a:solidFill>
              </a:rPr>
              <a:t>1</a:t>
            </a:r>
          </a:p>
        </p:txBody>
      </p:sp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7F73A2-D768-422A-914C-4E6872F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17231D"/>
                </a:solidFill>
              </a:defRPr>
            </a:pPr>
            <a:r>
              <a:rPr sz="1875" b="1">
                <a:solidFill>
                  <a:srgbClr val="17231D"/>
                </a:solidFill>
              </a:rPr>
              <a:t>Paper fills never become rehearsal P&amp;L.</a:t>
            </a:r>
          </a:p>
        </p:txBody>
      </p:sp>
      <p:sp>
        <p:nvSpPr>
          <p:cNvPr id="2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6AD7077-025F-4F33-89DB-0540EE8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48250"/>
            <a:ext cx="5200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6150" b="1">
                <a:solidFill>
                  <a:srgbClr val="1E7D83"/>
                </a:solidFill>
              </a:defRPr>
            </a:pPr>
            <a:r>
              <a:rPr sz="6150" b="1">
                <a:solidFill>
                  <a:srgbClr val="1E7D83"/>
                </a:solidFill>
              </a:rPr>
              <a:t>2</a:t>
            </a:r>
          </a:p>
        </p:txBody>
      </p:sp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9B29099-8D54-458E-AF1E-3ED014C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388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17231D"/>
                </a:solidFill>
              </a:defRPr>
            </a:pPr>
            <a:r>
              <a:rPr sz="1875" b="1">
                <a:solidFill>
                  <a:srgbClr val="17231D"/>
                </a:solidFill>
              </a:rPr>
              <a:t>Promotion is cycle-based, not calendar theater.</a:t>
            </a:r>
          </a:p>
        </p:txBody>
      </p:sp>
      <p:sp>
        <p:nvSpPr>
          <p:cNvPr id="2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8BED7AB-81B9-4E8E-BE44-F8AFCCC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048250"/>
            <a:ext cx="5200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6150" b="1">
                <a:solidFill>
                  <a:srgbClr val="B97916"/>
                </a:solidFill>
              </a:defRPr>
            </a:pPr>
            <a:r>
              <a:rPr sz="6150" b="1">
                <a:solidFill>
                  <a:srgbClr val="B97916"/>
                </a:solidFill>
              </a:rPr>
              <a:t>3</a:t>
            </a:r>
          </a:p>
        </p:txBody>
      </p:sp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D690355-6A35-4E17-80BB-E0FB573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3885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17231D"/>
                </a:solidFill>
              </a:defRPr>
            </a:pPr>
            <a:r>
              <a:rPr sz="1875" b="1">
                <a:solidFill>
                  <a:srgbClr val="17231D"/>
                </a:solidFill>
              </a:rPr>
              <a:t>Small live validates actual execution before scale.</a:t>
            </a:r>
          </a:p>
        </p:txBody>
      </p:sp>
    </p:spTree>
    <p:extLst>
      <p:ext uri="{BB962C8B-B14F-4D97-AF65-F5344CB8AC3E}">
        <p14:creationId xmlns:p14="http://schemas.microsoft.com/office/powerpoint/2010/main" val="2269415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5B4CCA8-9CF8-4284-9F0C-146BAA2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6D4A6CA-004E-42CD-AEF7-B282898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TRUTH BOUNDARY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EC4445-F41E-4050-8ABC-A3E35198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10871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Do not mix accounting truth with broker probes.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F5EAFF-407C-4917-99EF-B3342D4F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5867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This separation is the whole point of unified rehearsal.</a:t>
            </a:r>
          </a:p>
        </p:txBody>
      </p:sp>
      <p:sp>
        <p:nvSpPr>
          <p:cNvPr id="5" name="node-SIM ledger">
            <a:extLst xmlns:a="http://schemas.openxmlformats.org/drawingml/2006/main">
              <a:ext uri="{FF2B5EF4-FFF2-40B4-BE49-F238E27FC236}">
                <a16:creationId xmlns:a16="http://schemas.microsoft.com/office/drawing/2014/main" id="{FB489300-0538-4076-8633-FEFAA160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1171"/>
            <a:ext cx="5334000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6" name="node-label">
            <a:extLst xmlns:a="http://schemas.openxmlformats.org/drawingml/2006/main">
              <a:ext uri="{FF2B5EF4-FFF2-40B4-BE49-F238E27FC236}">
                <a16:creationId xmlns:a16="http://schemas.microsoft.com/office/drawing/2014/main" id="{F90DEC97-1D5C-4103-B387-15C7CA4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SIM ledger</a:t>
            </a:r>
          </a:p>
        </p:txBody>
      </p:sp>
      <p:sp>
        <p:nvSpPr>
          <p:cNvPr id="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9698C31-4FE8-4A62-BB66-C81EB3E4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487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Official rehearsal cash, positions, fills, P&amp;L, and PodState.</a:t>
            </a:r>
          </a:p>
        </p:txBody>
      </p:sp>
      <p:sp>
        <p:nvSpPr>
          <p:cNvPr id="8" name="node-IBKR price evidence">
            <a:extLst xmlns:a="http://schemas.openxmlformats.org/drawingml/2006/main">
              <a:ext uri="{FF2B5EF4-FFF2-40B4-BE49-F238E27FC236}">
                <a16:creationId xmlns:a16="http://schemas.microsoft.com/office/drawing/2014/main" id="{3AD69329-42EE-4ECB-A47F-D36437AB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1171"/>
            <a:ext cx="5334000" cy="1372210"/>
          </a:xfrm>
          <a:prstGeom xmlns:a="http://schemas.openxmlformats.org/drawingml/2006/main" prst="roundRect">
            <a:avLst>
              <a:gd name="adj" fmla="val 12494"/>
            </a:avLst>
          </a:prstGeom>
          <a:solidFill xmlns:a="http://schemas.openxmlformats.org/drawingml/2006/main">
            <a:srgbClr val="E3F2F2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9" name="node-label">
            <a:extLst xmlns:a="http://schemas.openxmlformats.org/drawingml/2006/main">
              <a:ext uri="{FF2B5EF4-FFF2-40B4-BE49-F238E27FC236}">
                <a16:creationId xmlns:a16="http://schemas.microsoft.com/office/drawing/2014/main" id="{F9E1ABC1-2E34-4703-9844-9E3A1FF8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IBKR price evidence</a:t>
            </a:r>
          </a:p>
        </p:txBody>
      </p:sp>
      <p:sp>
        <p:nvSpPr>
          <p:cNvPr id="1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ABB1CF4-8C8D-4A83-A7AC-89A6DBC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Reference/open-price reads used by the SIM ledger for MOO plumbing.</a:t>
            </a:r>
          </a:p>
        </p:txBody>
      </p:sp>
      <p:sp>
        <p:nvSpPr>
          <p:cNvPr id="11" name="node-Paper probe">
            <a:extLst xmlns:a="http://schemas.openxmlformats.org/drawingml/2006/main">
              <a:ext uri="{FF2B5EF4-FFF2-40B4-BE49-F238E27FC236}">
                <a16:creationId xmlns:a16="http://schemas.microsoft.com/office/drawing/2014/main" id="{2D58EB45-E054-46BB-8A83-21D5937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881171"/>
            <a:ext cx="5334000" cy="1372210"/>
          </a:xfrm>
          <a:prstGeom xmlns:a="http://schemas.openxmlformats.org/drawingml/2006/main" prst="roundRect">
            <a:avLst>
              <a:gd name="adj" fmla="val 12494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A4A952AF-2920-4EC8-87DA-6432BFAD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957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B97916"/>
                </a:solidFill>
              </a:defRPr>
            </a:pPr>
            <a:r>
              <a:rPr sz="1875" b="1">
                <a:solidFill>
                  <a:srgbClr val="B97916"/>
                </a:solidFill>
              </a:rPr>
              <a:t>Paper probe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E0DD837F-A6F0-4D1F-950C-D9D67DC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4958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Connectivity, account visibility, contract qualification, and optional API reject/accept evidence.</a:t>
            </a:r>
          </a:p>
        </p:txBody>
      </p:sp>
    </p:spTree>
    <p:extLst>
      <p:ext uri="{BB962C8B-B14F-4D97-AF65-F5344CB8AC3E}">
        <p14:creationId xmlns:p14="http://schemas.microsoft.com/office/powerpoint/2010/main" val="13482769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214DD62-9CC3-495C-87FB-966DABB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BD483F8-E127-42AF-B3BF-92CE4D86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MOO CYCLE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A8CB80-50CF-4BD0-81D9-EDA76420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3632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The full rehearsal cycle has to cross the open.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600BFD-D36A-4AF6-A235-FB43A284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422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A VPlan alone is not a completed cycle.</a:t>
            </a:r>
          </a:p>
        </p:txBody>
      </p:sp>
      <p:sp>
        <p:nvSpPr>
          <p:cNvPr id="5" name="node-Signal">
            <a:extLst xmlns:a="http://schemas.openxmlformats.org/drawingml/2006/main">
              <a:ext uri="{FF2B5EF4-FFF2-40B4-BE49-F238E27FC236}">
                <a16:creationId xmlns:a16="http://schemas.microsoft.com/office/drawing/2014/main" id="{EFDFE5F5-0DCB-4A08-A42F-94F3D9F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7EEF7"/>
          </a:solidFill>
          <a:ln xmlns:a="http://schemas.openxmlformats.org/drawingml/2006/main">
            <a:solidFill>
              <a:srgbClr val="2F5F98"/>
            </a:solidFill>
            <a:prstDash val="solid"/>
          </a:ln>
        </p:spPr>
      </p:sp>
      <p:sp>
        <p:nvSpPr>
          <p:cNvPr id="6" name="node-label">
            <a:extLst xmlns:a="http://schemas.openxmlformats.org/drawingml/2006/main">
              <a:ext uri="{FF2B5EF4-FFF2-40B4-BE49-F238E27FC236}">
                <a16:creationId xmlns:a16="http://schemas.microsoft.com/office/drawing/2014/main" id="{942A3F79-8F91-4124-AFC6-41DB9672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Signal</a:t>
            </a:r>
          </a:p>
        </p:txBody>
      </p:sp>
      <p:sp>
        <p:nvSpPr>
          <p:cNvPr id="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BCE3E54-5493-4C25-8E91-E2F4FDC7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approved prior data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B6725A0E-2A87-4EB1-B6E2-BF56777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9" name="node-VPlan">
            <a:extLst xmlns:a="http://schemas.openxmlformats.org/drawingml/2006/main">
              <a:ext uri="{FF2B5EF4-FFF2-40B4-BE49-F238E27FC236}">
                <a16:creationId xmlns:a16="http://schemas.microsoft.com/office/drawing/2014/main" id="{DC3645EC-E635-49AA-924D-B54373F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node-label">
            <a:extLst xmlns:a="http://schemas.openxmlformats.org/drawingml/2006/main">
              <a:ext uri="{FF2B5EF4-FFF2-40B4-BE49-F238E27FC236}">
                <a16:creationId xmlns:a16="http://schemas.microsoft.com/office/drawing/2014/main" id="{E79467E9-8D7B-4E69-BC1D-E32B832C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VPlan</a:t>
            </a:r>
          </a:p>
        </p:txBody>
      </p:sp>
      <p:sp>
        <p:nvSpPr>
          <p:cNvPr id="1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488BB725-13A6-4CD0-BB79-261069B1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target shares</a:t>
            </a:r>
          </a:p>
        </p:txBody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2897AF1A-1D23-4EA7-B9F2-23B0C7D3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3" name="node-Submit">
            <a:extLst xmlns:a="http://schemas.openxmlformats.org/drawingml/2006/main">
              <a:ext uri="{FF2B5EF4-FFF2-40B4-BE49-F238E27FC236}">
                <a16:creationId xmlns:a16="http://schemas.microsoft.com/office/drawing/2014/main" id="{9B9B1599-CC88-4D57-BA1F-7A6F90B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4" name="node-label">
            <a:extLst xmlns:a="http://schemas.openxmlformats.org/drawingml/2006/main">
              <a:ext uri="{FF2B5EF4-FFF2-40B4-BE49-F238E27FC236}">
                <a16:creationId xmlns:a16="http://schemas.microsoft.com/office/drawing/2014/main" id="{74FBC1E4-C221-4950-B312-2D80FF47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Submit</a:t>
            </a:r>
          </a:p>
        </p:txBody>
      </p:sp>
      <p:sp>
        <p:nvSpPr>
          <p:cNvPr id="15" name="node-detail">
            <a:extLst xmlns:a="http://schemas.openxmlformats.org/drawingml/2006/main">
              <a:ext uri="{FF2B5EF4-FFF2-40B4-BE49-F238E27FC236}">
                <a16:creationId xmlns:a16="http://schemas.microsoft.com/office/drawing/2014/main" id="{428C4921-A92A-4E04-9955-2E32BCB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SIM broker</a:t>
            </a:r>
          </a:p>
        </p:txBody>
      </p:sp>
      <p:sp>
        <p:nvSpPr>
          <p:cNvPr id="16" name="arrow-2">
            <a:extLst xmlns:a="http://schemas.openxmlformats.org/drawingml/2006/main">
              <a:ext uri="{FF2B5EF4-FFF2-40B4-BE49-F238E27FC236}">
                <a16:creationId xmlns:a16="http://schemas.microsoft.com/office/drawing/2014/main" id="{CC67323E-8127-42E1-959D-B11AC705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7" name="node-Open read">
            <a:extLst xmlns:a="http://schemas.openxmlformats.org/drawingml/2006/main">
              <a:ext uri="{FF2B5EF4-FFF2-40B4-BE49-F238E27FC236}">
                <a16:creationId xmlns:a16="http://schemas.microsoft.com/office/drawing/2014/main" id="{A91B65E3-7DB1-493A-B81E-B75C70CF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3F2F2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18" name="node-label">
            <a:extLst xmlns:a="http://schemas.openxmlformats.org/drawingml/2006/main">
              <a:ext uri="{FF2B5EF4-FFF2-40B4-BE49-F238E27FC236}">
                <a16:creationId xmlns:a16="http://schemas.microsoft.com/office/drawing/2014/main" id="{11F94F71-5C2C-477B-8E0D-6F36356B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Open read</a:t>
            </a:r>
          </a:p>
        </p:txBody>
      </p:sp>
      <p:sp>
        <p:nvSpPr>
          <p:cNvPr id="1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96DB4F6-D7D9-4B94-88CE-989BE8B1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IBKR ticker.open</a:t>
            </a:r>
          </a:p>
        </p:txBody>
      </p:sp>
      <p:sp>
        <p:nvSpPr>
          <p:cNvPr id="20" name="node-Settlement">
            <a:extLst xmlns:a="http://schemas.openxmlformats.org/drawingml/2006/main">
              <a:ext uri="{FF2B5EF4-FFF2-40B4-BE49-F238E27FC236}">
                <a16:creationId xmlns:a16="http://schemas.microsoft.com/office/drawing/2014/main" id="{2E92AD4D-79A0-4CB3-A6F8-912D57F8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4948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21" name="node-label">
            <a:extLst xmlns:a="http://schemas.openxmlformats.org/drawingml/2006/main">
              <a:ext uri="{FF2B5EF4-FFF2-40B4-BE49-F238E27FC236}">
                <a16:creationId xmlns:a16="http://schemas.microsoft.com/office/drawing/2014/main" id="{2D377AAC-60B9-4E9C-890F-72350209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B97916"/>
                </a:solidFill>
              </a:defRPr>
            </a:pPr>
            <a:r>
              <a:rPr sz="1875" b="1">
                <a:solidFill>
                  <a:srgbClr val="B97916"/>
                </a:solidFill>
              </a:rPr>
              <a:t>Settlement</a:t>
            </a:r>
          </a:p>
        </p:txBody>
      </p:sp>
      <p:sp>
        <p:nvSpPr>
          <p:cNvPr id="22" name="node-detail">
            <a:extLst xmlns:a="http://schemas.openxmlformats.org/drawingml/2006/main">
              <a:ext uri="{FF2B5EF4-FFF2-40B4-BE49-F238E27FC236}">
                <a16:creationId xmlns:a16="http://schemas.microsoft.com/office/drawing/2014/main" id="{C7FD7680-A9D4-4BF7-B6D3-804AAD2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cash + fills</a:t>
            </a:r>
          </a:p>
        </p:txBody>
      </p:sp>
      <p:sp>
        <p:nvSpPr>
          <p:cNvPr id="23" name="arrow-0">
            <a:extLst xmlns:a="http://schemas.openxmlformats.org/drawingml/2006/main">
              <a:ext uri="{FF2B5EF4-FFF2-40B4-BE49-F238E27FC236}">
                <a16:creationId xmlns:a16="http://schemas.microsoft.com/office/drawing/2014/main" id="{46485227-6EE3-4E4F-A611-EC032FB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387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24" name="node-Reconcile">
            <a:extLst xmlns:a="http://schemas.openxmlformats.org/drawingml/2006/main">
              <a:ext uri="{FF2B5EF4-FFF2-40B4-BE49-F238E27FC236}">
                <a16:creationId xmlns:a16="http://schemas.microsoft.com/office/drawing/2014/main" id="{49C0F7CF-E2E7-4A18-926D-C253EC5F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4844948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25" name="node-label">
            <a:extLst xmlns:a="http://schemas.openxmlformats.org/drawingml/2006/main">
              <a:ext uri="{FF2B5EF4-FFF2-40B4-BE49-F238E27FC236}">
                <a16:creationId xmlns:a16="http://schemas.microsoft.com/office/drawing/2014/main" id="{B1B66891-51C3-4771-A4AD-5CEACB2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482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Reconcile</a:t>
            </a:r>
          </a:p>
        </p:txBody>
      </p:sp>
      <p:sp>
        <p:nvSpPr>
          <p:cNvPr id="26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FDE66DF-C711-494E-A58F-9050F3A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483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planned vs actual</a:t>
            </a:r>
          </a:p>
        </p:txBody>
      </p:sp>
      <p:sp>
        <p:nvSpPr>
          <p:cNvPr id="27" name="arrow-1">
            <a:extLst xmlns:a="http://schemas.openxmlformats.org/drawingml/2006/main">
              <a:ext uri="{FF2B5EF4-FFF2-40B4-BE49-F238E27FC236}">
                <a16:creationId xmlns:a16="http://schemas.microsoft.com/office/drawing/2014/main" id="{17CD91D8-F17B-4FC0-B285-E5477056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387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28" name="node-Report">
            <a:extLst xmlns:a="http://schemas.openxmlformats.org/drawingml/2006/main">
              <a:ext uri="{FF2B5EF4-FFF2-40B4-BE49-F238E27FC236}">
                <a16:creationId xmlns:a16="http://schemas.microsoft.com/office/drawing/2014/main" id="{82F3BEC6-3CC0-4859-939F-B0420C35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44948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7EEF7"/>
          </a:solidFill>
          <a:ln xmlns:a="http://schemas.openxmlformats.org/drawingml/2006/main">
            <a:solidFill>
              <a:srgbClr val="2F5F98"/>
            </a:solidFill>
            <a:prstDash val="solid"/>
          </a:ln>
        </p:spPr>
      </p:sp>
      <p:sp>
        <p:nvSpPr>
          <p:cNvPr id="29" name="node-label">
            <a:extLst xmlns:a="http://schemas.openxmlformats.org/drawingml/2006/main">
              <a:ext uri="{FF2B5EF4-FFF2-40B4-BE49-F238E27FC236}">
                <a16:creationId xmlns:a16="http://schemas.microsoft.com/office/drawing/2014/main" id="{1CD9A45D-E7A4-40DB-A425-1F361E9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482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Report</a:t>
            </a:r>
          </a:p>
        </p:txBody>
      </p:sp>
      <p:sp>
        <p:nvSpPr>
          <p:cNvPr id="3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BE01D346-19DA-4588-B39D-03C8D6C9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483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cycle evidence</a:t>
            </a:r>
          </a:p>
        </p:txBody>
      </p:sp>
      <p:sp>
        <p:nvSpPr>
          <p:cNvPr id="31" name="arrow-2">
            <a:extLst xmlns:a="http://schemas.openxmlformats.org/drawingml/2006/main">
              <a:ext uri="{FF2B5EF4-FFF2-40B4-BE49-F238E27FC236}">
                <a16:creationId xmlns:a16="http://schemas.microsoft.com/office/drawing/2014/main" id="{9F800467-8EB6-4130-8406-1A6CECA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8387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32" name="node-Gate">
            <a:extLst xmlns:a="http://schemas.openxmlformats.org/drawingml/2006/main">
              <a:ext uri="{FF2B5EF4-FFF2-40B4-BE49-F238E27FC236}">
                <a16:creationId xmlns:a16="http://schemas.microsoft.com/office/drawing/2014/main" id="{2771F9ED-04F5-4050-B67F-D909F429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4844948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231D"/>
            </a:solidFill>
            <a:prstDash val="solid"/>
          </a:ln>
        </p:spPr>
      </p:sp>
      <p:sp>
        <p:nvSpPr>
          <p:cNvPr id="33" name="node-label">
            <a:extLst xmlns:a="http://schemas.openxmlformats.org/drawingml/2006/main">
              <a:ext uri="{FF2B5EF4-FFF2-40B4-BE49-F238E27FC236}">
                <a16:creationId xmlns:a16="http://schemas.microsoft.com/office/drawing/2014/main" id="{8AFA5B86-FB33-4275-8C79-E00507F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0482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7231D"/>
                </a:solidFill>
              </a:defRPr>
            </a:pPr>
            <a:r>
              <a:rPr sz="1875" b="1">
                <a:solidFill>
                  <a:srgbClr val="17231D"/>
                </a:solidFill>
              </a:rPr>
              <a:t>Gate</a:t>
            </a:r>
          </a:p>
        </p:txBody>
      </p:sp>
      <p:sp>
        <p:nvSpPr>
          <p:cNvPr id="3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F215E26-631C-4084-875F-FFDEEC66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4483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promote or wait</a:t>
            </a:r>
          </a:p>
        </p:txBody>
      </p:sp>
      <p:sp>
        <p:nvSpPr>
          <p:cNvPr id="35" name="cycle-note">
            <a:extLst xmlns:a="http://schemas.openxmlformats.org/drawingml/2006/main">
              <a:ext uri="{FF2B5EF4-FFF2-40B4-BE49-F238E27FC236}">
                <a16:creationId xmlns:a16="http://schemas.microsoft.com/office/drawing/2014/main" id="{016507CD-D809-43D0-91B8-A1067391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86373"/>
            <a:ext cx="16649700" cy="662940"/>
          </a:xfrm>
          <a:prstGeom xmlns:a="http://schemas.openxmlformats.org/drawingml/2006/main" prst="roundRect">
            <a:avLst>
              <a:gd name="adj" fmla="val 20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5DE"/>
            </a:solidFill>
            <a:prstDash val="solid"/>
          </a:ln>
        </p:spPr>
      </p:sp>
      <p:sp>
        <p:nvSpPr>
          <p:cNvPr id="36" name="cycle-note-text">
            <a:extLst xmlns:a="http://schemas.openxmlformats.org/drawingml/2006/main">
              <a:ext uri="{FF2B5EF4-FFF2-40B4-BE49-F238E27FC236}">
                <a16:creationId xmlns:a16="http://schemas.microsoft.com/office/drawing/2014/main" id="{A0BFF63D-2A4C-4D82-9FA5-49A27E2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7231D"/>
                </a:solidFill>
              </a:defRPr>
            </a:pPr>
            <a:r>
              <a:rPr sz="1875" b="0">
                <a:solidFill>
                  <a:srgbClr val="17231D"/>
                </a:solidFill>
              </a:rPr>
              <a:t>Monthly MOO pods need at least one natural month-end -&gt; next-open cycle. Daily MOO pods need a representative set of successful daily cycles.</a:t>
            </a:r>
          </a:p>
        </p:txBody>
      </p:sp>
    </p:spTree>
    <p:extLst>
      <p:ext uri="{BB962C8B-B14F-4D97-AF65-F5344CB8AC3E}">
        <p14:creationId xmlns:p14="http://schemas.microsoft.com/office/powerpoint/2010/main" val="20851451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656FBFD-B784-4BA1-B655-6DB31E65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F2F1974-EDF5-41F1-8EFA-3E46D469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PRICE SEMANTICS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BCDBC2-5497-4F25-9A0F-3DE4CB39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10680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There are three price roles. Keep them separate.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473C0F-5034-4ADE-8A3E-70C2F66D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6076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This is where false confidence usually enters the system.</a:t>
            </a:r>
          </a:p>
        </p:txBody>
      </p:sp>
      <p:sp>
        <p:nvSpPr>
          <p:cNvPr id="5" name="node-Sizing reference">
            <a:extLst xmlns:a="http://schemas.openxmlformats.org/drawingml/2006/main">
              <a:ext uri="{FF2B5EF4-FFF2-40B4-BE49-F238E27FC236}">
                <a16:creationId xmlns:a16="http://schemas.microsoft.com/office/drawing/2014/main" id="{C2DD4F51-9631-4DB7-BC97-21C243E3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3524"/>
            <a:ext cx="5334000" cy="1372210"/>
          </a:xfrm>
          <a:prstGeom xmlns:a="http://schemas.openxmlformats.org/drawingml/2006/main" prst="roundRect">
            <a:avLst>
              <a:gd name="adj" fmla="val 12494"/>
            </a:avLst>
          </a:prstGeom>
          <a:solidFill xmlns:a="http://schemas.openxmlformats.org/drawingml/2006/main">
            <a:srgbClr val="E3F2F2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6" name="node-label">
            <a:extLst xmlns:a="http://schemas.openxmlformats.org/drawingml/2006/main">
              <a:ext uri="{FF2B5EF4-FFF2-40B4-BE49-F238E27FC236}">
                <a16:creationId xmlns:a16="http://schemas.microsoft.com/office/drawing/2014/main" id="{1E20BA72-34A1-4B5A-A578-92D8C98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Sizing reference</a:t>
            </a:r>
          </a:p>
        </p:txBody>
      </p:sp>
      <p:sp>
        <p:nvSpPr>
          <p:cNvPr id="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81EBD4C9-71D2-4165-BABB-68CBCAA0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IBKR pre-submit path: auctionPrice tick 225, then marketPrice fallbacks.</a:t>
            </a:r>
          </a:p>
        </p:txBody>
      </p:sp>
      <p:sp>
        <p:nvSpPr>
          <p:cNvPr id="8" name="node-SIM fill price">
            <a:extLst xmlns:a="http://schemas.openxmlformats.org/drawingml/2006/main">
              <a:ext uri="{FF2B5EF4-FFF2-40B4-BE49-F238E27FC236}">
                <a16:creationId xmlns:a16="http://schemas.microsoft.com/office/drawing/2014/main" id="{23A36E26-EA44-41CF-B705-7CC81EE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3524"/>
            <a:ext cx="5334000" cy="1372210"/>
          </a:xfrm>
          <a:prstGeom xmlns:a="http://schemas.openxmlformats.org/drawingml/2006/main" prst="roundRect">
            <a:avLst>
              <a:gd name="adj" fmla="val 12494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9" name="node-label">
            <a:extLst xmlns:a="http://schemas.openxmlformats.org/drawingml/2006/main">
              <a:ext uri="{FF2B5EF4-FFF2-40B4-BE49-F238E27FC236}">
                <a16:creationId xmlns:a16="http://schemas.microsoft.com/office/drawing/2014/main" id="{F47D7E1B-AD4C-4037-8102-26ADE1E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SIM fill price</a:t>
            </a:r>
          </a:p>
        </p:txBody>
      </p:sp>
      <p:sp>
        <p:nvSpPr>
          <p:cNvPr id="1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C8D1662E-7A36-4E61-BCAE-019FC86C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Target-session IBKR ticker.open evidence. This updates SIM cash and positions.</a:t>
            </a:r>
          </a:p>
        </p:txBody>
      </p:sp>
      <p:sp>
        <p:nvSpPr>
          <p:cNvPr id="11" name="node-Marks">
            <a:extLst xmlns:a="http://schemas.openxmlformats.org/drawingml/2006/main">
              <a:ext uri="{FF2B5EF4-FFF2-40B4-BE49-F238E27FC236}">
                <a16:creationId xmlns:a16="http://schemas.microsoft.com/office/drawing/2014/main" id="{B79F37B5-22ED-4745-9388-33BFEAD7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503524"/>
            <a:ext cx="5334000" cy="1372210"/>
          </a:xfrm>
          <a:prstGeom xmlns:a="http://schemas.openxmlformats.org/drawingml/2006/main" prst="roundRect">
            <a:avLst>
              <a:gd name="adj" fmla="val 12494"/>
            </a:avLst>
          </a:prstGeom>
          <a:solidFill xmlns:a="http://schemas.openxmlformats.org/drawingml/2006/main">
            <a:srgbClr val="E7EEF7"/>
          </a:solidFill>
          <a:ln xmlns:a="http://schemas.openxmlformats.org/drawingml/2006/main">
            <a:solidFill>
              <a:srgbClr val="2F5F98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E9918C73-7C87-425F-9B51-1AB2709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87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Marks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D6322D42-FD06-4495-9087-B54A0A49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1148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Pre-open and EOD marks use Norgate CAPITALSPECIAL where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13106474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CDB8DCA-EE7C-4FA3-B344-29F9D7DA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97B872A-5CED-41C9-9453-265EE8CF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MOC BOUNDARY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D2AB1-C34F-4240-A742-CC254C99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34683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MOO is supported. MOC stays blocked unless the snapshot is causal.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4F3C1C-2D5B-4AE5-B77B-96C650FA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6000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The official close is not available before the MOC cutoff.</a:t>
            </a:r>
          </a:p>
        </p:txBody>
      </p:sp>
      <p:sp>
        <p:nvSpPr>
          <p:cNvPr id="5" name="allowed-panel">
            <a:extLst xmlns:a="http://schemas.openxmlformats.org/drawingml/2006/main">
              <a:ext uri="{FF2B5EF4-FFF2-40B4-BE49-F238E27FC236}">
                <a16:creationId xmlns:a16="http://schemas.microsoft.com/office/drawing/2014/main" id="{A1AFE2B6-2FD3-4C99-AE05-32866A0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1171"/>
            <a:ext cx="8096250" cy="5739079"/>
          </a:xfrm>
          <a:prstGeom xmlns:a="http://schemas.openxmlformats.org/drawingml/2006/main" prst="roundRect">
            <a:avLst>
              <a:gd name="adj" fmla="val 2987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6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D3A2A077-E85D-42F5-8892-5F74DF7A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7486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D6B4F"/>
                </a:solidFill>
              </a:defRPr>
            </a:pPr>
            <a:r>
              <a:rPr sz="2400" b="1">
                <a:solidFill>
                  <a:srgbClr val="1D6B4F"/>
                </a:solidFill>
              </a:rPr>
              <a:t>Allowed for MOO</a:t>
            </a:r>
          </a:p>
        </p:txBody>
      </p:sp>
      <p:sp>
        <p:nvSpPr>
          <p:cNvPr id="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6327C06-9958-46D0-8D4B-5C07FBB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81814D6-1C8F-404F-9B87-1EAC246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Signal from approved prior data.</a:t>
            </a:r>
          </a:p>
        </p:txBody>
      </p:sp>
      <p:sp>
        <p:nvSpPr>
          <p:cNvPr id="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55ACFF1-4D2C-48D7-8CC2-582B559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D85EF03-7250-4F32-9F36-6B0B71A5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Pre-submit IBKR reference price for sizing.</a:t>
            </a:r>
          </a:p>
        </p:txBody>
      </p:sp>
      <p:sp>
        <p:nvSpPr>
          <p:cNvPr id="11" name="bullet-mark">
            <a:extLst xmlns:a="http://schemas.openxmlformats.org/drawingml/2006/main">
              <a:ext uri="{FF2B5EF4-FFF2-40B4-BE49-F238E27FC236}">
                <a16:creationId xmlns:a16="http://schemas.microsoft.com/office/drawing/2014/main" id="{2C054C64-694C-4F41-AA60-D67C3FF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4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C2891F6-8D80-410B-8CF9-0C94E93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4835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IBKR ticker.open for SIM settlement.</a:t>
            </a:r>
          </a:p>
        </p:txBody>
      </p:sp>
      <p:sp>
        <p:nvSpPr>
          <p:cNvPr id="13" name="blocked-panel">
            <a:extLst xmlns:a="http://schemas.openxmlformats.org/drawingml/2006/main">
              <a:ext uri="{FF2B5EF4-FFF2-40B4-BE49-F238E27FC236}">
                <a16:creationId xmlns:a16="http://schemas.microsoft.com/office/drawing/2014/main" id="{125669D8-CC97-4B37-B780-DA0DB28F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1171"/>
            <a:ext cx="8096250" cy="5739079"/>
          </a:xfrm>
          <a:prstGeom xmlns:a="http://schemas.openxmlformats.org/drawingml/2006/main" prst="roundRect">
            <a:avLst>
              <a:gd name="adj" fmla="val 2987"/>
            </a:avLst>
          </a:prstGeom>
          <a:solidFill xmlns:a="http://schemas.openxmlformats.org/drawingml/2006/main">
            <a:srgbClr val="F3DEDC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14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2C05E1D4-9D60-4F62-AE3D-8E1A158A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52900"/>
            <a:ext cx="7486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A43E32"/>
                </a:solidFill>
              </a:defRPr>
            </a:pPr>
            <a:r>
              <a:rPr sz="2400" b="1">
                <a:solidFill>
                  <a:srgbClr val="A43E32"/>
                </a:solidFill>
              </a:rPr>
              <a:t>Blocked for MOC</a:t>
            </a:r>
          </a:p>
        </p:txBody>
      </p:sp>
      <p:sp>
        <p:nvSpPr>
          <p:cNvPr id="1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AF85A90A-6F73-4C60-906B-25F71823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E32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BF0AC64-559E-4450-8A23-07A82B38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No official close as sizing input.</a:t>
            </a:r>
          </a:p>
        </p:txBody>
      </p:sp>
      <p:sp>
        <p:nvSpPr>
          <p:cNvPr id="1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56EA086-456C-48FF-BE1A-3909567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E32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1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DC85CA2-C0A5-4CF7-835A-A71086A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9590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Requires a real pre-close snapshot source.</a:t>
            </a:r>
          </a:p>
        </p:txBody>
      </p:sp>
      <p:sp>
        <p:nvSpPr>
          <p:cNvPr id="1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7E02D9CB-FB6E-45DF-B957-05371FC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4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E32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2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0702F956-EA74-4BD7-9D1F-D9B7886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4835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Otherwise the cycle fails loud.</a:t>
            </a:r>
          </a:p>
        </p:txBody>
      </p:sp>
    </p:spTree>
    <p:extLst>
      <p:ext uri="{BB962C8B-B14F-4D97-AF65-F5344CB8AC3E}">
        <p14:creationId xmlns:p14="http://schemas.microsoft.com/office/powerpoint/2010/main" val="16129153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9E79328-3A0E-4A26-8841-86EFA68C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15511CB-D105-405E-95E8-B5268C8B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POD ISOLATION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19C53F-2874-4A19-A0C4-D776F0F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6489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Each incubation pod gets its own virtual route.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388458-FFF9-4C39-A6DC-6D555CCF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9353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This is why multi-strategy rehearsal remains clean even if paper positions would blend.</a:t>
            </a:r>
          </a:p>
        </p:txBody>
      </p:sp>
      <p:sp>
        <p:nvSpPr>
          <p:cNvPr id="5" name="sim-route">
            <a:extLst xmlns:a="http://schemas.openxmlformats.org/drawingml/2006/main">
              <a:ext uri="{FF2B5EF4-FFF2-40B4-BE49-F238E27FC236}">
                <a16:creationId xmlns:a16="http://schemas.microsoft.com/office/drawing/2014/main" id="{ECE6A651-6FAD-4CBB-AF22-04BDD29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725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950" b="1">
                <a:solidFill>
                  <a:srgbClr val="1D6B4F"/>
                </a:solidFill>
              </a:defRPr>
            </a:pPr>
            <a:r>
              <a:rPr sz="4950" b="1">
                <a:solidFill>
                  <a:srgbClr val="1D6B4F"/>
                </a:solidFill>
              </a:rPr>
              <a:t>SIM_&lt;pod_id&gt;</a:t>
            </a:r>
          </a:p>
        </p:txBody>
      </p:sp>
      <p:sp>
        <p:nvSpPr>
          <p:cNvPr id="6" name="sim-sub">
            <a:extLst xmlns:a="http://schemas.openxmlformats.org/drawingml/2006/main">
              <a:ext uri="{FF2B5EF4-FFF2-40B4-BE49-F238E27FC236}">
                <a16:creationId xmlns:a16="http://schemas.microsoft.com/office/drawing/2014/main" id="{F7A6F34C-4CF6-478F-8C51-DE807E5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7258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5C6B62"/>
                </a:solidFill>
              </a:defRPr>
            </a:pPr>
            <a:r>
              <a:rPr sz="2025" b="0">
                <a:solidFill>
                  <a:srgbClr val="5C6B62"/>
                </a:solidFill>
              </a:rPr>
              <a:t>Valid only in mode: incubation</a:t>
            </a:r>
          </a:p>
        </p:txBody>
      </p:sp>
      <p:sp>
        <p:nvSpPr>
          <p:cNvPr id="7" name="sim-rule">
            <a:extLst xmlns:a="http://schemas.openxmlformats.org/drawingml/2006/main">
              <a:ext uri="{FF2B5EF4-FFF2-40B4-BE49-F238E27FC236}">
                <a16:creationId xmlns:a16="http://schemas.microsoft.com/office/drawing/2014/main" id="{1934418F-C3E3-4A68-A79D-7DF6004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solidFill>
              <a:srgbClr val="1D6B4F"/>
            </a:solidFill>
            <a:prstDash val="solid"/>
          </a:ln>
        </p:spPr>
      </p:sp>
      <p:sp>
        <p:nvSpPr>
          <p:cNvPr id="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CC9676D-766E-4250-B09A-7FFE9C9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D0E0FA3E-E217-4A7A-AB8B-F5247FC4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861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Separate virtual cash and positions per pod.</a:t>
            </a:r>
          </a:p>
        </p:txBody>
      </p:sp>
      <p:sp>
        <p:nvSpPr>
          <p:cNvPr id="10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C100B17-C0C9-4612-A477-C08AFF2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AA4466C-264B-4B13-AEB4-79F1503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861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Default DB: alpha/live/state/incubation/&lt;pod_id&gt;.sqlite3.</a:t>
            </a:r>
          </a:p>
        </p:txBody>
      </p:sp>
      <p:sp>
        <p:nvSpPr>
          <p:cNvPr id="12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81FBE1A-7F29-488A-8DC1-6522B6CF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121D8BA-7C2B-4C25-A630-F73882F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861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Paper/live keep their own state and real broker routes.</a:t>
            </a:r>
          </a:p>
        </p:txBody>
      </p:sp>
      <p:sp>
        <p:nvSpPr>
          <p:cNvPr id="14" name="bullet-mark">
            <a:extLst xmlns:a="http://schemas.openxmlformats.org/drawingml/2006/main">
              <a:ext uri="{FF2B5EF4-FFF2-40B4-BE49-F238E27FC236}">
                <a16:creationId xmlns:a16="http://schemas.microsoft.com/office/drawing/2014/main" id="{126E797B-43C1-4D0B-941C-F43DA281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A65A34E-26CC-4FC8-AFCB-A535C9E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861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No shared raw account truth unless a first-class pod ledger exists.</a:t>
            </a:r>
          </a:p>
        </p:txBody>
      </p:sp>
      <p:sp>
        <p:nvSpPr>
          <p:cNvPr id="1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3108B19-760A-4417-B1BC-7F665348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24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3E2DF00-767B-4CB2-AD81-669E6CAC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48400"/>
            <a:ext cx="861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Dashboard/reporting must show pod-level ledger state, not blended paper state.</a:t>
            </a:r>
          </a:p>
        </p:txBody>
      </p:sp>
    </p:spTree>
    <p:extLst>
      <p:ext uri="{BB962C8B-B14F-4D97-AF65-F5344CB8AC3E}">
        <p14:creationId xmlns:p14="http://schemas.microsoft.com/office/powerpoint/2010/main" val="15650211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5B790E9-E564-4ECE-8978-753F909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39A930A-9475-4358-95B4-D6F129E9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OPEN INCUBATION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CFB579-E305-4BBB-8E92-860B4EF9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4965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Opening incubation starts with a release card.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E9257C-4F71-4E0F-83EE-38416D6B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No separate create-user command in this cut.</a:t>
            </a:r>
          </a:p>
        </p:txBody>
      </p:sp>
      <p:sp>
        <p:nvSpPr>
          <p:cNvPr id="5" name="node-Client id">
            <a:extLst xmlns:a="http://schemas.openxmlformats.org/drawingml/2006/main">
              <a:ext uri="{FF2B5EF4-FFF2-40B4-BE49-F238E27FC236}">
                <a16:creationId xmlns:a16="http://schemas.microsoft.com/office/drawing/2014/main" id="{C31C5F1C-8CCC-472D-A390-1867BDDF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7EEF7"/>
          </a:solidFill>
          <a:ln xmlns:a="http://schemas.openxmlformats.org/drawingml/2006/main">
            <a:solidFill>
              <a:srgbClr val="2F5F98"/>
            </a:solidFill>
            <a:prstDash val="solid"/>
          </a:ln>
        </p:spPr>
      </p:sp>
      <p:sp>
        <p:nvSpPr>
          <p:cNvPr id="6" name="node-label">
            <a:extLst xmlns:a="http://schemas.openxmlformats.org/drawingml/2006/main">
              <a:ext uri="{FF2B5EF4-FFF2-40B4-BE49-F238E27FC236}">
                <a16:creationId xmlns:a16="http://schemas.microsoft.com/office/drawing/2014/main" id="{B4542519-0C56-4398-A36B-67CB08D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Client id</a:t>
            </a:r>
          </a:p>
        </p:txBody>
      </p:sp>
      <p:sp>
        <p:nvSpPr>
          <p:cNvPr id="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AB4F3757-423E-4828-A3E8-34FBCB9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folder name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81158235-C74A-44F4-B271-F79E78A8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9" name="node-Release YAML">
            <a:extLst xmlns:a="http://schemas.openxmlformats.org/drawingml/2006/main">
              <a:ext uri="{FF2B5EF4-FFF2-40B4-BE49-F238E27FC236}">
                <a16:creationId xmlns:a16="http://schemas.microsoft.com/office/drawing/2014/main" id="{65893A25-575E-44E3-A0B6-296C3899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node-label">
            <a:extLst xmlns:a="http://schemas.openxmlformats.org/drawingml/2006/main">
              <a:ext uri="{FF2B5EF4-FFF2-40B4-BE49-F238E27FC236}">
                <a16:creationId xmlns:a16="http://schemas.microsoft.com/office/drawing/2014/main" id="{5587CB4D-C60A-46F6-A286-E845AAEA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Release YAML</a:t>
            </a:r>
          </a:p>
        </p:txBody>
      </p:sp>
      <p:sp>
        <p:nvSpPr>
          <p:cNvPr id="1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829EB11-EB1A-4307-86A7-860E029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one file per pod</a:t>
            </a:r>
          </a:p>
        </p:txBody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7802B7A9-4A3B-4293-B81E-E5EC7F9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3" name="node-SIM route">
            <a:extLst xmlns:a="http://schemas.openxmlformats.org/drawingml/2006/main">
              <a:ext uri="{FF2B5EF4-FFF2-40B4-BE49-F238E27FC236}">
                <a16:creationId xmlns:a16="http://schemas.microsoft.com/office/drawing/2014/main" id="{E36A69DD-5E44-4F72-98E4-2819B606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E3F2F2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14" name="node-label">
            <a:extLst xmlns:a="http://schemas.openxmlformats.org/drawingml/2006/main">
              <a:ext uri="{FF2B5EF4-FFF2-40B4-BE49-F238E27FC236}">
                <a16:creationId xmlns:a16="http://schemas.microsoft.com/office/drawing/2014/main" id="{5CBDB6CD-4EF3-4A04-807F-363627B8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SIM route</a:t>
            </a:r>
          </a:p>
        </p:txBody>
      </p:sp>
      <p:sp>
        <p:nvSpPr>
          <p:cNvPr id="15" name="node-detail">
            <a:extLst xmlns:a="http://schemas.openxmlformats.org/drawingml/2006/main">
              <a:ext uri="{FF2B5EF4-FFF2-40B4-BE49-F238E27FC236}">
                <a16:creationId xmlns:a16="http://schemas.microsoft.com/office/drawing/2014/main" id="{E9495A9D-8985-4ED7-9D6B-803C38C9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SIM_&lt;pod_id&gt;</a:t>
            </a:r>
          </a:p>
        </p:txBody>
      </p:sp>
      <p:sp>
        <p:nvSpPr>
          <p:cNvPr id="16" name="arrow-2">
            <a:extLst xmlns:a="http://schemas.openxmlformats.org/drawingml/2006/main">
              <a:ext uri="{FF2B5EF4-FFF2-40B4-BE49-F238E27FC236}">
                <a16:creationId xmlns:a16="http://schemas.microsoft.com/office/drawing/2014/main" id="{450DE075-CE25-4883-B343-D895680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505200"/>
            <a:ext cx="40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5C6B62"/>
                </a:solidFill>
              </a:defRPr>
            </a:pPr>
            <a:r>
              <a:rPr sz="2550" b="1">
                <a:solidFill>
                  <a:srgbClr val="5C6B62"/>
                </a:solidFill>
              </a:rPr>
              <a:t>-&gt;</a:t>
            </a:r>
          </a:p>
        </p:txBody>
      </p:sp>
      <p:sp>
        <p:nvSpPr>
          <p:cNvPr id="17" name="node-Status">
            <a:extLst xmlns:a="http://schemas.openxmlformats.org/drawingml/2006/main">
              <a:ext uri="{FF2B5EF4-FFF2-40B4-BE49-F238E27FC236}">
                <a16:creationId xmlns:a16="http://schemas.microsoft.com/office/drawing/2014/main" id="{C6580F85-5539-4E8E-BC6C-D89B22B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3503524"/>
            <a:ext cx="3605213" cy="1093775"/>
          </a:xfrm>
          <a:prstGeom xmlns:a="http://schemas.openxmlformats.org/drawingml/2006/main" prst="roundRect">
            <a:avLst>
              <a:gd name="adj" fmla="val 15675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18" name="node-label">
            <a:extLst xmlns:a="http://schemas.openxmlformats.org/drawingml/2006/main">
              <a:ext uri="{FF2B5EF4-FFF2-40B4-BE49-F238E27FC236}">
                <a16:creationId xmlns:a16="http://schemas.microsoft.com/office/drawing/2014/main" id="{CD3A9FA8-80DC-41BF-9E1F-E4FF78C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7147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B97916"/>
                </a:solidFill>
              </a:defRPr>
            </a:pPr>
            <a:r>
              <a:rPr sz="1875" b="1">
                <a:solidFill>
                  <a:srgbClr val="B97916"/>
                </a:solidFill>
              </a:rPr>
              <a:t>Status</a:t>
            </a:r>
          </a:p>
        </p:txBody>
      </p:sp>
      <p:sp>
        <p:nvSpPr>
          <p:cNvPr id="1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503CC835-1842-4A73-A70B-71BCD3A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1148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sync + validate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73793E08-329B-414C-8DA0-2B50AD54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0198"/>
            <a:ext cx="2000250" cy="35097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21" name="label-text">
            <a:extLst xmlns:a="http://schemas.openxmlformats.org/drawingml/2006/main">
              <a:ext uri="{FF2B5EF4-FFF2-40B4-BE49-F238E27FC236}">
                <a16:creationId xmlns:a16="http://schemas.microsoft.com/office/drawing/2014/main" id="{B358E58C-6C47-4D57-A9FE-93A71902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1D6B4F"/>
                </a:solidFill>
              </a:defRPr>
            </a:pPr>
            <a:r>
              <a:rPr sz="1275" b="1">
                <a:solidFill>
                  <a:srgbClr val="1D6B4F"/>
                </a:solidFill>
              </a:rPr>
              <a:t>RELEASE CARD</a:t>
            </a:r>
          </a:p>
        </p:txBody>
      </p:sp>
      <p:sp>
        <p:nvSpPr>
          <p:cNvPr id="22" name="bullet-mark">
            <a:extLst xmlns:a="http://schemas.openxmlformats.org/drawingml/2006/main">
              <a:ext uri="{FF2B5EF4-FFF2-40B4-BE49-F238E27FC236}">
                <a16:creationId xmlns:a16="http://schemas.microsoft.com/office/drawing/2014/main" id="{A4531351-4267-4C1F-872C-3F5B740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2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9FAFD62-581E-42BE-86FF-90F788B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784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Path: alpha/live/releases/&lt;user_id&gt;/*.yaml</a:t>
            </a:r>
          </a:p>
        </p:txBody>
      </p:sp>
      <p:sp>
        <p:nvSpPr>
          <p:cNvPr id="24" name="bullet-mark">
            <a:extLst xmlns:a="http://schemas.openxmlformats.org/drawingml/2006/main">
              <a:ext uri="{FF2B5EF4-FFF2-40B4-BE49-F238E27FC236}">
                <a16:creationId xmlns:a16="http://schemas.microsoft.com/office/drawing/2014/main" id="{BABAE5D5-CEBD-44CF-B242-C092D115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2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4ECF102-C1F1-4924-961F-6F812BB8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00750"/>
            <a:ext cx="784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Use one YAML per strategy pod.</a:t>
            </a:r>
          </a:p>
        </p:txBody>
      </p:sp>
      <p:sp>
        <p:nvSpPr>
          <p:cNvPr id="2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7CE1ABFB-EBD2-4753-B421-31F75FD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2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F7AD9A0-0AAB-4C1A-8C95-4FFE584C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34150"/>
            <a:ext cx="784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Keep only one enabled client identity per deployment/mode.</a:t>
            </a:r>
          </a:p>
        </p:txBody>
      </p:sp>
      <p:sp>
        <p:nvSpPr>
          <p:cNvPr id="2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6D675863-901F-4064-A03F-011D304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6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2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5608BC7-3A8B-415D-A34E-8B5617B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67550"/>
            <a:ext cx="784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The pod is isolated by pod_id and SIM account route.</a:t>
            </a:r>
          </a:p>
        </p:txBody>
      </p:sp>
      <p:sp>
        <p:nvSpPr>
          <p:cNvPr id="30" name="label">
            <a:extLst xmlns:a="http://schemas.openxmlformats.org/drawingml/2006/main">
              <a:ext uri="{FF2B5EF4-FFF2-40B4-BE49-F238E27FC236}">
                <a16:creationId xmlns:a16="http://schemas.microsoft.com/office/drawing/2014/main" id="{6DCF1433-D255-4BB8-A470-532A3EC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40198"/>
            <a:ext cx="1866900" cy="35097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31" name="label-text">
            <a:extLst xmlns:a="http://schemas.openxmlformats.org/drawingml/2006/main">
              <a:ext uri="{FF2B5EF4-FFF2-40B4-BE49-F238E27FC236}">
                <a16:creationId xmlns:a16="http://schemas.microsoft.com/office/drawing/2014/main" id="{C78FE172-941A-4808-9543-4EA7554C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B97916"/>
                </a:solidFill>
              </a:defRPr>
            </a:pPr>
            <a:r>
              <a:rPr sz="1275" b="1">
                <a:solidFill>
                  <a:srgbClr val="B97916"/>
                </a:solidFill>
              </a:rPr>
              <a:t>FIRST CHECK</a:t>
            </a:r>
          </a:p>
        </p:txBody>
      </p:sp>
      <p:sp>
        <p:nvSpPr>
          <p:cNvPr id="32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A2A7309B-C1DF-4425-83C5-F7F0F5D3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2626"/>
            <a:ext cx="8115300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33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E1968504-AF19-4935-A7AC-FA65AA86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6260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status --mode incubation --releases-root alpha/live/releases/&lt;user_id&gt;</a:t>
            </a:r>
          </a:p>
        </p:txBody>
      </p:sp>
      <p:sp>
        <p:nvSpPr>
          <p:cNvPr id="34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B8235928-88CC-4204-A5D2-A98DCDC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28601"/>
            <a:ext cx="8115300" cy="598551"/>
          </a:xfrm>
          <a:prstGeom xmlns:a="http://schemas.openxmlformats.org/drawingml/2006/main" prst="roundRect">
            <a:avLst>
              <a:gd name="adj" fmla="val 1591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35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B1954DEB-8961-4C5F-8109-6A32D4E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15050"/>
            <a:ext cx="7772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tick --mode incubation --pod-id &lt;pod_id&gt; --releases-root alpha/live/releases/&lt;user_id&gt;</a:t>
            </a:r>
          </a:p>
        </p:txBody>
      </p:sp>
      <p:sp>
        <p:nvSpPr>
          <p:cNvPr id="36" name="first-check-note">
            <a:extLst xmlns:a="http://schemas.openxmlformats.org/drawingml/2006/main">
              <a:ext uri="{FF2B5EF4-FFF2-40B4-BE49-F238E27FC236}">
                <a16:creationId xmlns:a16="http://schemas.microsoft.com/office/drawing/2014/main" id="{14FA703F-5832-48E9-B442-335D8192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800850"/>
            <a:ext cx="8115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5C6B62"/>
                </a:solidFill>
              </a:defRPr>
            </a:pPr>
            <a:r>
              <a:rPr sz="1800" b="0">
                <a:solidFill>
                  <a:srgbClr val="5C6B62"/>
                </a:solidFill>
              </a:rPr>
              <a:t>Status validates the release, syncs it into the pod DB, and shows whether the pod has a next action.</a:t>
            </a:r>
          </a:p>
        </p:txBody>
      </p:sp>
    </p:spTree>
    <p:extLst>
      <p:ext uri="{BB962C8B-B14F-4D97-AF65-F5344CB8AC3E}">
        <p14:creationId xmlns:p14="http://schemas.microsoft.com/office/powerpoint/2010/main" val="573991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CBC679B-DC73-4639-B1BA-9377880C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E641C15-28E1-4F5D-95A1-8E48F7D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EXAMPLE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5A03-E78D-4115-9F5A-654AC7FB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4203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A DV2 incubation sleeve is just a release card.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C01642-99BD-4386-A268-61125574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6572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This creates a SIM rehearsal route, not a real broker account.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E20D7CD3-3E82-4C35-997E-2092C15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1171"/>
            <a:ext cx="8916353" cy="4550664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6" name="code-text">
            <a:extLst xmlns:a="http://schemas.openxmlformats.org/drawingml/2006/main">
              <a:ext uri="{FF2B5EF4-FFF2-40B4-BE49-F238E27FC236}">
                <a16:creationId xmlns:a16="http://schemas.microsoft.com/office/drawing/2014/main" id="{4E72EF67-8047-4A75-98F3-0916E93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8458200" cy="417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alpha/live/releases/acme_client/pod_dv2_acme_01.yaml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identity: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release_id: acme_client.pod_dv2.incubation.v1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user_id: acme_client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pod_id: pod_dv2_acme_01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deployment: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mode: incubation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enabled_bool: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broker: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account_route: SIM_pod_dv2_acme_01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host_str: 127.0.0.1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port_int: 7497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 b="0">
                <a:solidFill>
                  <a:srgbClr val="E9F6EE"/>
                </a:solidFill>
              </a:defRPr>
            </a:pPr>
            <a:r>
              <a:rPr sz="1500" b="0">
                <a:solidFill>
                  <a:srgbClr val="E9F6EE"/>
                </a:solidFill>
              </a:rPr>
              <a:t>  client_id_int: 91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8B0B22A-1CD5-4DDE-A4D0-65351FB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3" y="3881171"/>
            <a:ext cx="1466850" cy="35097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8" name="label-text">
            <a:extLst xmlns:a="http://schemas.openxmlformats.org/drawingml/2006/main">
              <a:ext uri="{FF2B5EF4-FFF2-40B4-BE49-F238E27FC236}">
                <a16:creationId xmlns:a16="http://schemas.microsoft.com/office/drawing/2014/main" id="{9C3A3E39-FFB0-4AC0-82A5-E4D79E07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433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1E7D83"/>
                </a:solidFill>
              </a:defRPr>
            </a:pPr>
            <a:r>
              <a:rPr sz="1275" b="1">
                <a:solidFill>
                  <a:srgbClr val="1E7D83"/>
                </a:solidFill>
              </a:rPr>
              <a:t>THEN ADD</a:t>
            </a:r>
          </a:p>
        </p:txBody>
      </p:sp>
      <p:sp>
        <p:nvSpPr>
          <p:cNvPr id="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E6FEC59E-2A44-4B2F-9CD4-CC79DBD8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00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8C2AA91-E6F8-4315-9E8B-3580B417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00550"/>
            <a:ext cx="702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strategy_import_str and data_profile_str.</a:t>
            </a:r>
          </a:p>
        </p:txBody>
      </p:sp>
      <p:sp>
        <p:nvSpPr>
          <p:cNvPr id="11" name="bullet-mark">
            <a:extLst xmlns:a="http://schemas.openxmlformats.org/drawingml/2006/main">
              <a:ext uri="{FF2B5EF4-FFF2-40B4-BE49-F238E27FC236}">
                <a16:creationId xmlns:a16="http://schemas.microsoft.com/office/drawing/2014/main" id="{AFD4B761-9FC5-4368-A3B8-13D981B7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E0487E1C-6336-408B-AD68-8FE1DECE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33950"/>
            <a:ext cx="702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session_calendar_id_str: XNYS.</a:t>
            </a:r>
          </a:p>
        </p:txBody>
      </p:sp>
      <p:sp>
        <p:nvSpPr>
          <p:cNvPr id="13" name="bullet-mark">
            <a:extLst xmlns:a="http://schemas.openxmlformats.org/drawingml/2006/main">
              <a:ext uri="{FF2B5EF4-FFF2-40B4-BE49-F238E27FC236}">
                <a16:creationId xmlns:a16="http://schemas.microsoft.com/office/drawing/2014/main" id="{60C58427-5F91-494B-86EE-0CFAB8ED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1B1DEFE-6188-40F1-B152-59B88124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67350"/>
            <a:ext cx="702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signal_clock_str: eod_snapshot_ready for daily MOO.</a:t>
            </a:r>
          </a:p>
        </p:txBody>
      </p:sp>
      <p:sp>
        <p:nvSpPr>
          <p:cNvPr id="1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E0761EE3-4EC3-4E20-BE82-548719B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01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88BF9058-601B-44CE-A542-C1AD851A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19800"/>
            <a:ext cx="702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execution_policy_str: next_open_moo.</a:t>
            </a:r>
          </a:p>
        </p:txBody>
      </p:sp>
      <p:sp>
        <p:nvSpPr>
          <p:cNvPr id="1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54EB9399-76F5-4DEA-BC9F-9E012B6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6352690-1CCE-4D83-98AC-94280598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702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initial_cash_float for the SIM ledger.</a:t>
            </a:r>
          </a:p>
        </p:txBody>
      </p:sp>
      <p:sp>
        <p:nvSpPr>
          <p:cNvPr id="19" name="example-warning">
            <a:extLst xmlns:a="http://schemas.openxmlformats.org/drawingml/2006/main">
              <a:ext uri="{FF2B5EF4-FFF2-40B4-BE49-F238E27FC236}">
                <a16:creationId xmlns:a16="http://schemas.microsoft.com/office/drawing/2014/main" id="{B77CA405-ECF1-4650-848C-D75099C3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653" y="7081647"/>
            <a:ext cx="7295198" cy="1001420"/>
          </a:xfrm>
          <a:prstGeom xmlns:a="http://schemas.openxmlformats.org/drawingml/2006/main" prst="roundRect">
            <a:avLst>
              <a:gd name="adj" fmla="val 13316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20" name="example-warning-text">
            <a:extLst xmlns:a="http://schemas.openxmlformats.org/drawingml/2006/main">
              <a:ext uri="{FF2B5EF4-FFF2-40B4-BE49-F238E27FC236}">
                <a16:creationId xmlns:a16="http://schemas.microsoft.com/office/drawing/2014/main" id="{4DB092CC-BDD5-4683-B73C-B4273453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277100"/>
            <a:ext cx="6838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17231D"/>
                </a:solidFill>
              </a:defRPr>
            </a:pPr>
            <a:r>
              <a:rPr sz="1725" b="0">
                <a:solidFill>
                  <a:srgbClr val="17231D"/>
                </a:solidFill>
              </a:rPr>
              <a:t>Use an existing release example as the source template. Change identity, pod_id, SIM route, strategy, budget, and enabled flag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0713148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671D57C-782A-4673-8572-93189A43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4034F3A-96AA-4A76-AF00-D20B4917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REPORT SURFACE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C99E11-EE25-4075-AA24-0160834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33540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The dashboard should show evidence, not imply certainty.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03FFF7-0533-4D72-A0AF-912E14CC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7277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The operator needs state, source, cycle, and gate status at a glance.</a:t>
            </a:r>
          </a:p>
        </p:txBody>
      </p:sp>
      <p:sp>
        <p:nvSpPr>
          <p:cNvPr id="5" name="node-SIM ledger status">
            <a:extLst xmlns:a="http://schemas.openxmlformats.org/drawingml/2006/main">
              <a:ext uri="{FF2B5EF4-FFF2-40B4-BE49-F238E27FC236}">
                <a16:creationId xmlns:a16="http://schemas.microsoft.com/office/drawing/2014/main" id="{69CA0EB1-B651-4E44-B0D6-496BB01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1171"/>
            <a:ext cx="8143875" cy="1760626"/>
          </a:xfrm>
          <a:prstGeom xmlns:a="http://schemas.openxmlformats.org/drawingml/2006/main" prst="roundRect">
            <a:avLst>
              <a:gd name="adj" fmla="val 9738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6" name="node-label">
            <a:extLst xmlns:a="http://schemas.openxmlformats.org/drawingml/2006/main">
              <a:ext uri="{FF2B5EF4-FFF2-40B4-BE49-F238E27FC236}">
                <a16:creationId xmlns:a16="http://schemas.microsoft.com/office/drawing/2014/main" id="{9EDF4B96-ACCF-4EAF-A3F5-BE98999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D6B4F"/>
                </a:solidFill>
              </a:defRPr>
            </a:pPr>
            <a:r>
              <a:rPr sz="1875" b="1">
                <a:solidFill>
                  <a:srgbClr val="1D6B4F"/>
                </a:solidFill>
              </a:rPr>
              <a:t>SIM ledger status</a:t>
            </a:r>
          </a:p>
        </p:txBody>
      </p:sp>
      <p:sp>
        <p:nvSpPr>
          <p:cNvPr id="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C4355F78-FDB5-464C-A417-2FFFD674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cash, positions, fills, P&amp;L</a:t>
            </a:r>
          </a:p>
        </p:txBody>
      </p:sp>
      <p:sp>
        <p:nvSpPr>
          <p:cNvPr id="8" name="node-Last cycle">
            <a:extLst xmlns:a="http://schemas.openxmlformats.org/drawingml/2006/main">
              <a:ext uri="{FF2B5EF4-FFF2-40B4-BE49-F238E27FC236}">
                <a16:creationId xmlns:a16="http://schemas.microsoft.com/office/drawing/2014/main" id="{54F858D7-7296-4AC0-8694-2EF05C9B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81171"/>
            <a:ext cx="8143875" cy="1760626"/>
          </a:xfrm>
          <a:prstGeom xmlns:a="http://schemas.openxmlformats.org/drawingml/2006/main" prst="roundRect">
            <a:avLst>
              <a:gd name="adj" fmla="val 9738"/>
            </a:avLst>
          </a:prstGeom>
          <a:solidFill xmlns:a="http://schemas.openxmlformats.org/drawingml/2006/main">
            <a:srgbClr val="E7EEF7"/>
          </a:solidFill>
          <a:ln xmlns:a="http://schemas.openxmlformats.org/drawingml/2006/main">
            <a:solidFill>
              <a:srgbClr val="2F5F98"/>
            </a:solidFill>
            <a:prstDash val="solid"/>
          </a:ln>
        </p:spPr>
      </p:sp>
      <p:sp>
        <p:nvSpPr>
          <p:cNvPr id="9" name="node-label">
            <a:extLst xmlns:a="http://schemas.openxmlformats.org/drawingml/2006/main">
              <a:ext uri="{FF2B5EF4-FFF2-40B4-BE49-F238E27FC236}">
                <a16:creationId xmlns:a16="http://schemas.microsoft.com/office/drawing/2014/main" id="{97D05A80-F2F0-4B62-BD5D-035C3CB6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957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Last cycle</a:t>
            </a:r>
          </a:p>
        </p:txBody>
      </p:sp>
      <p:sp>
        <p:nvSpPr>
          <p:cNvPr id="1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7B7BFC9-1B66-469B-836E-17A7CF2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9580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DecisionPlan -&gt; VPlan -&gt; submit -&gt; reconcile</a:t>
            </a:r>
          </a:p>
        </p:txBody>
      </p:sp>
      <p:sp>
        <p:nvSpPr>
          <p:cNvPr id="11" name="node-IBKR price source">
            <a:extLst xmlns:a="http://schemas.openxmlformats.org/drawingml/2006/main">
              <a:ext uri="{FF2B5EF4-FFF2-40B4-BE49-F238E27FC236}">
                <a16:creationId xmlns:a16="http://schemas.microsoft.com/office/drawing/2014/main" id="{FE61982B-7517-46E8-BAD8-6F63C7B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70397"/>
            <a:ext cx="8143875" cy="1760626"/>
          </a:xfrm>
          <a:prstGeom xmlns:a="http://schemas.openxmlformats.org/drawingml/2006/main" prst="roundRect">
            <a:avLst>
              <a:gd name="adj" fmla="val 9738"/>
            </a:avLst>
          </a:prstGeom>
          <a:solidFill xmlns:a="http://schemas.openxmlformats.org/drawingml/2006/main">
            <a:srgbClr val="E3F2F2"/>
          </a:solidFill>
          <a:ln xmlns:a="http://schemas.openxmlformats.org/drawingml/2006/main">
            <a:solidFill>
              <a:srgbClr val="1E7D83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B650E63C-744A-44D2-A3BA-FB43980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769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E7D83"/>
                </a:solidFill>
              </a:defRPr>
            </a:pPr>
            <a:r>
              <a:rPr sz="1875" b="1">
                <a:solidFill>
                  <a:srgbClr val="1E7D83"/>
                </a:solidFill>
              </a:rPr>
              <a:t>IBKR price source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C8E64009-A346-4675-8112-4E247EA9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reference/open-price provenance</a:t>
            </a:r>
          </a:p>
        </p:txBody>
      </p:sp>
      <p:sp>
        <p:nvSpPr>
          <p:cNvPr id="14" name="node-Paper probe">
            <a:extLst xmlns:a="http://schemas.openxmlformats.org/drawingml/2006/main">
              <a:ext uri="{FF2B5EF4-FFF2-40B4-BE49-F238E27FC236}">
                <a16:creationId xmlns:a16="http://schemas.microsoft.com/office/drawing/2014/main" id="{DA7186D2-F76F-4CFA-9C1C-80369B1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870397"/>
            <a:ext cx="8143875" cy="1760626"/>
          </a:xfrm>
          <a:prstGeom xmlns:a="http://schemas.openxmlformats.org/drawingml/2006/main" prst="roundRect">
            <a:avLst>
              <a:gd name="adj" fmla="val 9738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15" name="node-label">
            <a:extLst xmlns:a="http://schemas.openxmlformats.org/drawingml/2006/main">
              <a:ext uri="{FF2B5EF4-FFF2-40B4-BE49-F238E27FC236}">
                <a16:creationId xmlns:a16="http://schemas.microsoft.com/office/drawing/2014/main" id="{A12C4542-9AE5-47C1-BE86-5F5767B2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07695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B97916"/>
                </a:solidFill>
              </a:defRPr>
            </a:pPr>
            <a:r>
              <a:rPr sz="1875" b="1">
                <a:solidFill>
                  <a:srgbClr val="B97916"/>
                </a:solidFill>
              </a:rPr>
              <a:t>Paper probe</a:t>
            </a:r>
          </a:p>
        </p:txBody>
      </p:sp>
      <p:sp>
        <p:nvSpPr>
          <p:cNvPr id="16" name="node-detail">
            <a:extLst xmlns:a="http://schemas.openxmlformats.org/drawingml/2006/main">
              <a:ext uri="{FF2B5EF4-FFF2-40B4-BE49-F238E27FC236}">
                <a16:creationId xmlns:a16="http://schemas.microsoft.com/office/drawing/2014/main" id="{54D41EFC-3EDF-496D-8723-A1F1FE2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7700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separate API evidence only</a:t>
            </a:r>
          </a:p>
        </p:txBody>
      </p:sp>
      <p:sp>
        <p:nvSpPr>
          <p:cNvPr id="17" name="node-Promotion gate">
            <a:extLst xmlns:a="http://schemas.openxmlformats.org/drawingml/2006/main">
              <a:ext uri="{FF2B5EF4-FFF2-40B4-BE49-F238E27FC236}">
                <a16:creationId xmlns:a16="http://schemas.microsoft.com/office/drawing/2014/main" id="{186ED6B6-B1A8-460F-A279-A04E5606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59624"/>
            <a:ext cx="8143875" cy="1760626"/>
          </a:xfrm>
          <a:prstGeom xmlns:a="http://schemas.openxmlformats.org/drawingml/2006/main" prst="roundRect">
            <a:avLst>
              <a:gd name="adj" fmla="val 9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7231D"/>
            </a:solidFill>
            <a:prstDash val="solid"/>
          </a:ln>
        </p:spPr>
      </p:sp>
      <p:sp>
        <p:nvSpPr>
          <p:cNvPr id="18" name="node-label">
            <a:extLst xmlns:a="http://schemas.openxmlformats.org/drawingml/2006/main">
              <a:ext uri="{FF2B5EF4-FFF2-40B4-BE49-F238E27FC236}">
                <a16:creationId xmlns:a16="http://schemas.microsoft.com/office/drawing/2014/main" id="{DDCDFA90-BE77-4859-9B59-201461C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7720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17231D"/>
                </a:solidFill>
              </a:defRPr>
            </a:pPr>
            <a:r>
              <a:rPr sz="1875" b="1">
                <a:solidFill>
                  <a:srgbClr val="17231D"/>
                </a:solidFill>
              </a:rPr>
              <a:t>Promotion gate</a:t>
            </a:r>
          </a:p>
        </p:txBody>
      </p:sp>
      <p:sp>
        <p:nvSpPr>
          <p:cNvPr id="1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C18249A3-464C-484D-A8F5-88988F0C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5820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complete only after cycle evidence</a:t>
            </a:r>
          </a:p>
        </p:txBody>
      </p:sp>
      <p:sp>
        <p:nvSpPr>
          <p:cNvPr id="20" name="node-Slippage split">
            <a:extLst xmlns:a="http://schemas.openxmlformats.org/drawingml/2006/main">
              <a:ext uri="{FF2B5EF4-FFF2-40B4-BE49-F238E27FC236}">
                <a16:creationId xmlns:a16="http://schemas.microsoft.com/office/drawing/2014/main" id="{78F0B085-6A31-45E3-AC98-B6DF3F8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7859624"/>
            <a:ext cx="8143875" cy="1760626"/>
          </a:xfrm>
          <a:prstGeom xmlns:a="http://schemas.openxmlformats.org/drawingml/2006/main" prst="roundRect">
            <a:avLst>
              <a:gd name="adj" fmla="val 9738"/>
            </a:avLst>
          </a:prstGeom>
          <a:solidFill xmlns:a="http://schemas.openxmlformats.org/drawingml/2006/main">
            <a:srgbClr val="F3DEDC"/>
          </a:solidFill>
          <a:ln xmlns:a="http://schemas.openxmlformats.org/drawingml/2006/main">
            <a:solidFill>
              <a:srgbClr val="A43E32"/>
            </a:solidFill>
            <a:prstDash val="solid"/>
          </a:ln>
        </p:spPr>
      </p:sp>
      <p:sp>
        <p:nvSpPr>
          <p:cNvPr id="21" name="node-label">
            <a:extLst xmlns:a="http://schemas.openxmlformats.org/drawingml/2006/main">
              <a:ext uri="{FF2B5EF4-FFF2-40B4-BE49-F238E27FC236}">
                <a16:creationId xmlns:a16="http://schemas.microsoft.com/office/drawing/2014/main" id="{BEA68BD5-4C29-4A73-853C-30B606B3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077200"/>
            <a:ext cx="769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A43E32"/>
                </a:solidFill>
              </a:defRPr>
            </a:pPr>
            <a:r>
              <a:rPr sz="1875" b="1">
                <a:solidFill>
                  <a:srgbClr val="A43E32"/>
                </a:solidFill>
              </a:rPr>
              <a:t>Slippage split</a:t>
            </a:r>
          </a:p>
        </p:txBody>
      </p:sp>
      <p:sp>
        <p:nvSpPr>
          <p:cNvPr id="22" name="node-detail">
            <a:extLst xmlns:a="http://schemas.openxmlformats.org/drawingml/2006/main">
              <a:ext uri="{FF2B5EF4-FFF2-40B4-BE49-F238E27FC236}">
                <a16:creationId xmlns:a16="http://schemas.microsoft.com/office/drawing/2014/main" id="{51B4BBD9-ADE1-4771-B231-5329D42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45820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 b="0">
                <a:solidFill>
                  <a:srgbClr val="5C6B62"/>
                </a:solidFill>
              </a:defRPr>
            </a:pPr>
            <a:r>
              <a:rPr sz="1575" b="0">
                <a:solidFill>
                  <a:srgbClr val="5C6B62"/>
                </a:solidFill>
              </a:rPr>
              <a:t>official-open gap vs VPlan-reference gap</a:t>
            </a:r>
          </a:p>
        </p:txBody>
      </p:sp>
    </p:spTree>
    <p:extLst>
      <p:ext uri="{BB962C8B-B14F-4D97-AF65-F5344CB8AC3E}">
        <p14:creationId xmlns:p14="http://schemas.microsoft.com/office/powerpoint/2010/main" val="3882946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9B7BBCB-602B-4BA2-A61F-1FCCBF05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C0BBD54-5B7B-4185-9306-7878F701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ASSUMPTIONS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FD3456-CEB9-4554-8B54-E936E65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95250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Use incubation as rehearsal evidence, not broker-execution proof.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15D242-EAC8-4E2E-B84E-489237B5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5448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The useful outcome is clarity, not false confidence.</a:t>
            </a:r>
          </a:p>
        </p:txBody>
      </p:sp>
      <p:sp>
        <p:nvSpPr>
          <p:cNvPr id="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42ED26B2-FCD2-4BC6-8BC6-67BBE47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145C736-8EEB-4D86-B2A5-E23A32C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8210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IBKR reference prices can differ from prior close, so target shares can differ from backtest.</a:t>
            </a:r>
          </a:p>
        </p:txBody>
      </p:sp>
      <p:sp>
        <p:nvSpPr>
          <p:cNvPr id="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18B285FC-D3E7-4F99-987D-141BAAE8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E4CB2969-6042-48EC-8559-D6EF7B3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8210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IBKR ticker.open is operational same-day evidence, not final exchange-audited EOD data.</a:t>
            </a:r>
          </a:p>
        </p:txBody>
      </p:sp>
      <p:sp>
        <p:nvSpPr>
          <p:cNvPr id="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29440BF0-B58A-4E51-B568-FCD2DF2A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4C08835-7D25-4269-ADCF-25989A3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53100"/>
            <a:ext cx="8210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Paper test orders, when used, must be labeled paper_probe and kept out of SIM P&amp;L.</a:t>
            </a:r>
          </a:p>
        </p:txBody>
      </p:sp>
      <p:sp>
        <p:nvSpPr>
          <p:cNvPr id="11" name="bullet-mark">
            <a:extLst xmlns:a="http://schemas.openxmlformats.org/drawingml/2006/main">
              <a:ext uri="{FF2B5EF4-FFF2-40B4-BE49-F238E27FC236}">
                <a16:creationId xmlns:a16="http://schemas.microsoft.com/office/drawing/2014/main" id="{677C1BDB-4B93-41AE-A5D1-66D45250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86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E6DFC7B-72AB-4195-98A9-93CFDFB5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86550"/>
            <a:ext cx="821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231D"/>
                </a:solidFill>
              </a:defRPr>
            </a:pPr>
            <a:r>
              <a:rPr sz="2025" b="0">
                <a:solidFill>
                  <a:srgbClr val="17231D"/>
                </a:solidFill>
              </a:rPr>
              <a:t>Missing reference/open price blocks the cycle before accounting is written.</a:t>
            </a:r>
          </a:p>
        </p:txBody>
      </p:sp>
      <p:sp>
        <p:nvSpPr>
          <p:cNvPr id="13" name="risk-callout">
            <a:extLst xmlns:a="http://schemas.openxmlformats.org/drawingml/2006/main">
              <a:ext uri="{FF2B5EF4-FFF2-40B4-BE49-F238E27FC236}">
                <a16:creationId xmlns:a16="http://schemas.microsoft.com/office/drawing/2014/main" id="{420D2DD0-FD94-47B4-8907-62109DFF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559" y="3881171"/>
            <a:ext cx="7664291" cy="5739079"/>
          </a:xfrm>
          <a:prstGeom xmlns:a="http://schemas.openxmlformats.org/drawingml/2006/main" prst="roundRect">
            <a:avLst>
              <a:gd name="adj" fmla="val 3319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>
            <a:solidFill>
              <a:srgbClr val="102018"/>
            </a:solidFill>
            <a:prstDash val="solid"/>
          </a:ln>
        </p:spPr>
      </p:sp>
      <p:sp>
        <p:nvSpPr>
          <p:cNvPr id="14" name="risk-callout-title">
            <a:extLst xmlns:a="http://schemas.openxmlformats.org/drawingml/2006/main">
              <a:ext uri="{FF2B5EF4-FFF2-40B4-BE49-F238E27FC236}">
                <a16:creationId xmlns:a16="http://schemas.microsoft.com/office/drawing/2014/main" id="{DF2F80BE-EEB0-4E25-B5FB-12CBC9BD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71950"/>
            <a:ext cx="701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What remains unproven</a:t>
            </a:r>
          </a:p>
        </p:txBody>
      </p:sp>
      <p:sp>
        <p:nvSpPr>
          <p:cNvPr id="15" name="risk-callout-body">
            <a:extLst xmlns:a="http://schemas.openxmlformats.org/drawingml/2006/main">
              <a:ext uri="{FF2B5EF4-FFF2-40B4-BE49-F238E27FC236}">
                <a16:creationId xmlns:a16="http://schemas.microsoft.com/office/drawing/2014/main" id="{9B297714-09C3-418D-A067-3D977F94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05350"/>
            <a:ext cx="70104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D7E5DC"/>
                </a:solidFill>
              </a:defRPr>
            </a:pPr>
            <a:r>
              <a:rPr sz="1875" b="0">
                <a:solidFill>
                  <a:srgbClr val="D7E5DC"/>
                </a:solidFill>
              </a:rPr>
              <a:t>broker rejects, partial fills, queue behavior, latency, auction imbalance behavior, live execution quality</a:t>
            </a:r>
          </a:p>
        </p:txBody>
      </p:sp>
    </p:spTree>
    <p:extLst>
      <p:ext uri="{BB962C8B-B14F-4D97-AF65-F5344CB8AC3E}">
        <p14:creationId xmlns:p14="http://schemas.microsoft.com/office/powerpoint/2010/main" val="11190783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5839F34-AA12-4A73-AC0F-687A4140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>
            <a:solidFill>
              <a:srgbClr val="F7FAF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511622E-4968-4536-9480-949CE45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D6B4F"/>
                </a:solidFill>
              </a:defRPr>
            </a:pPr>
            <a:r>
              <a:rPr sz="1350" b="1">
                <a:solidFill>
                  <a:srgbClr val="1D6B4F"/>
                </a:solidFill>
              </a:rPr>
              <a:t>COMMANDS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B702B6-AE39-4A49-9953-610F0CB6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12014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350" b="1">
                <a:solidFill>
                  <a:srgbClr val="17231D"/>
                </a:solidFill>
              </a:defRPr>
            </a:pPr>
            <a:r>
              <a:rPr sz="4350" b="1">
                <a:solidFill>
                  <a:srgbClr val="17231D"/>
                </a:solidFill>
              </a:rPr>
              <a:t>Same command shape as paper/live. Use --mode incubation.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3D9411-4BC5-45E4-878D-825D5A5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975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5C6B62"/>
                </a:solidFill>
              </a:defRPr>
            </a:pPr>
            <a:r>
              <a:rPr sz="2100" b="0">
                <a:solidFill>
                  <a:srgbClr val="5C6B62"/>
                </a:solidFill>
              </a:rPr>
              <a:t>No --pod-id fans out across enabled incubation pods; add --pod-id for one pod or local IDs.</a:t>
            </a:r>
          </a:p>
        </p:txBody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6FA57709-E11B-464F-8D4E-21846C42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3524"/>
            <a:ext cx="1428750" cy="35097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D6B4F"/>
            </a:solidFill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8562DCB9-BC83-4ADB-8005-8E5F4AE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1D6B4F"/>
                </a:solidFill>
              </a:defRPr>
            </a:pPr>
            <a:r>
              <a:rPr sz="1275" b="1">
                <a:solidFill>
                  <a:srgbClr val="1D6B4F"/>
                </a:solidFill>
              </a:rPr>
              <a:t>INSPECT</a:t>
            </a:r>
          </a:p>
        </p:txBody>
      </p:sp>
      <p:sp>
        <p:nvSpPr>
          <p:cNvPr id="7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E3F95844-F3CC-4ACD-9849-CE17F2CE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8326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8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28D0196A-2133-4932-8DF1-D778547B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status --mode incubation</a:t>
            </a:r>
          </a:p>
        </p:txBody>
      </p:sp>
      <p:sp>
        <p:nvSpPr>
          <p:cNvPr id="9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75C47748-5FA0-4A8A-B2F2-B07F2C5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6676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10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3E99C782-39BE-46D7-9ED9-51B21D4D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status --mode incubation --pod-id pod_x</a:t>
            </a:r>
          </a:p>
        </p:txBody>
      </p:sp>
      <p:sp>
        <p:nvSpPr>
          <p:cNvPr id="11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BC519DE1-D583-4FB3-B274-D786E94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5027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12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A46E19D8-6DA2-4768-A3A2-C7662C7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show_vplan --mode incubation --pod-id pod_x</a:t>
            </a:r>
          </a:p>
        </p:txBody>
      </p:sp>
      <p:sp>
        <p:nvSpPr>
          <p:cNvPr id="13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C11E5DF8-A51D-4583-980A-C516669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3377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14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A15A7D17-E326-4830-A4C9-B5D2992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execution_report --mode incubation</a:t>
            </a:r>
          </a:p>
        </p:txBody>
      </p:sp>
      <p:sp>
        <p:nvSpPr>
          <p:cNvPr id="15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2A6F6514-6B2B-416C-927D-2D640695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51728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16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C3DE1EC7-991A-462D-A0DE-091AB84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531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compare_reference --mode incubation --pod-id pod_x</a:t>
            </a:r>
          </a:p>
        </p:txBody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7C2CC0C4-C267-41AE-AF35-AB0A57C7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03524"/>
            <a:ext cx="1466850" cy="35097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18" name="label-text">
            <a:extLst xmlns:a="http://schemas.openxmlformats.org/drawingml/2006/main">
              <a:ext uri="{FF2B5EF4-FFF2-40B4-BE49-F238E27FC236}">
                <a16:creationId xmlns:a16="http://schemas.microsoft.com/office/drawing/2014/main" id="{074DEA97-9ADD-4FB5-BD67-BC601F6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623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B97916"/>
                </a:solidFill>
              </a:defRPr>
            </a:pPr>
            <a:r>
              <a:rPr sz="1275" b="1">
                <a:solidFill>
                  <a:srgbClr val="B97916"/>
                </a:solidFill>
              </a:rPr>
              <a:t>STATEFUL</a:t>
            </a:r>
          </a:p>
        </p:txBody>
      </p:sp>
      <p:sp>
        <p:nvSpPr>
          <p:cNvPr id="19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437A395A-C910-4CCC-AC75-B2D05E14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78326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20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949EE396-B4BC-4B9B-A544-51BA7FD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7670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tick --mode incubation</a:t>
            </a:r>
          </a:p>
        </p:txBody>
      </p:sp>
      <p:sp>
        <p:nvSpPr>
          <p:cNvPr id="21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D7B90E6C-6BAA-4CD9-BC8B-34EB040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96676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22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2FD4C875-9949-4FC6-B446-9D420E9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tick --mode incubation --pod-id pod_x</a:t>
            </a:r>
          </a:p>
        </p:txBody>
      </p:sp>
      <p:sp>
        <p:nvSpPr>
          <p:cNvPr id="23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228600DD-108C-4809-A0A6-AAF8AD77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15027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24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A2016EDE-7F4C-4A07-BB0F-F403466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0540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submit_vplan --mode incubation --pod-id pod_x --vplan-id 1</a:t>
            </a:r>
          </a:p>
        </p:txBody>
      </p:sp>
      <p:sp>
        <p:nvSpPr>
          <p:cNvPr id="25" name="command-line">
            <a:extLst xmlns:a="http://schemas.openxmlformats.org/drawingml/2006/main">
              <a:ext uri="{FF2B5EF4-FFF2-40B4-BE49-F238E27FC236}">
                <a16:creationId xmlns:a16="http://schemas.microsoft.com/office/drawing/2014/main" id="{B2721A88-4DD9-4A0F-8655-852B704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533377"/>
            <a:ext cx="8162925" cy="394526"/>
          </a:xfrm>
          <a:prstGeom xmlns:a="http://schemas.openxmlformats.org/drawingml/2006/main" prst="roundRect">
            <a:avLst>
              <a:gd name="adj" fmla="val 24143"/>
            </a:avLst>
          </a:prstGeom>
          <a:solidFill xmlns:a="http://schemas.openxmlformats.org/drawingml/2006/main">
            <a:srgbClr val="15241B"/>
          </a:solidFill>
          <a:ln xmlns:a="http://schemas.openxmlformats.org/drawingml/2006/main">
            <a:solidFill>
              <a:srgbClr val="15241B"/>
            </a:solidFill>
            <a:prstDash val="solid"/>
          </a:ln>
        </p:spPr>
      </p:sp>
      <p:sp>
        <p:nvSpPr>
          <p:cNvPr id="26" name="command-text">
            <a:extLst xmlns:a="http://schemas.openxmlformats.org/drawingml/2006/main">
              <a:ext uri="{FF2B5EF4-FFF2-40B4-BE49-F238E27FC236}">
                <a16:creationId xmlns:a16="http://schemas.microsoft.com/office/drawing/2014/main" id="{E8D50578-D021-4F10-A6BB-DAC3A69E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197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E9F6EE"/>
                </a:solidFill>
              </a:defRPr>
            </a:pPr>
            <a:r>
              <a:rPr sz="1275" b="0">
                <a:solidFill>
                  <a:srgbClr val="E9F6EE"/>
                </a:solidFill>
              </a:rPr>
              <a:t>uv run python -m alpha.live.runner post_execution_reconcile --mode incubation</a:t>
            </a:r>
          </a:p>
        </p:txBody>
      </p:sp>
      <p:sp>
        <p:nvSpPr>
          <p:cNvPr id="27" name="command-warning">
            <a:extLst xmlns:a="http://schemas.openxmlformats.org/drawingml/2006/main">
              <a:ext uri="{FF2B5EF4-FFF2-40B4-BE49-F238E27FC236}">
                <a16:creationId xmlns:a16="http://schemas.microsoft.com/office/drawing/2014/main" id="{F8757FAD-3CF2-4616-8ACF-11C82BDD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051728"/>
            <a:ext cx="8162925" cy="586435"/>
          </a:xfrm>
          <a:prstGeom xmlns:a="http://schemas.openxmlformats.org/drawingml/2006/main" prst="roundRect">
            <a:avLst>
              <a:gd name="adj" fmla="val 19491"/>
            </a:avLst>
          </a:prstGeom>
          <a:solidFill xmlns:a="http://schemas.openxmlformats.org/drawingml/2006/main">
            <a:srgbClr val="F5E8D4"/>
          </a:solidFill>
          <a:ln xmlns:a="http://schemas.openxmlformats.org/drawingml/2006/main">
            <a:solidFill>
              <a:srgbClr val="B97916"/>
            </a:solidFill>
            <a:prstDash val="solid"/>
          </a:ln>
        </p:spPr>
      </p:sp>
      <p:sp>
        <p:nvSpPr>
          <p:cNvPr id="28" name="warning-text">
            <a:extLst xmlns:a="http://schemas.openxmlformats.org/drawingml/2006/main">
              <a:ext uri="{FF2B5EF4-FFF2-40B4-BE49-F238E27FC236}">
                <a16:creationId xmlns:a16="http://schemas.microsoft.com/office/drawing/2014/main" id="{A905CD3E-FA47-4E1D-A89F-7AE76AA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2103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17231D"/>
                </a:solidFill>
              </a:defRPr>
            </a:pPr>
            <a:r>
              <a:rPr sz="1650" b="0">
                <a:solidFill>
                  <a:srgbClr val="17231D"/>
                </a:solidFill>
              </a:rPr>
              <a:t>Incubation does not send real orders, but these commands still mutate rehearsal DB state.</a:t>
            </a:r>
          </a:p>
        </p:txBody>
      </p:sp>
    </p:spTree>
    <p:extLst>
      <p:ext uri="{BB962C8B-B14F-4D97-AF65-F5344CB8AC3E}">
        <p14:creationId xmlns:p14="http://schemas.microsoft.com/office/powerpoint/2010/main" val="1439124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2026-05-06T19:32:05.5160000Z</dcterms:created>
  <dcterms:modified xsi:type="dcterms:W3CDTF">2026-05-06T19:32:05.5170000Z</dcterms:modified>
</coreProperties>
</file>