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300bb8aec47f1" /><Relationship Type="http://schemas.openxmlformats.org/officeDocument/2006/relationships/extended-properties" Target="/docProps/app.xml" Id="R582e11aacc314adc" /><Relationship Type="http://schemas.openxmlformats.org/officeDocument/2006/relationships/officeDocument" Target="/ppt/presentation.xml" Id="Rc408c3303866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8306079c14d91"/>
  </p:sldMasterIdLst>
  <p:notesMasterIdLst>
    <p:notesMasterId xmlns:r="http://schemas.openxmlformats.org/officeDocument/2006/relationships" r:id="Rb9dd7c2357fe4a07"/>
  </p:notesMasterIdLst>
  <p:sldIdLst>
    <p:sldId xmlns:r="http://schemas.openxmlformats.org/officeDocument/2006/relationships" id="256" r:id="Rcc245fd3ab5a4d14"/>
    <p:sldId xmlns:r="http://schemas.openxmlformats.org/officeDocument/2006/relationships" id="257" r:id="R8cf28c4431244f71"/>
    <p:sldId xmlns:r="http://schemas.openxmlformats.org/officeDocument/2006/relationships" id="258" r:id="Rc74bf3d4de3c4b63"/>
    <p:sldId xmlns:r="http://schemas.openxmlformats.org/officeDocument/2006/relationships" id="259" r:id="R318591c99ef846ce"/>
    <p:sldId xmlns:r="http://schemas.openxmlformats.org/officeDocument/2006/relationships" id="260" r:id="Ra0535443a9244f81"/>
    <p:sldId xmlns:r="http://schemas.openxmlformats.org/officeDocument/2006/relationships" id="261" r:id="R720fe49d27714fdc"/>
    <p:sldId xmlns:r="http://schemas.openxmlformats.org/officeDocument/2006/relationships" id="262" r:id="R309a31c89a494943"/>
    <p:sldId xmlns:r="http://schemas.openxmlformats.org/officeDocument/2006/relationships" id="263" r:id="R04e259b1fb0e4c1f"/>
    <p:sldId xmlns:r="http://schemas.openxmlformats.org/officeDocument/2006/relationships" id="264" r:id="R65956b442a1946a7"/>
    <p:sldId xmlns:r="http://schemas.openxmlformats.org/officeDocument/2006/relationships" id="265" r:id="R6975b720655e4fbe"/>
    <p:sldId xmlns:r="http://schemas.openxmlformats.org/officeDocument/2006/relationships" id="266" r:id="R30ede5f2a59349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4cd196ff004e81" /><Relationship Type="http://schemas.openxmlformats.org/officeDocument/2006/relationships/slideMaster" Target="/ppt/slideMasters/slideMaster1.xml" Id="R9028306079c14d91" /><Relationship Type="http://schemas.openxmlformats.org/officeDocument/2006/relationships/notesMaster" Target="/ppt/notesMasters/notesMaster1.xml" Id="Rb9dd7c2357fe4a07" /><Relationship Type="http://schemas.openxmlformats.org/officeDocument/2006/relationships/presProps" Target="/ppt/presProps.xml" Id="Rebfd6111f98e45aa" /><Relationship Type="http://schemas.openxmlformats.org/officeDocument/2006/relationships/tableStyles" Target="/ppt/tableStyles.xml" Id="R4430f2d641284d16" /><Relationship Type="http://schemas.openxmlformats.org/officeDocument/2006/relationships/slide" Target="/ppt/slides/slide1.xml" Id="Rcc245fd3ab5a4d14" /><Relationship Type="http://schemas.openxmlformats.org/officeDocument/2006/relationships/slide" Target="/ppt/slides/slide2.xml" Id="R8cf28c4431244f71" /><Relationship Type="http://schemas.openxmlformats.org/officeDocument/2006/relationships/slide" Target="/ppt/slides/slide3.xml" Id="Rc74bf3d4de3c4b63" /><Relationship Type="http://schemas.openxmlformats.org/officeDocument/2006/relationships/slide" Target="/ppt/slides/slide4.xml" Id="R318591c99ef846ce" /><Relationship Type="http://schemas.openxmlformats.org/officeDocument/2006/relationships/slide" Target="/ppt/slides/slide5.xml" Id="Ra0535443a9244f81" /><Relationship Type="http://schemas.openxmlformats.org/officeDocument/2006/relationships/slide" Target="/ppt/slides/slide6.xml" Id="R720fe49d27714fdc" /><Relationship Type="http://schemas.openxmlformats.org/officeDocument/2006/relationships/slide" Target="/ppt/slides/slide7.xml" Id="R309a31c89a494943" /><Relationship Type="http://schemas.openxmlformats.org/officeDocument/2006/relationships/slide" Target="/ppt/slides/slide8.xml" Id="R04e259b1fb0e4c1f" /><Relationship Type="http://schemas.openxmlformats.org/officeDocument/2006/relationships/slide" Target="/ppt/slides/slide9.xml" Id="R65956b442a1946a7" /><Relationship Type="http://schemas.openxmlformats.org/officeDocument/2006/relationships/slide" Target="/ppt/slides/slide10.xml" Id="R6975b720655e4fbe" /><Relationship Type="http://schemas.openxmlformats.org/officeDocument/2006/relationships/slide" Target="/ppt/slides/slide11.xml" Id="R30ede5f2a593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0063c9b28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4c70c405094815" /><Relationship Type="http://schemas.openxmlformats.org/officeDocument/2006/relationships/notesMaster" Target="/ppt/notesMasters/notesMaster1.xml" Id="Re66706bdbfe04a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d28c667354e0c" /><Relationship Type="http://schemas.openxmlformats.org/officeDocument/2006/relationships/notesMaster" Target="/ppt/notesMasters/notesMaster1.xml" Id="Rdd99bdc9c47048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b3293fe4614675" /><Relationship Type="http://schemas.openxmlformats.org/officeDocument/2006/relationships/notesMaster" Target="/ppt/notesMasters/notesMaster1.xml" Id="R1699cce3c31244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4f490c23442f7" /><Relationship Type="http://schemas.openxmlformats.org/officeDocument/2006/relationships/notesMaster" Target="/ppt/notesMasters/notesMaster1.xml" Id="R7039b8a412a24f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73a6c98971495d" /><Relationship Type="http://schemas.openxmlformats.org/officeDocument/2006/relationships/notesMaster" Target="/ppt/notesMasters/notesMaster1.xml" Id="Re7a8b172a5d24f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1a2e32f26e43b4" /><Relationship Type="http://schemas.openxmlformats.org/officeDocument/2006/relationships/notesMaster" Target="/ppt/notesMasters/notesMaster1.xml" Id="R35f4dd222d1942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934bee067f429b" /><Relationship Type="http://schemas.openxmlformats.org/officeDocument/2006/relationships/notesMaster" Target="/ppt/notesMasters/notesMaster1.xml" Id="R1bd0922a0ea144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2dd5cd13eb4c98" /><Relationship Type="http://schemas.openxmlformats.org/officeDocument/2006/relationships/notesMaster" Target="/ppt/notesMasters/notesMaster1.xml" Id="Rf42ba88aa65047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bdfac7daf94974" /><Relationship Type="http://schemas.openxmlformats.org/officeDocument/2006/relationships/notesMaster" Target="/ppt/notesMasters/notesMaster1.xml" Id="R396f82b0d83d40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ea5ace8b554371" /><Relationship Type="http://schemas.openxmlformats.org/officeDocument/2006/relationships/notesMaster" Target="/ppt/notesMasters/notesMaster1.xml" Id="R3aa2fac8177646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8c4ba61f554bd0" /><Relationship Type="http://schemas.openxmlformats.org/officeDocument/2006/relationships/notesMaster" Target="/ppt/notesMasters/notesMaster1.xml" Id="R3514cd2bf527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c08e718684e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b8a261dd9547a8" /><Relationship Type="http://schemas.openxmlformats.org/officeDocument/2006/relationships/slideLayout" Target="/ppt/slideLayouts/slideLayout1.xml" Id="R0b103846f62440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103846f62440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007cf59ab4136" /><Relationship Type="http://schemas.openxmlformats.org/officeDocument/2006/relationships/notesSlide" Target="/ppt/notesSlides/notesSlide1.xml" Id="Ra5a8ae00348e4e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ed1bdaeda45c5" /><Relationship Type="http://schemas.openxmlformats.org/officeDocument/2006/relationships/notesSlide" Target="/ppt/notesSlides/notesSlide2.xml" Id="R659ee8a52e8a4e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ac404974747bd" /><Relationship Type="http://schemas.openxmlformats.org/officeDocument/2006/relationships/notesSlide" Target="/ppt/notesSlides/notesSlide3.xml" Id="R7a26908ea9614b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db4a198e4be4" /><Relationship Type="http://schemas.openxmlformats.org/officeDocument/2006/relationships/notesSlide" Target="/ppt/notesSlides/notesSlide4.xml" Id="R057063df8866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feb2843f44d1b" /><Relationship Type="http://schemas.openxmlformats.org/officeDocument/2006/relationships/notesSlide" Target="/ppt/notesSlides/notesSlide5.xml" Id="R227aae0b6d354e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76249fd0c493a" /><Relationship Type="http://schemas.openxmlformats.org/officeDocument/2006/relationships/notesSlide" Target="/ppt/notesSlides/notesSlide6.xml" Id="Rf68a8a657425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f5dab4e9451b" /><Relationship Type="http://schemas.openxmlformats.org/officeDocument/2006/relationships/notesSlide" Target="/ppt/notesSlides/notesSlide7.xml" Id="R3a4cdd63017f43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c91dd8f2341cd" /><Relationship Type="http://schemas.openxmlformats.org/officeDocument/2006/relationships/notesSlide" Target="/ppt/notesSlides/notesSlide8.xml" Id="R40d81f61eadc4f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ce3ca97084636" /><Relationship Type="http://schemas.openxmlformats.org/officeDocument/2006/relationships/notesSlide" Target="/ppt/notesSlides/notesSlide9.xml" Id="R670b2a61c5944b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c7ae080234e6a" /><Relationship Type="http://schemas.openxmlformats.org/officeDocument/2006/relationships/notesSlide" Target="/ppt/notesSlides/notesSlide10.xml" Id="R06e6824bc3b245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5862ce26342b9" /><Relationship Type="http://schemas.openxmlformats.org/officeDocument/2006/relationships/notesSlide" Target="/ppt/notesSlides/notesSlide11.xml" Id="R42a0d45ae66d4d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-eyebrow">
            <a:extLst xmlns:a="http://schemas.openxmlformats.org/drawingml/2006/main">
              <a:ext uri="{FF2B5EF4-FFF2-40B4-BE49-F238E27FC236}">
                <a16:creationId xmlns:a16="http://schemas.microsoft.com/office/drawing/2014/main" id="{792243C9-12DD-4DF4-A84D-9B027483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FRIENDS &amp; FAMILY</a:t>
            </a:r>
          </a:p>
        </p:txBody>
      </p:sp>
      <p:sp>
        <p:nvSpPr>
          <p:cNvPr id="2" name="s1-draft-label">
            <a:extLst xmlns:a="http://schemas.openxmlformats.org/drawingml/2006/main">
              <a:ext uri="{FF2B5EF4-FFF2-40B4-BE49-F238E27FC236}">
                <a16:creationId xmlns:a16="http://schemas.microsoft.com/office/drawing/2014/main" id="{534E3A14-9D05-4EF8-B1BB-A099E46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"/>
            <a:ext cx="161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</a:t>
            </a:r>
          </a:p>
        </p:txBody>
      </p:sp>
      <p:sp>
        <p:nvSpPr>
          <p:cNvPr id="3" name="s1-program-label">
            <a:extLst xmlns:a="http://schemas.openxmlformats.org/drawingml/2006/main">
              <a:ext uri="{FF2B5EF4-FFF2-40B4-BE49-F238E27FC236}">
                <a16:creationId xmlns:a16="http://schemas.microsoft.com/office/drawing/2014/main" id="{A53DF218-9CED-467B-80C6-8B41E17B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287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שם התוכנית</a:t>
            </a:r>
          </a:p>
        </p:txBody>
      </p:sp>
      <p:sp>
        <p:nvSpPr>
          <p:cNvPr id="4" name="s1-program-fill-panel">
            <a:extLst xmlns:a="http://schemas.openxmlformats.org/drawingml/2006/main">
              <a:ext uri="{FF2B5EF4-FFF2-40B4-BE49-F238E27FC236}">
                <a16:creationId xmlns:a16="http://schemas.microsoft.com/office/drawing/2014/main" id="{D531F8F8-8620-4E94-9D0F-7EA1410A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52550"/>
            <a:ext cx="1104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program-fill-text">
            <a:extLst xmlns:a="http://schemas.openxmlformats.org/drawingml/2006/main">
              <a:ext uri="{FF2B5EF4-FFF2-40B4-BE49-F238E27FC236}">
                <a16:creationId xmlns:a16="http://schemas.microsoft.com/office/drawing/2014/main" id="{811D8608-60E7-4AA1-8C3B-F350F49C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390650"/>
            <a:ext cx="91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6" name="s1-headline">
            <a:extLst xmlns:a="http://schemas.openxmlformats.org/drawingml/2006/main">
              <a:ext uri="{FF2B5EF4-FFF2-40B4-BE49-F238E27FC236}">
                <a16:creationId xmlns:a16="http://schemas.microsoft.com/office/drawing/2014/main" id="{D0C6315E-5308-433A-8A60-84026B86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9048750" cy="203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תהליך השקעה שיטתי
בשלב מוקדם ושקוף</a:t>
            </a:r>
          </a:p>
        </p:txBody>
      </p:sp>
      <p:cxnSp>
        <p:nvCxnSpPr>
          <p:cNvPr id="18" name="s1-accent-rule"/>
          <p:cNvCxnSpPr/>
          <p:nvPr/>
        </p:nvCxnSpPr>
        <p:spPr>
          <a:xfrm xmlns:a="http://schemas.openxmlformats.org/drawingml/2006/main">
            <a:off x="7105650" y="4600575"/>
            <a:ext cx="43243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4EA854CC-859E-419E-8530-57D16D2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6381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כללים שנבדקו מראש. כמה גישות נפרדות. סיכון שמוצג בגלוי.</a:t>
            </a:r>
          </a:p>
        </p:txBody>
      </p:sp>
      <p:sp>
        <p:nvSpPr>
          <p:cNvPr id="9" name="s1-goal-label">
            <a:extLst xmlns:a="http://schemas.openxmlformats.org/drawingml/2006/main">
              <a:ext uri="{FF2B5EF4-FFF2-40B4-BE49-F238E27FC236}">
                <a16:creationId xmlns:a16="http://schemas.microsoft.com/office/drawing/2014/main" id="{3231FA53-C2F2-4F21-9020-2A10DCFE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00750"/>
            <a:ext cx="2857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מטרת השלב הראשוני</a:t>
            </a:r>
          </a:p>
        </p:txBody>
      </p:sp>
      <p:sp>
        <p:nvSpPr>
          <p:cNvPr id="10" name="s1-goal-fill-panel">
            <a:extLst xmlns:a="http://schemas.openxmlformats.org/drawingml/2006/main">
              <a:ext uri="{FF2B5EF4-FFF2-40B4-BE49-F238E27FC236}">
                <a16:creationId xmlns:a16="http://schemas.microsoft.com/office/drawing/2014/main" id="{85B19365-17CF-4A44-8EA8-299F1264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674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-goal-fill-text">
            <a:extLst xmlns:a="http://schemas.openxmlformats.org/drawingml/2006/main">
              <a:ext uri="{FF2B5EF4-FFF2-40B4-BE49-F238E27FC236}">
                <a16:creationId xmlns:a16="http://schemas.microsoft.com/office/drawing/2014/main" id="{190AAE5E-9E23-4482-B373-8267A76D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055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</p:spTree>
    <p:extLst>
      <p:ext uri="{BB962C8B-B14F-4D97-AF65-F5344CB8AC3E}">
        <p14:creationId xmlns:p14="http://schemas.microsoft.com/office/powerpoint/2010/main" val="1145991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21E2E4D-14C3-4175-8EDC-9A3BE52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לא תלויים ברעיון אחד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3A790C57-5ECF-46BC-B06A-E6892517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19200"/>
            <a:ext cx="8839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המערכת נועדה לשלב כמה חלקים נפרדים, שלכל אחד מהם כללים ותפקיד משלו. ההרכב המוצע עדיין דורש השלמה.</a:t>
            </a:r>
          </a:p>
        </p:txBody>
      </p:sp>
      <p:cxnSp>
        <p:nvCxnSpPr>
          <p:cNvPr id="27" name="s2-divider-1"/>
          <p:cNvCxnSpPr/>
          <p:nvPr/>
        </p:nvCxnSpPr>
        <p:spPr>
          <a:xfrm xmlns:a="http://schemas.openxmlformats.org/drawingml/2006/main">
            <a:off x="4105275" y="2209800"/>
            <a:ext cx="286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8" name="s2-divider-2"/>
          <p:cNvCxnSpPr/>
          <p:nvPr/>
        </p:nvCxnSpPr>
        <p:spPr>
          <a:xfrm xmlns:a="http://schemas.openxmlformats.org/drawingml/2006/main">
            <a:off x="8020050" y="2209800"/>
            <a:ext cx="286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s2-01-index">
            <a:extLst xmlns:a="http://schemas.openxmlformats.org/drawingml/2006/main">
              <a:ext uri="{FF2B5EF4-FFF2-40B4-BE49-F238E27FC236}">
                <a16:creationId xmlns:a16="http://schemas.microsoft.com/office/drawing/2014/main" id="{89D5ACEB-A8FA-4B23-88A3-65EE00F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s2-01-title">
            <a:extLst xmlns:a="http://schemas.openxmlformats.org/drawingml/2006/main">
              <a:ext uri="{FF2B5EF4-FFF2-40B4-BE49-F238E27FC236}">
                <a16:creationId xmlns:a16="http://schemas.microsoft.com/office/drawing/2014/main" id="{CB76FB72-AAD0-4BA1-BE55-69060B18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מומנטום</a:t>
            </a:r>
          </a:p>
        </p:txBody>
      </p:sp>
      <p:sp>
        <p:nvSpPr>
          <p:cNvPr id="7" name="s2-01-body">
            <a:extLst xmlns:a="http://schemas.openxmlformats.org/drawingml/2006/main">
              <a:ext uri="{FF2B5EF4-FFF2-40B4-BE49-F238E27FC236}">
                <a16:creationId xmlns:a16="http://schemas.microsoft.com/office/drawing/2014/main" id="{815273ED-BCF2-4C82-A63B-B4300C87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חיפוש אחר חוזקה יחסית שמתפתחת בהדרגה, תחת כללי סינון וסיכון.</a:t>
            </a:r>
          </a:p>
        </p:txBody>
      </p:sp>
      <p:sp>
        <p:nvSpPr>
          <p:cNvPr id="8" name="s2-01-fill-panel">
            <a:extLst xmlns:a="http://schemas.openxmlformats.org/drawingml/2006/main">
              <a:ext uri="{FF2B5EF4-FFF2-40B4-BE49-F238E27FC236}">
                <a16:creationId xmlns:a16="http://schemas.microsoft.com/office/drawing/2014/main" id="{30DED08E-48B5-4F24-8E83-7129512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01-fill-text">
            <a:extLst xmlns:a="http://schemas.openxmlformats.org/drawingml/2006/main">
              <a:ext uri="{FF2B5EF4-FFF2-40B4-BE49-F238E27FC236}">
                <a16:creationId xmlns:a16="http://schemas.microsoft.com/office/drawing/2014/main" id="{0898F192-E765-4A02-84B1-0836BD32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0" name="s2-01-fill-label">
            <a:extLst xmlns:a="http://schemas.openxmlformats.org/drawingml/2006/main">
              <a:ext uri="{FF2B5EF4-FFF2-40B4-BE49-F238E27FC236}">
                <a16:creationId xmlns:a16="http://schemas.microsoft.com/office/drawing/2014/main" id="{44964733-D192-41FF-8B9E-EECA77E9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המשקל והאסטרטגיה הסופיים</a:t>
            </a:r>
          </a:p>
        </p:txBody>
      </p:sp>
      <p:sp>
        <p:nvSpPr>
          <p:cNvPr id="11" name="s2-02-index">
            <a:extLst xmlns:a="http://schemas.openxmlformats.org/drawingml/2006/main">
              <a:ext uri="{FF2B5EF4-FFF2-40B4-BE49-F238E27FC236}">
                <a16:creationId xmlns:a16="http://schemas.microsoft.com/office/drawing/2014/main" id="{E4438A57-F431-40AF-BE04-C97EFD6E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s2-02-title">
            <a:extLst xmlns:a="http://schemas.openxmlformats.org/drawingml/2006/main">
              <a:ext uri="{FF2B5EF4-FFF2-40B4-BE49-F238E27FC236}">
                <a16:creationId xmlns:a16="http://schemas.microsoft.com/office/drawing/2014/main" id="{9D3D4D38-2285-4E0A-9E45-31DE24A0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חזרה לממוצע</a:t>
            </a:r>
          </a:p>
        </p:txBody>
      </p:sp>
      <p:sp>
        <p:nvSpPr>
          <p:cNvPr id="13" name="s2-02-body">
            <a:extLst xmlns:a="http://schemas.openxmlformats.org/drawingml/2006/main">
              <a:ext uri="{FF2B5EF4-FFF2-40B4-BE49-F238E27FC236}">
                <a16:creationId xmlns:a16="http://schemas.microsoft.com/office/drawing/2014/main" id="{3F3FF607-DC98-4F09-887A-ECB1052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ניסיון לנצל תנועות קיצוניות וקצרות, בלי להניח שכל ירידה חייבת להתהפך.</a:t>
            </a:r>
          </a:p>
        </p:txBody>
      </p:sp>
      <p:sp>
        <p:nvSpPr>
          <p:cNvPr id="14" name="s2-02-fill-panel">
            <a:extLst xmlns:a="http://schemas.openxmlformats.org/drawingml/2006/main">
              <a:ext uri="{FF2B5EF4-FFF2-40B4-BE49-F238E27FC236}">
                <a16:creationId xmlns:a16="http://schemas.microsoft.com/office/drawing/2014/main" id="{8F5F59E5-45E3-47EF-811E-3C4EC7F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-02-fill-text">
            <a:extLst xmlns:a="http://schemas.openxmlformats.org/drawingml/2006/main">
              <a:ext uri="{FF2B5EF4-FFF2-40B4-BE49-F238E27FC236}">
                <a16:creationId xmlns:a16="http://schemas.microsoft.com/office/drawing/2014/main" id="{8737847E-D642-4D3F-A639-B33F9642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6" name="s2-02-fill-label">
            <a:extLst xmlns:a="http://schemas.openxmlformats.org/drawingml/2006/main">
              <a:ext uri="{FF2B5EF4-FFF2-40B4-BE49-F238E27FC236}">
                <a16:creationId xmlns:a16="http://schemas.microsoft.com/office/drawing/2014/main" id="{7AA8C656-8729-451A-9F6D-941E84E3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המשקל והאסטרטגיה הסופיים</a:t>
            </a:r>
          </a:p>
        </p:txBody>
      </p:sp>
      <p:sp>
        <p:nvSpPr>
          <p:cNvPr id="17" name="s2-03-index">
            <a:extLst xmlns:a="http://schemas.openxmlformats.org/drawingml/2006/main">
              <a:ext uri="{FF2B5EF4-FFF2-40B4-BE49-F238E27FC236}">
                <a16:creationId xmlns:a16="http://schemas.microsoft.com/office/drawing/2014/main" id="{79339D61-36DC-42DA-A20A-9E7B16A0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09800"/>
            <a:ext cx="3562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s2-03-title">
            <a:extLst xmlns:a="http://schemas.openxmlformats.org/drawingml/2006/main">
              <a:ext uri="{FF2B5EF4-FFF2-40B4-BE49-F238E27FC236}">
                <a16:creationId xmlns:a16="http://schemas.microsoft.com/office/drawing/2014/main" id="{0F5BC169-983E-4BCC-AE03-8A8862B8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הקצאה טקטית</a:t>
            </a:r>
          </a:p>
        </p:txBody>
      </p:sp>
      <p:sp>
        <p:nvSpPr>
          <p:cNvPr id="19" name="s2-03-body">
            <a:extLst xmlns:a="http://schemas.openxmlformats.org/drawingml/2006/main">
              <a:ext uri="{FF2B5EF4-FFF2-40B4-BE49-F238E27FC236}">
                <a16:creationId xmlns:a16="http://schemas.microsoft.com/office/drawing/2014/main" id="{98952F2C-859B-4E37-AB80-48806A29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35623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שינוי חשיפה בין נכסים לפי כללים קבועים ותנאי שוק מוגדרים.</a:t>
            </a:r>
          </a:p>
        </p:txBody>
      </p:sp>
      <p:sp>
        <p:nvSpPr>
          <p:cNvPr id="20" name="s2-03-fill-panel">
            <a:extLst xmlns:a="http://schemas.openxmlformats.org/drawingml/2006/main">
              <a:ext uri="{FF2B5EF4-FFF2-40B4-BE49-F238E27FC236}">
                <a16:creationId xmlns:a16="http://schemas.microsoft.com/office/drawing/2014/main" id="{FBA86CF6-8AFF-42AF-80A5-74B6FE7C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1244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03-fill-text">
            <a:extLst xmlns:a="http://schemas.openxmlformats.org/drawingml/2006/main">
              <a:ext uri="{FF2B5EF4-FFF2-40B4-BE49-F238E27FC236}">
                <a16:creationId xmlns:a16="http://schemas.microsoft.com/office/drawing/2014/main" id="{2A2D0354-E75F-4EA0-9AD2-460D53B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1625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2" name="s2-03-fill-label">
            <a:extLst xmlns:a="http://schemas.openxmlformats.org/drawingml/2006/main">
              <a:ext uri="{FF2B5EF4-FFF2-40B4-BE49-F238E27FC236}">
                <a16:creationId xmlns:a16="http://schemas.microsoft.com/office/drawing/2014/main" id="{A0978C13-E398-47E4-B82D-48B4938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35623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המשקל והאסטרטגיה הסופיים</a:t>
            </a:r>
          </a:p>
        </p:txBody>
      </p:sp>
      <p:sp>
        <p:nvSpPr>
          <p:cNvPr id="23" name="slide-2-draft-footer">
            <a:extLst xmlns:a="http://schemas.openxmlformats.org/drawingml/2006/main">
              <a:ext uri="{FF2B5EF4-FFF2-40B4-BE49-F238E27FC236}">
                <a16:creationId xmlns:a16="http://schemas.microsoft.com/office/drawing/2014/main" id="{D362E941-CACC-41C2-A181-65C77B94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4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F9AA0D1E-1FF8-48B5-975B-79C412EB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7216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8FD7BCE-E22B-447F-9178-17B9E9D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אמון מתחיל במי שמנהל את הכסף</a:t>
            </a:r>
          </a:p>
        </p:txBody>
      </p:sp>
      <p:sp>
        <p:nvSpPr>
          <p:cNvPr id="2" name="s3-photo-placeholder">
            <a:extLst xmlns:a="http://schemas.openxmlformats.org/drawingml/2006/main">
              <a:ext uri="{FF2B5EF4-FFF2-40B4-BE49-F238E27FC236}">
                <a16:creationId xmlns:a16="http://schemas.microsoft.com/office/drawing/2014/main" id="{560A1AE8-6B16-460B-8DA7-CC1F28A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47625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3-photo-fill">
            <a:extLst xmlns:a="http://schemas.openxmlformats.org/drawingml/2006/main">
              <a:ext uri="{FF2B5EF4-FFF2-40B4-BE49-F238E27FC236}">
                <a16:creationId xmlns:a16="http://schemas.microsoft.com/office/drawing/2014/main" id="{2775B0AE-9919-49A5-B38A-E8BE980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52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4" name="s3-photo-label">
            <a:extLst xmlns:a="http://schemas.openxmlformats.org/drawingml/2006/main">
              <a:ext uri="{FF2B5EF4-FFF2-40B4-BE49-F238E27FC236}">
                <a16:creationId xmlns:a16="http://schemas.microsoft.com/office/drawing/2014/main" id="{8A6C507C-566D-4BB6-8AF2-40A40A85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תמונת מייסד</a:t>
            </a:r>
          </a:p>
        </p:txBody>
      </p:sp>
      <p:sp>
        <p:nvSpPr>
          <p:cNvPr id="5" name="s3-row-0-label">
            <a:extLst xmlns:a="http://schemas.openxmlformats.org/drawingml/2006/main">
              <a:ext uri="{FF2B5EF4-FFF2-40B4-BE49-F238E27FC236}">
                <a16:creationId xmlns:a16="http://schemas.microsoft.com/office/drawing/2014/main" id="{A52DACAF-7ECB-4CDF-82A9-EE4DE147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שם המייסד והתפקיד</a:t>
            </a:r>
          </a:p>
        </p:txBody>
      </p:sp>
      <p:sp>
        <p:nvSpPr>
          <p:cNvPr id="6" name="s3-row-0-fill-panel">
            <a:extLst xmlns:a="http://schemas.openxmlformats.org/drawingml/2006/main">
              <a:ext uri="{FF2B5EF4-FFF2-40B4-BE49-F238E27FC236}">
                <a16:creationId xmlns:a16="http://schemas.microsoft.com/office/drawing/2014/main" id="{65C4A7DF-C559-45C3-9492-AA2D9576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193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row-0-fill-text">
            <a:extLst xmlns:a="http://schemas.openxmlformats.org/drawingml/2006/main">
              <a:ext uri="{FF2B5EF4-FFF2-40B4-BE49-F238E27FC236}">
                <a16:creationId xmlns:a16="http://schemas.microsoft.com/office/drawing/2014/main" id="{20B9CCA9-796A-4359-9842-2B05F910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5740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2" name="s3-row-0-rule"/>
          <p:cNvCxnSpPr/>
          <p:nvPr/>
        </p:nvCxnSpPr>
        <p:spPr>
          <a:xfrm xmlns:a="http://schemas.openxmlformats.org/drawingml/2006/main">
            <a:off x="6429375" y="24384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s3-row-1-label">
            <a:extLst xmlns:a="http://schemas.openxmlformats.org/drawingml/2006/main">
              <a:ext uri="{FF2B5EF4-FFF2-40B4-BE49-F238E27FC236}">
                <a16:creationId xmlns:a16="http://schemas.microsoft.com/office/drawing/2014/main" id="{655012A4-4293-43B2-8B0D-000374F1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רקע וניסיון רלוונטי</a:t>
            </a:r>
          </a:p>
        </p:txBody>
      </p:sp>
      <p:sp>
        <p:nvSpPr>
          <p:cNvPr id="10" name="s3-row-1-fill-panel">
            <a:extLst xmlns:a="http://schemas.openxmlformats.org/drawingml/2006/main">
              <a:ext uri="{FF2B5EF4-FFF2-40B4-BE49-F238E27FC236}">
                <a16:creationId xmlns:a16="http://schemas.microsoft.com/office/drawing/2014/main" id="{A7F7DBCF-4F08-4B84-832C-B1FC39C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row-1-fill-text">
            <a:extLst xmlns:a="http://schemas.openxmlformats.org/drawingml/2006/main">
              <a:ext uri="{FF2B5EF4-FFF2-40B4-BE49-F238E27FC236}">
                <a16:creationId xmlns:a16="http://schemas.microsoft.com/office/drawing/2014/main" id="{20E8ABFD-2626-4F18-92B2-69629D6A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6" name="s3-row-1-rule"/>
          <p:cNvCxnSpPr/>
          <p:nvPr/>
        </p:nvCxnSpPr>
        <p:spPr>
          <a:xfrm xmlns:a="http://schemas.openxmlformats.org/drawingml/2006/main">
            <a:off x="6429375" y="329565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3-row-2-label">
            <a:extLst xmlns:a="http://schemas.openxmlformats.org/drawingml/2006/main">
              <a:ext uri="{FF2B5EF4-FFF2-40B4-BE49-F238E27FC236}">
                <a16:creationId xmlns:a16="http://schemas.microsoft.com/office/drawing/2014/main" id="{55B7A20F-310C-4F4C-9B2C-5D2DF84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הון אישי המושקע לצד המשקיעים</a:t>
            </a:r>
          </a:p>
        </p:txBody>
      </p:sp>
      <p:sp>
        <p:nvSpPr>
          <p:cNvPr id="14" name="s3-row-2-fill-panel">
            <a:extLst xmlns:a="http://schemas.openxmlformats.org/drawingml/2006/main">
              <a:ext uri="{FF2B5EF4-FFF2-40B4-BE49-F238E27FC236}">
                <a16:creationId xmlns:a16="http://schemas.microsoft.com/office/drawing/2014/main" id="{67414BC4-1397-4889-B086-BC27B85C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338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3-row-2-fill-text">
            <a:extLst xmlns:a="http://schemas.openxmlformats.org/drawingml/2006/main">
              <a:ext uri="{FF2B5EF4-FFF2-40B4-BE49-F238E27FC236}">
                <a16:creationId xmlns:a16="http://schemas.microsoft.com/office/drawing/2014/main" id="{4CF78815-B28C-4D97-9CE7-D568E4B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7190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0" name="s3-row-2-rule"/>
          <p:cNvCxnSpPr/>
          <p:nvPr/>
        </p:nvCxnSpPr>
        <p:spPr>
          <a:xfrm xmlns:a="http://schemas.openxmlformats.org/drawingml/2006/main">
            <a:off x="6429375" y="41529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3-row-3-label">
            <a:extLst xmlns:a="http://schemas.openxmlformats.org/drawingml/2006/main">
              <a:ext uri="{FF2B5EF4-FFF2-40B4-BE49-F238E27FC236}">
                <a16:creationId xmlns:a16="http://schemas.microsoft.com/office/drawing/2014/main" id="{0C804356-1C2E-4CEC-B581-17138F5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ממתי פועל חשבון אמיתי</a:t>
            </a:r>
          </a:p>
        </p:txBody>
      </p:sp>
      <p:sp>
        <p:nvSpPr>
          <p:cNvPr id="18" name="s3-row-3-fill-panel">
            <a:extLst xmlns:a="http://schemas.openxmlformats.org/drawingml/2006/main">
              <a:ext uri="{FF2B5EF4-FFF2-40B4-BE49-F238E27FC236}">
                <a16:creationId xmlns:a16="http://schemas.microsoft.com/office/drawing/2014/main" id="{E86DE0C0-71AA-445D-A672-30DBD6A2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9105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3-row-3-fill-text">
            <a:extLst xmlns:a="http://schemas.openxmlformats.org/drawingml/2006/main">
              <a:ext uri="{FF2B5EF4-FFF2-40B4-BE49-F238E27FC236}">
                <a16:creationId xmlns:a16="http://schemas.microsoft.com/office/drawing/2014/main" id="{8FE48202-16EC-4917-89CE-A1C4E1C2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29150"/>
            <a:ext cx="990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4" name="s3-row-3-rule"/>
          <p:cNvCxnSpPr/>
          <p:nvPr/>
        </p:nvCxnSpPr>
        <p:spPr>
          <a:xfrm xmlns:a="http://schemas.openxmlformats.org/drawingml/2006/main">
            <a:off x="6429375" y="501015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s3-commitment-panel">
            <a:extLst xmlns:a="http://schemas.openxmlformats.org/drawingml/2006/main">
              <a:ext uri="{FF2B5EF4-FFF2-40B4-BE49-F238E27FC236}">
                <a16:creationId xmlns:a16="http://schemas.microsoft.com/office/drawing/2014/main" id="{540D3DAD-6038-4F3B-A67E-38769FF1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55340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3-commitment">
            <a:extLst xmlns:a="http://schemas.openxmlformats.org/drawingml/2006/main">
              <a:ext uri="{FF2B5EF4-FFF2-40B4-BE49-F238E27FC236}">
                <a16:creationId xmlns:a16="http://schemas.microsoft.com/office/drawing/2014/main" id="{DDA6495B-7383-4BA7-AC0A-DCB9820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51149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המחויבות: להסביר מה נעשה, מה עבד, מה לא — ומה השתנה.</a:t>
            </a:r>
          </a:p>
        </p:txBody>
      </p:sp>
      <p:sp>
        <p:nvSpPr>
          <p:cNvPr id="23" name="slide-3-draft-footer">
            <a:extLst xmlns:a="http://schemas.openxmlformats.org/drawingml/2006/main">
              <a:ext uri="{FF2B5EF4-FFF2-40B4-BE49-F238E27FC236}">
                <a16:creationId xmlns:a16="http://schemas.microsoft.com/office/drawing/2014/main" id="{55BE6F51-D5A7-43CE-9EFB-96CAC94B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4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04AF549D-4C1B-4369-82FA-13E31DFD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940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3464EAA-C362-4DD2-A68B-A2382AE3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דוגמה ליתרון: השוק לא תמיד מגיב מיד</a:t>
            </a:r>
          </a:p>
        </p:txBody>
      </p:sp>
      <p:cxnSp>
        <p:nvCxnSpPr>
          <p:cNvPr id="21" name="s4-center-rule"/>
          <p:cNvCxnSpPr/>
          <p:nvPr/>
        </p:nvCxnSpPr>
        <p:spPr>
          <a:xfrm xmlns:a="http://schemas.openxmlformats.org/drawingml/2006/main">
            <a:off x="6096000" y="1666875"/>
            <a:ext cx="286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4-principle-label">
            <a:extLst xmlns:a="http://schemas.openxmlformats.org/drawingml/2006/main">
              <a:ext uri="{FF2B5EF4-FFF2-40B4-BE49-F238E27FC236}">
                <a16:creationId xmlns:a16="http://schemas.microsoft.com/office/drawing/2014/main" id="{7772A046-DAAC-4B7D-B51B-6E59C26B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4876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הרעיון</a:t>
            </a:r>
          </a:p>
        </p:txBody>
      </p:sp>
      <p:sp>
        <p:nvSpPr>
          <p:cNvPr id="4" name="s4-principle-main">
            <a:extLst xmlns:a="http://schemas.openxmlformats.org/drawingml/2006/main">
              <a:ext uri="{FF2B5EF4-FFF2-40B4-BE49-F238E27FC236}">
                <a16:creationId xmlns:a16="http://schemas.microsoft.com/office/drawing/2014/main" id="{72EF8E52-6772-4945-BDF6-AA810587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8768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לעיתים, נכסים שהציגו חוזקה יחסית ממשיכים להוביל עוד זמן מה. לתופעה הזו קוראים מומנטום.</a:t>
            </a:r>
          </a:p>
        </p:txBody>
      </p:sp>
      <p:sp>
        <p:nvSpPr>
          <p:cNvPr id="5" name="s4-principle-caveat">
            <a:extLst xmlns:a="http://schemas.openxmlformats.org/drawingml/2006/main">
              <a:ext uri="{FF2B5EF4-FFF2-40B4-BE49-F238E27FC236}">
                <a16:creationId xmlns:a16="http://schemas.microsoft.com/office/drawing/2014/main" id="{181A5264-8554-45C3-8ED2-9A5EABB5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876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זה אינו חוק, והוא אינו עובד בכל תקופה.</a:t>
            </a:r>
          </a:p>
        </p:txBody>
      </p:sp>
      <p:sp>
        <p:nvSpPr>
          <p:cNvPr id="6" name="s4-test-label">
            <a:extLst xmlns:a="http://schemas.openxmlformats.org/drawingml/2006/main">
              <a:ext uri="{FF2B5EF4-FFF2-40B4-BE49-F238E27FC236}">
                <a16:creationId xmlns:a16="http://schemas.microsoft.com/office/drawing/2014/main" id="{67882196-F910-4736-8F96-C91E709C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76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איך בודקים</a:t>
            </a:r>
          </a:p>
        </p:txBody>
      </p:sp>
      <p:sp>
        <p:nvSpPr>
          <p:cNvPr id="7" name="s4-test-0-check">
            <a:extLst xmlns:a="http://schemas.openxmlformats.org/drawingml/2006/main">
              <a:ext uri="{FF2B5EF4-FFF2-40B4-BE49-F238E27FC236}">
                <a16:creationId xmlns:a16="http://schemas.microsoft.com/office/drawing/2014/main" id="{993C370B-F1D6-41DF-86E2-FDF1FA2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s4-test-0-text">
            <a:extLst xmlns:a="http://schemas.openxmlformats.org/drawingml/2006/main">
              <a:ext uri="{FF2B5EF4-FFF2-40B4-BE49-F238E27FC236}">
                <a16:creationId xmlns:a16="http://schemas.microsoft.com/office/drawing/2014/main" id="{5F438871-E777-49CC-9E8E-ACC6C45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מתי התופעה הופיעה — ומתי נכשלה</a:t>
            </a:r>
          </a:p>
        </p:txBody>
      </p:sp>
      <p:sp>
        <p:nvSpPr>
          <p:cNvPr id="9" name="s4-test-1-check">
            <a:extLst xmlns:a="http://schemas.openxmlformats.org/drawingml/2006/main">
              <a:ext uri="{FF2B5EF4-FFF2-40B4-BE49-F238E27FC236}">
                <a16:creationId xmlns:a16="http://schemas.microsoft.com/office/drawing/2014/main" id="{EC95AE6E-E203-4EB7-89A7-2C39C4D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0" name="s4-test-1-text">
            <a:extLst xmlns:a="http://schemas.openxmlformats.org/drawingml/2006/main">
              <a:ext uri="{FF2B5EF4-FFF2-40B4-BE49-F238E27FC236}">
                <a16:creationId xmlns:a16="http://schemas.microsoft.com/office/drawing/2014/main" id="{48C17E58-C8A4-4DD4-871C-DC7714C6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היא נשארת לאחר עלויות מסחר</a:t>
            </a:r>
          </a:p>
        </p:txBody>
      </p:sp>
      <p:sp>
        <p:nvSpPr>
          <p:cNvPr id="11" name="s4-test-2-check">
            <a:extLst xmlns:a="http://schemas.openxmlformats.org/drawingml/2006/main">
              <a:ext uri="{FF2B5EF4-FFF2-40B4-BE49-F238E27FC236}">
                <a16:creationId xmlns:a16="http://schemas.microsoft.com/office/drawing/2014/main" id="{600F531D-1772-4968-8BFC-B3F0A3D6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s4-test-2-text">
            <a:extLst xmlns:a="http://schemas.openxmlformats.org/drawingml/2006/main">
              <a:ext uri="{FF2B5EF4-FFF2-40B4-BE49-F238E27FC236}">
                <a16:creationId xmlns:a16="http://schemas.microsoft.com/office/drawing/2014/main" id="{4EA4779B-A5A5-4A91-B33B-FDAA4329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התוצאה תלויה בתקופה חריגה אחת</a:t>
            </a:r>
          </a:p>
        </p:txBody>
      </p:sp>
      <p:sp>
        <p:nvSpPr>
          <p:cNvPr id="13" name="s4-test-3-check">
            <a:extLst xmlns:a="http://schemas.openxmlformats.org/drawingml/2006/main">
              <a:ext uri="{FF2B5EF4-FFF2-40B4-BE49-F238E27FC236}">
                <a16:creationId xmlns:a16="http://schemas.microsoft.com/office/drawing/2014/main" id="{E1EA5D3B-BE1C-46D7-9FC2-C156E914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457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4" name="s4-test-3-text">
            <a:extLst xmlns:a="http://schemas.openxmlformats.org/drawingml/2006/main">
              <a:ext uri="{FF2B5EF4-FFF2-40B4-BE49-F238E27FC236}">
                <a16:creationId xmlns:a16="http://schemas.microsoft.com/office/drawing/2014/main" id="{AB55A6D5-D600-4716-AEB3-F2135481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248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היא מוסיפה ערך לתיק המלא</a:t>
            </a:r>
          </a:p>
        </p:txBody>
      </p:sp>
      <p:sp>
        <p:nvSpPr>
          <p:cNvPr id="15" name="s4-bottom-callout">
            <a:extLst xmlns:a="http://schemas.openxmlformats.org/drawingml/2006/main">
              <a:ext uri="{FF2B5EF4-FFF2-40B4-BE49-F238E27FC236}">
                <a16:creationId xmlns:a16="http://schemas.microsoft.com/office/drawing/2014/main" id="{9A8D46E9-1D70-481E-990C-85A9ABA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29250"/>
            <a:ext cx="11410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bottom-text">
            <a:extLst xmlns:a="http://schemas.openxmlformats.org/drawingml/2006/main">
              <a:ext uri="{FF2B5EF4-FFF2-40B4-BE49-F238E27FC236}">
                <a16:creationId xmlns:a16="http://schemas.microsoft.com/office/drawing/2014/main" id="{288D5490-DB18-48DB-B7F0-687F2BA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לא רודפים אחרי מה שעלה. מיישמים כלל עקבי — ורק לאחר בדיקות.</a:t>
            </a:r>
          </a:p>
        </p:txBody>
      </p:sp>
      <p:sp>
        <p:nvSpPr>
          <p:cNvPr id="17" name="s4-source">
            <a:extLst xmlns:a="http://schemas.openxmlformats.org/drawingml/2006/main">
              <a:ext uri="{FF2B5EF4-FFF2-40B4-BE49-F238E27FC236}">
                <a16:creationId xmlns:a16="http://schemas.microsoft.com/office/drawing/2014/main" id="{C57DAAC4-3B1C-47BA-B83D-133B610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15050"/>
            <a:ext cx="569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דוגמת מחקר וניסוי תפעולי בלבד | מקור אקדמי להצגה: FILL</a:t>
            </a:r>
          </a:p>
        </p:txBody>
      </p:sp>
      <p:sp>
        <p:nvSpPr>
          <p:cNvPr id="18" name="slide-4-draft-footer">
            <a:extLst xmlns:a="http://schemas.openxmlformats.org/drawingml/2006/main">
              <a:ext uri="{FF2B5EF4-FFF2-40B4-BE49-F238E27FC236}">
                <a16:creationId xmlns:a16="http://schemas.microsoft.com/office/drawing/2014/main" id="{5E61F6AA-426A-4F7B-A092-57519F9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19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7844B5CA-BE07-442F-96DD-59FBB2F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40024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802B18B-8D70-4311-9A8A-1494115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רעיון מקבל הון רק אחרי שניסינו לשבור אותו</a:t>
            </a:r>
          </a:p>
        </p:txBody>
      </p:sp>
      <p:cxnSp>
        <p:nvCxnSpPr>
          <p:cNvPr id="25" name="s5-timeline-line"/>
          <p:cNvCxnSpPr/>
          <p:nvPr/>
        </p:nvCxnSpPr>
        <p:spPr>
          <a:xfrm xmlns:a="http://schemas.openxmlformats.org/drawingml/2006/main">
            <a:off x="857250" y="4953000"/>
            <a:ext cx="1047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216"/>
            </a:solidFill>
            <a:prstDash val="solid"/>
          </a:ln>
        </p:spPr>
      </p:cxnSp>
      <p:sp>
        <p:nvSpPr>
          <p:cNvPr id="3" name="s5-dot-1">
            <a:extLst xmlns:a="http://schemas.openxmlformats.org/drawingml/2006/main">
              <a:ext uri="{FF2B5EF4-FFF2-40B4-BE49-F238E27FC236}">
                <a16:creationId xmlns:a16="http://schemas.microsoft.com/office/drawing/2014/main" id="{5206869E-DB6A-4E76-B137-99894403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5-dot-2">
            <a:extLst xmlns:a="http://schemas.openxmlformats.org/drawingml/2006/main">
              <a:ext uri="{FF2B5EF4-FFF2-40B4-BE49-F238E27FC236}">
                <a16:creationId xmlns:a16="http://schemas.microsoft.com/office/drawing/2014/main" id="{DA857BB3-3174-4725-81AC-27C2BFE0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5-dot-3">
            <a:extLst xmlns:a="http://schemas.openxmlformats.org/drawingml/2006/main">
              <a:ext uri="{FF2B5EF4-FFF2-40B4-BE49-F238E27FC236}">
                <a16:creationId xmlns:a16="http://schemas.microsoft.com/office/drawing/2014/main" id="{D7124B54-115C-469B-811D-CDAE531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stage-1-panel">
            <a:extLst xmlns:a="http://schemas.openxmlformats.org/drawingml/2006/main">
              <a:ext uri="{FF2B5EF4-FFF2-40B4-BE49-F238E27FC236}">
                <a16:creationId xmlns:a16="http://schemas.microsoft.com/office/drawing/2014/main" id="{35947D3F-DF67-4380-AA3E-4A5BC16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stage-1-number">
            <a:extLst xmlns:a="http://schemas.openxmlformats.org/drawingml/2006/main">
              <a:ext uri="{FF2B5EF4-FFF2-40B4-BE49-F238E27FC236}">
                <a16:creationId xmlns:a16="http://schemas.microsoft.com/office/drawing/2014/main" id="{A38F1A50-3E43-4A40-853A-E1D4CE83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s5-stage-1-title">
            <a:extLst xmlns:a="http://schemas.openxmlformats.org/drawingml/2006/main">
              <a:ext uri="{FF2B5EF4-FFF2-40B4-BE49-F238E27FC236}">
                <a16:creationId xmlns:a16="http://schemas.microsoft.com/office/drawing/2014/main" id="{2542411B-8867-4034-9824-3744EECE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מנסחים השערה</a:t>
            </a:r>
          </a:p>
        </p:txBody>
      </p:sp>
      <p:sp>
        <p:nvSpPr>
          <p:cNvPr id="9" name="s5-stage-1-body">
            <a:extLst xmlns:a="http://schemas.openxmlformats.org/drawingml/2006/main">
              <a:ext uri="{FF2B5EF4-FFF2-40B4-BE49-F238E27FC236}">
                <a16:creationId xmlns:a16="http://schemas.microsoft.com/office/drawing/2014/main" id="{6C4B4655-6E71-4509-BD48-84E09B7A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אמור לעבוד, למה, ומתי בדיוק מתקבלת ההחלטה.</a:t>
            </a:r>
          </a:p>
        </p:txBody>
      </p:sp>
      <p:sp>
        <p:nvSpPr>
          <p:cNvPr id="10" name="s5-stage-1-label">
            <a:extLst xmlns:a="http://schemas.openxmlformats.org/drawingml/2006/main">
              <a:ext uri="{FF2B5EF4-FFF2-40B4-BE49-F238E27FC236}">
                <a16:creationId xmlns:a16="http://schemas.microsoft.com/office/drawing/2014/main" id="{C7FED142-94B2-43E8-B8AE-D04116B9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שלב 1</a:t>
            </a:r>
          </a:p>
        </p:txBody>
      </p:sp>
      <p:sp>
        <p:nvSpPr>
          <p:cNvPr id="11" name="s5-stage-2-panel">
            <a:extLst xmlns:a="http://schemas.openxmlformats.org/drawingml/2006/main">
              <a:ext uri="{FF2B5EF4-FFF2-40B4-BE49-F238E27FC236}">
                <a16:creationId xmlns:a16="http://schemas.microsoft.com/office/drawing/2014/main" id="{B48CFFFD-E387-40DB-B845-B7303FEA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5-stage-2-number">
            <a:extLst xmlns:a="http://schemas.openxmlformats.org/drawingml/2006/main">
              <a:ext uri="{FF2B5EF4-FFF2-40B4-BE49-F238E27FC236}">
                <a16:creationId xmlns:a16="http://schemas.microsoft.com/office/drawing/2014/main" id="{9FCA086E-7EDB-47F3-A6C7-837EB9F9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5-stage-2-title">
            <a:extLst xmlns:a="http://schemas.openxmlformats.org/drawingml/2006/main">
              <a:ext uri="{FF2B5EF4-FFF2-40B4-BE49-F238E27FC236}">
                <a16:creationId xmlns:a16="http://schemas.microsoft.com/office/drawing/2014/main" id="{286830AC-B579-48D6-9109-178B178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מנסים להפריך</a:t>
            </a:r>
          </a:p>
        </p:txBody>
      </p:sp>
      <p:sp>
        <p:nvSpPr>
          <p:cNvPr id="14" name="s5-stage-2-body">
            <a:extLst xmlns:a="http://schemas.openxmlformats.org/drawingml/2006/main">
              <a:ext uri="{FF2B5EF4-FFF2-40B4-BE49-F238E27FC236}">
                <a16:creationId xmlns:a16="http://schemas.microsoft.com/office/drawing/2014/main" id="{C358E6CD-2A7F-48C6-91F0-7A7F0AC6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תקופות שונות, עלויות, תנאי שוק קשים ותלות באירוע חריג.</a:t>
            </a:r>
          </a:p>
        </p:txBody>
      </p:sp>
      <p:sp>
        <p:nvSpPr>
          <p:cNvPr id="15" name="s5-stage-2-label">
            <a:extLst xmlns:a="http://schemas.openxmlformats.org/drawingml/2006/main">
              <a:ext uri="{FF2B5EF4-FFF2-40B4-BE49-F238E27FC236}">
                <a16:creationId xmlns:a16="http://schemas.microsoft.com/office/drawing/2014/main" id="{7FF97500-B0F2-4128-9631-0E11BE32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שלב 2</a:t>
            </a:r>
          </a:p>
        </p:txBody>
      </p:sp>
      <p:sp>
        <p:nvSpPr>
          <p:cNvPr id="16" name="s5-stage-3-panel">
            <a:extLst xmlns:a="http://schemas.openxmlformats.org/drawingml/2006/main">
              <a:ext uri="{FF2B5EF4-FFF2-40B4-BE49-F238E27FC236}">
                <a16:creationId xmlns:a16="http://schemas.microsoft.com/office/drawing/2014/main" id="{FC5212AE-DB29-45E4-B526-89D55DB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5623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5-stage-3-number">
            <a:extLst xmlns:a="http://schemas.openxmlformats.org/drawingml/2006/main">
              <a:ext uri="{FF2B5EF4-FFF2-40B4-BE49-F238E27FC236}">
                <a16:creationId xmlns:a16="http://schemas.microsoft.com/office/drawing/2014/main" id="{0CD4797C-1A59-45C4-B2F6-47CB978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53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s5-stage-3-title">
            <a:extLst xmlns:a="http://schemas.openxmlformats.org/drawingml/2006/main">
              <a:ext uri="{FF2B5EF4-FFF2-40B4-BE49-F238E27FC236}">
                <a16:creationId xmlns:a16="http://schemas.microsoft.com/office/drawing/2014/main" id="{1102B2CC-924C-4E5F-A2BD-447FC16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914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מתחילים קטן</a:t>
            </a:r>
          </a:p>
        </p:txBody>
      </p:sp>
      <p:sp>
        <p:nvSpPr>
          <p:cNvPr id="19" name="s5-stage-3-body">
            <a:extLst xmlns:a="http://schemas.openxmlformats.org/drawingml/2006/main">
              <a:ext uri="{FF2B5EF4-FFF2-40B4-BE49-F238E27FC236}">
                <a16:creationId xmlns:a16="http://schemas.microsoft.com/office/drawing/2014/main" id="{362FC058-7BB7-4E73-8AE8-39CC63B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146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ניסוי תפעולי, מסחר מוגבל, ניטור — ואז הגדלה או עצירה.</a:t>
            </a:r>
          </a:p>
        </p:txBody>
      </p:sp>
      <p:sp>
        <p:nvSpPr>
          <p:cNvPr id="20" name="s5-stage-3-label">
            <a:extLst xmlns:a="http://schemas.openxmlformats.org/drawingml/2006/main">
              <a:ext uri="{FF2B5EF4-FFF2-40B4-BE49-F238E27FC236}">
                <a16:creationId xmlns:a16="http://schemas.microsoft.com/office/drawing/2014/main" id="{3FB37CDA-8179-4986-ACD8-7F883B20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914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שלב 3</a:t>
            </a:r>
          </a:p>
        </p:txBody>
      </p:sp>
      <p:sp>
        <p:nvSpPr>
          <p:cNvPr id="21" name="s5-rejected-example">
            <a:extLst xmlns:a="http://schemas.openxmlformats.org/drawingml/2006/main">
              <a:ext uri="{FF2B5EF4-FFF2-40B4-BE49-F238E27FC236}">
                <a16:creationId xmlns:a16="http://schemas.microsoft.com/office/drawing/2014/main" id="{F629F973-13A8-4ADE-B944-FD10DA9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70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דוגמה: רעיון המבוסס על פער פתיחה נראה חזק לפני עלויות. לאחר עלויות ובדיקת תקופות שונות, התוצאה לא הייתה יציבה — ולכן לא קודם להשקעה.</a:t>
            </a:r>
          </a:p>
        </p:txBody>
      </p:sp>
      <p:sp>
        <p:nvSpPr>
          <p:cNvPr id="22" name="slide-5-draft-footer">
            <a:extLst xmlns:a="http://schemas.openxmlformats.org/drawingml/2006/main">
              <a:ext uri="{FF2B5EF4-FFF2-40B4-BE49-F238E27FC236}">
                <a16:creationId xmlns:a16="http://schemas.microsoft.com/office/drawing/2014/main" id="{21D252A4-BF9F-4329-A228-0D61518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3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B1D5574E-737B-4894-AF23-F317209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84383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2EF3C21-10A4-4248-9308-EFF6FBA0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בדיקה וכסף אמיתי מוצגים בנפרד</a:t>
            </a:r>
          </a:p>
        </p:txBody>
      </p:sp>
      <p:sp>
        <p:nvSpPr>
          <p:cNvPr id="2" name="s6-intro">
            <a:extLst xmlns:a="http://schemas.openxmlformats.org/drawingml/2006/main">
              <a:ext uri="{FF2B5EF4-FFF2-40B4-BE49-F238E27FC236}">
                <a16:creationId xmlns:a16="http://schemas.microsoft.com/office/drawing/2014/main" id="{AC2626C5-D1C8-4581-BC61-844076A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00150"/>
            <a:ext cx="9124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לכל תוצאה מוצמדת רמת הראיה שלה. סימולציה לעולם לא תוצג כתשואה שהושגה בחשבון אמיתי.</a:t>
            </a:r>
          </a:p>
        </p:txBody>
      </p:sp>
      <p:sp>
        <p:nvSpPr>
          <p:cNvPr id="3" name="s6-evidence-0-panel">
            <a:extLst xmlns:a="http://schemas.openxmlformats.org/drawingml/2006/main">
              <a:ext uri="{FF2B5EF4-FFF2-40B4-BE49-F238E27FC236}">
                <a16:creationId xmlns:a16="http://schemas.microsoft.com/office/drawing/2014/main" id="{571E081A-8706-4E3D-A44E-A7374EFE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6-evidence-0-title">
            <a:extLst xmlns:a="http://schemas.openxmlformats.org/drawingml/2006/main">
              <a:ext uri="{FF2B5EF4-FFF2-40B4-BE49-F238E27FC236}">
                <a16:creationId xmlns:a16="http://schemas.microsoft.com/office/drawing/2014/main" id="{23C90A3B-B0CE-48BF-B34F-55EAB6B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כסף אמיתי</a:t>
            </a:r>
          </a:p>
        </p:txBody>
      </p:sp>
      <p:sp>
        <p:nvSpPr>
          <p:cNvPr id="5" name="s6-evidence-0-subtitle">
            <a:extLst xmlns:a="http://schemas.openxmlformats.org/drawingml/2006/main">
              <a:ext uri="{FF2B5EF4-FFF2-40B4-BE49-F238E27FC236}">
                <a16:creationId xmlns:a16="http://schemas.microsoft.com/office/drawing/2014/main" id="{3BDA4223-4E07-46D8-B2AC-8CBADC79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LIVE</a:t>
            </a:r>
          </a:p>
        </p:txBody>
      </p:sp>
      <p:sp>
        <p:nvSpPr>
          <p:cNvPr id="6" name="s6-evidence-0-fill-panel">
            <a:extLst xmlns:a="http://schemas.openxmlformats.org/drawingml/2006/main">
              <a:ext uri="{FF2B5EF4-FFF2-40B4-BE49-F238E27FC236}">
                <a16:creationId xmlns:a16="http://schemas.microsoft.com/office/drawing/2014/main" id="{206C9656-DA63-418E-B7D4-276D976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evidence-0-fill-text">
            <a:extLst xmlns:a="http://schemas.openxmlformats.org/drawingml/2006/main">
              <a:ext uri="{FF2B5EF4-FFF2-40B4-BE49-F238E27FC236}">
                <a16:creationId xmlns:a16="http://schemas.microsoft.com/office/drawing/2014/main" id="{C7852018-791D-4F89-B503-0D604B16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8" name="s6-evidence-0-body">
            <a:extLst xmlns:a="http://schemas.openxmlformats.org/drawingml/2006/main">
              <a:ext uri="{FF2B5EF4-FFF2-40B4-BE49-F238E27FC236}">
                <a16:creationId xmlns:a16="http://schemas.microsoft.com/office/drawing/2014/main" id="{22EEE779-7D90-4277-8F10-A9F72C5B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ביצוע בפועל בחשבון. נדרשים תאריך התחלה, הפקדות ומשיכות ובסיס מדידה.</a:t>
            </a:r>
          </a:p>
        </p:txBody>
      </p:sp>
      <p:sp>
        <p:nvSpPr>
          <p:cNvPr id="9" name="s6-evidence-1-panel">
            <a:extLst xmlns:a="http://schemas.openxmlformats.org/drawingml/2006/main">
              <a:ext uri="{FF2B5EF4-FFF2-40B4-BE49-F238E27FC236}">
                <a16:creationId xmlns:a16="http://schemas.microsoft.com/office/drawing/2014/main" id="{017AD8A6-4B95-4779-A67B-10655C59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evidence-1-title">
            <a:extLst xmlns:a="http://schemas.openxmlformats.org/drawingml/2006/main">
              <a:ext uri="{FF2B5EF4-FFF2-40B4-BE49-F238E27FC236}">
                <a16:creationId xmlns:a16="http://schemas.microsoft.com/office/drawing/2014/main" id="{8D363605-53BF-4567-978B-E0695867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ניסוי בזמן אמת</a:t>
            </a:r>
          </a:p>
        </p:txBody>
      </p:sp>
      <p:sp>
        <p:nvSpPr>
          <p:cNvPr id="11" name="s6-evidence-1-subtitle">
            <a:extLst xmlns:a="http://schemas.openxmlformats.org/drawingml/2006/main">
              <a:ext uri="{FF2B5EF4-FFF2-40B4-BE49-F238E27FC236}">
                <a16:creationId xmlns:a16="http://schemas.microsoft.com/office/drawing/2014/main" id="{312AA216-825A-4885-A6C9-D47CB62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INCUBATION / PAPER</a:t>
            </a:r>
          </a:p>
        </p:txBody>
      </p:sp>
      <p:sp>
        <p:nvSpPr>
          <p:cNvPr id="12" name="s6-evidence-1-fill-panel">
            <a:extLst xmlns:a="http://schemas.openxmlformats.org/drawingml/2006/main">
              <a:ext uri="{FF2B5EF4-FFF2-40B4-BE49-F238E27FC236}">
                <a16:creationId xmlns:a16="http://schemas.microsoft.com/office/drawing/2014/main" id="{4726D05A-6333-4D4F-984E-FD9BEF2D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6-evidence-1-fill-text">
            <a:extLst xmlns:a="http://schemas.openxmlformats.org/drawingml/2006/main">
              <a:ext uri="{FF2B5EF4-FFF2-40B4-BE49-F238E27FC236}">
                <a16:creationId xmlns:a16="http://schemas.microsoft.com/office/drawing/2014/main" id="{05DC196F-055D-4D39-B1CA-7ABE2DC1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4" name="s6-evidence-1-body">
            <a:extLst xmlns:a="http://schemas.openxmlformats.org/drawingml/2006/main">
              <a:ext uri="{FF2B5EF4-FFF2-40B4-BE49-F238E27FC236}">
                <a16:creationId xmlns:a16="http://schemas.microsoft.com/office/drawing/2014/main" id="{3F212297-91AB-4B02-9BB6-11A1C65C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בודק תהליך, תזמון וחיבור לברוקר. אינו תשואה שהושגה בכסף אמיתי.</a:t>
            </a:r>
          </a:p>
        </p:txBody>
      </p:sp>
      <p:sp>
        <p:nvSpPr>
          <p:cNvPr id="15" name="s6-evidence-2-panel">
            <a:extLst xmlns:a="http://schemas.openxmlformats.org/drawingml/2006/main">
              <a:ext uri="{FF2B5EF4-FFF2-40B4-BE49-F238E27FC236}">
                <a16:creationId xmlns:a16="http://schemas.microsoft.com/office/drawing/2014/main" id="{132E725C-DE29-4872-AFAF-8A57B983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3571875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6-evidence-2-title">
            <a:extLst xmlns:a="http://schemas.openxmlformats.org/drawingml/2006/main">
              <a:ext uri="{FF2B5EF4-FFF2-40B4-BE49-F238E27FC236}">
                <a16:creationId xmlns:a16="http://schemas.microsoft.com/office/drawing/2014/main" id="{F3E97017-EE7B-4CBB-8F3F-1F2C17EF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52700"/>
            <a:ext cx="30003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בדיקה היסטורית</a:t>
            </a:r>
          </a:p>
        </p:txBody>
      </p:sp>
      <p:sp>
        <p:nvSpPr>
          <p:cNvPr id="17" name="s6-evidence-2-subtitle">
            <a:extLst xmlns:a="http://schemas.openxmlformats.org/drawingml/2006/main">
              <a:ext uri="{FF2B5EF4-FFF2-40B4-BE49-F238E27FC236}">
                <a16:creationId xmlns:a16="http://schemas.microsoft.com/office/drawing/2014/main" id="{A0127D00-E5A1-4411-BE47-9A1B085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300037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BACKTEST</a:t>
            </a:r>
          </a:p>
        </p:txBody>
      </p:sp>
      <p:sp>
        <p:nvSpPr>
          <p:cNvPr id="18" name="s6-evidence-2-fill-panel">
            <a:extLst xmlns:a="http://schemas.openxmlformats.org/drawingml/2006/main">
              <a:ext uri="{FF2B5EF4-FFF2-40B4-BE49-F238E27FC236}">
                <a16:creationId xmlns:a16="http://schemas.microsoft.com/office/drawing/2014/main" id="{4C3D81B6-3A87-469A-88BC-38D5B013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1181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evidence-2-fill-text">
            <a:extLst xmlns:a="http://schemas.openxmlformats.org/drawingml/2006/main">
              <a:ext uri="{FF2B5EF4-FFF2-40B4-BE49-F238E27FC236}">
                <a16:creationId xmlns:a16="http://schemas.microsoft.com/office/drawing/2014/main" id="{95AC2402-1904-47B1-B9D0-706A4E2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33800"/>
            <a:ext cx="990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0" name="s6-evidence-2-body">
            <a:extLst xmlns:a="http://schemas.openxmlformats.org/drawingml/2006/main">
              <a:ext uri="{FF2B5EF4-FFF2-40B4-BE49-F238E27FC236}">
                <a16:creationId xmlns:a16="http://schemas.microsoft.com/office/drawing/2014/main" id="{B9FD88D5-B28D-4787-9D93-49CFEFCC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62450"/>
            <a:ext cx="300037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היה קורה לפי נתוני עבר והנחות מוגדרות. תוצאה היפותטית בלבד.</a:t>
            </a:r>
          </a:p>
        </p:txBody>
      </p:sp>
      <p:sp>
        <p:nvSpPr>
          <p:cNvPr id="21" name="s6-status-note">
            <a:extLst xmlns:a="http://schemas.openxmlformats.org/drawingml/2006/main">
              <a:ext uri="{FF2B5EF4-FFF2-40B4-BE49-F238E27FC236}">
                <a16:creationId xmlns:a16="http://schemas.microsoft.com/office/drawing/2014/main" id="{5AFC459F-54A2-43E2-936F-67BE4F9F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102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הסטטוס הנוכחי של כל רכיב בפורטפוליו</a:t>
            </a:r>
          </a:p>
        </p:txBody>
      </p:sp>
      <p:sp>
        <p:nvSpPr>
          <p:cNvPr id="22" name="s6-status-fill-panel">
            <a:extLst xmlns:a="http://schemas.openxmlformats.org/drawingml/2006/main">
              <a:ext uri="{FF2B5EF4-FFF2-40B4-BE49-F238E27FC236}">
                <a16:creationId xmlns:a16="http://schemas.microsoft.com/office/drawing/2014/main" id="{AFEAD09F-2648-44D3-9174-DC77A7B0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6-status-fill-text">
            <a:extLst xmlns:a="http://schemas.openxmlformats.org/drawingml/2006/main">
              <a:ext uri="{FF2B5EF4-FFF2-40B4-BE49-F238E27FC236}">
                <a16:creationId xmlns:a16="http://schemas.microsoft.com/office/drawing/2014/main" id="{99E166A7-E4CD-4174-9DC2-70989EF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112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4" name="slide-6-draft-footer">
            <a:extLst xmlns:a="http://schemas.openxmlformats.org/drawingml/2006/main">
              <a:ext uri="{FF2B5EF4-FFF2-40B4-BE49-F238E27FC236}">
                <a16:creationId xmlns:a16="http://schemas.microsoft.com/office/drawing/2014/main" id="{4E6F463E-5547-47A4-BD2F-22FE7EC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5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B85CF78F-0654-4EAE-92C4-BC74E00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8612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CF13950-15F1-4F3D-88CE-3F909D0D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גם תהליך טוב כולל תקופות קשות</a:t>
            </a:r>
          </a:p>
        </p:txBody>
      </p:sp>
      <p:sp>
        <p:nvSpPr>
          <p:cNvPr id="2" name="s7-intro-panel">
            <a:extLst xmlns:a="http://schemas.openxmlformats.org/drawingml/2006/main">
              <a:ext uri="{FF2B5EF4-FFF2-40B4-BE49-F238E27FC236}">
                <a16:creationId xmlns:a16="http://schemas.microsoft.com/office/drawing/2014/main" id="{0F712614-C04C-460A-9EE2-5AFD4A0F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71875" cy="4191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7-intro-title">
            <a:extLst xmlns:a="http://schemas.openxmlformats.org/drawingml/2006/main">
              <a:ext uri="{FF2B5EF4-FFF2-40B4-BE49-F238E27FC236}">
                <a16:creationId xmlns:a16="http://schemas.microsoft.com/office/drawing/2014/main" id="{E73212F1-13EB-4241-83E3-FABD7B3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29051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לפני השקעה, נציג טווחים — לא מספר יעד יחיד.</a:t>
            </a:r>
          </a:p>
        </p:txBody>
      </p:sp>
      <p:sp>
        <p:nvSpPr>
          <p:cNvPr id="4" name="s7-intro-body">
            <a:extLst xmlns:a="http://schemas.openxmlformats.org/drawingml/2006/main">
              <a:ext uri="{FF2B5EF4-FFF2-40B4-BE49-F238E27FC236}">
                <a16:creationId xmlns:a16="http://schemas.microsoft.com/office/drawing/2014/main" id="{4DDB3683-C7ED-41D6-B70D-CDE9019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62350"/>
            <a:ext cx="2905125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המשקיע צריך להבין מראש כיצד חודש חלש, ירידה מהשיא או התאוששות ארוכה עלולים להרגיש.</a:t>
            </a:r>
          </a:p>
        </p:txBody>
      </p:sp>
      <p:sp>
        <p:nvSpPr>
          <p:cNvPr id="5" name="s7-intro-caveat">
            <a:extLst xmlns:a="http://schemas.openxmlformats.org/drawingml/2006/main">
              <a:ext uri="{FF2B5EF4-FFF2-40B4-BE49-F238E27FC236}">
                <a16:creationId xmlns:a16="http://schemas.microsoft.com/office/drawing/2014/main" id="{E5339D6E-966B-4B11-8F40-22A26AC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9051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המספרים יתארו תרחישים מותנים בהיסטוריה ובהנחות. הם אינם תחזית או הבטחה.</a:t>
            </a:r>
          </a:p>
        </p:txBody>
      </p:sp>
      <p:cxnSp>
        <p:nvCxnSpPr>
          <p:cNvPr id="33" name="s7-row-0-line"/>
          <p:cNvCxnSpPr/>
          <p:nvPr/>
        </p:nvCxnSpPr>
        <p:spPr>
          <a:xfrm xmlns:a="http://schemas.openxmlformats.org/drawingml/2006/main">
            <a:off x="390525" y="2600325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s7-row-0-label">
            <a:extLst xmlns:a="http://schemas.openxmlformats.org/drawingml/2006/main">
              <a:ext uri="{FF2B5EF4-FFF2-40B4-BE49-F238E27FC236}">
                <a16:creationId xmlns:a16="http://schemas.microsoft.com/office/drawing/2014/main" id="{DFA99111-F055-45D4-804F-916147D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62125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תנועה חודשית טיפוסית</a:t>
            </a:r>
          </a:p>
        </p:txBody>
      </p:sp>
      <p:sp>
        <p:nvSpPr>
          <p:cNvPr id="8" name="s7-row-0-detail">
            <a:extLst xmlns:a="http://schemas.openxmlformats.org/drawingml/2006/main">
              <a:ext uri="{FF2B5EF4-FFF2-40B4-BE49-F238E27FC236}">
                <a16:creationId xmlns:a16="http://schemas.microsoft.com/office/drawing/2014/main" id="{C794503E-04E9-46AF-AEF3-18C0142A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62175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טווח מרכזי, לאחר עלויות</a:t>
            </a:r>
          </a:p>
        </p:txBody>
      </p:sp>
      <p:sp>
        <p:nvSpPr>
          <p:cNvPr id="9" name="s7-row-0-fill-panel">
            <a:extLst xmlns:a="http://schemas.openxmlformats.org/drawingml/2006/main">
              <a:ext uri="{FF2B5EF4-FFF2-40B4-BE49-F238E27FC236}">
                <a16:creationId xmlns:a16="http://schemas.microsoft.com/office/drawing/2014/main" id="{9259A0D0-FC4C-4BC9-92EF-BA69B479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row-0-fill-text">
            <a:extLst xmlns:a="http://schemas.openxmlformats.org/drawingml/2006/main">
              <a:ext uri="{FF2B5EF4-FFF2-40B4-BE49-F238E27FC236}">
                <a16:creationId xmlns:a16="http://schemas.microsoft.com/office/drawing/2014/main" id="{EE99538D-69EE-47AC-890F-7AE5293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8" name="s7-row-1-line"/>
          <p:cNvCxnSpPr/>
          <p:nvPr/>
        </p:nvCxnSpPr>
        <p:spPr>
          <a:xfrm xmlns:a="http://schemas.openxmlformats.org/drawingml/2006/main">
            <a:off x="390525" y="3619500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7-row-1-label">
            <a:extLst xmlns:a="http://schemas.openxmlformats.org/drawingml/2006/main">
              <a:ext uri="{FF2B5EF4-FFF2-40B4-BE49-F238E27FC236}">
                <a16:creationId xmlns:a16="http://schemas.microsoft.com/office/drawing/2014/main" id="{F7143848-FBDA-45F2-839A-5FDE9C98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81300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שכיחות חודש שלילי</a:t>
            </a:r>
          </a:p>
        </p:txBody>
      </p:sp>
      <p:sp>
        <p:nvSpPr>
          <p:cNvPr id="13" name="s7-row-1-detail">
            <a:extLst xmlns:a="http://schemas.openxmlformats.org/drawingml/2006/main">
              <a:ext uri="{FF2B5EF4-FFF2-40B4-BE49-F238E27FC236}">
                <a16:creationId xmlns:a16="http://schemas.microsoft.com/office/drawing/2014/main" id="{CB66C924-1CE1-4769-A59F-F9F8229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8135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לא הבטחה לגבי חודש מסוים</a:t>
            </a:r>
          </a:p>
        </p:txBody>
      </p:sp>
      <p:sp>
        <p:nvSpPr>
          <p:cNvPr id="14" name="s7-row-1-fill-panel">
            <a:extLst xmlns:a="http://schemas.openxmlformats.org/drawingml/2006/main">
              <a:ext uri="{FF2B5EF4-FFF2-40B4-BE49-F238E27FC236}">
                <a16:creationId xmlns:a16="http://schemas.microsoft.com/office/drawing/2014/main" id="{88E40561-1F6B-4F53-B06E-523DBDF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row-1-fill-text">
            <a:extLst xmlns:a="http://schemas.openxmlformats.org/drawingml/2006/main">
              <a:ext uri="{FF2B5EF4-FFF2-40B4-BE49-F238E27FC236}">
                <a16:creationId xmlns:a16="http://schemas.microsoft.com/office/drawing/2014/main" id="{B24982E6-D870-401F-9641-72777370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3" name="s7-row-2-line"/>
          <p:cNvCxnSpPr/>
          <p:nvPr/>
        </p:nvCxnSpPr>
        <p:spPr>
          <a:xfrm xmlns:a="http://schemas.openxmlformats.org/drawingml/2006/main">
            <a:off x="390525" y="4638675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7-row-2-label">
            <a:extLst xmlns:a="http://schemas.openxmlformats.org/drawingml/2006/main">
              <a:ext uri="{FF2B5EF4-FFF2-40B4-BE49-F238E27FC236}">
                <a16:creationId xmlns:a16="http://schemas.microsoft.com/office/drawing/2014/main" id="{1BCDBE82-F14C-4BF4-99CC-4C35E636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00475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תרחיש שנה קשה</a:t>
            </a:r>
          </a:p>
        </p:txBody>
      </p:sp>
      <p:sp>
        <p:nvSpPr>
          <p:cNvPr id="18" name="s7-row-2-detail">
            <a:extLst xmlns:a="http://schemas.openxmlformats.org/drawingml/2006/main">
              <a:ext uri="{FF2B5EF4-FFF2-40B4-BE49-F238E27FC236}">
                <a16:creationId xmlns:a16="http://schemas.microsoft.com/office/drawing/2014/main" id="{D236651A-9B82-4C26-8FAA-92051BF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00525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תוצאה חריגה אך אפשרית</a:t>
            </a:r>
          </a:p>
        </p:txBody>
      </p:sp>
      <p:sp>
        <p:nvSpPr>
          <p:cNvPr id="19" name="s7-row-2-fill-panel">
            <a:extLst xmlns:a="http://schemas.openxmlformats.org/drawingml/2006/main">
              <a:ext uri="{FF2B5EF4-FFF2-40B4-BE49-F238E27FC236}">
                <a16:creationId xmlns:a16="http://schemas.microsoft.com/office/drawing/2014/main" id="{696600DD-60C5-4300-A05E-2E104E66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7-row-2-fill-text">
            <a:extLst xmlns:a="http://schemas.openxmlformats.org/drawingml/2006/main">
              <a:ext uri="{FF2B5EF4-FFF2-40B4-BE49-F238E27FC236}">
                <a16:creationId xmlns:a16="http://schemas.microsoft.com/office/drawing/2014/main" id="{3A9383D0-3C62-45F0-AD42-37C0239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8" name="s7-row-3-line"/>
          <p:cNvCxnSpPr/>
          <p:nvPr/>
        </p:nvCxnSpPr>
        <p:spPr>
          <a:xfrm xmlns:a="http://schemas.openxmlformats.org/drawingml/2006/main">
            <a:off x="390525" y="5657850"/>
            <a:ext cx="74866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s7-row-3-label">
            <a:extLst xmlns:a="http://schemas.openxmlformats.org/drawingml/2006/main">
              <a:ext uri="{FF2B5EF4-FFF2-40B4-BE49-F238E27FC236}">
                <a16:creationId xmlns:a16="http://schemas.microsoft.com/office/drawing/2014/main" id="{42C8BA95-C88F-4B57-B219-5B478F7F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9650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ירידה וזמן התאוששות</a:t>
            </a:r>
          </a:p>
        </p:txBody>
      </p:sp>
      <p:sp>
        <p:nvSpPr>
          <p:cNvPr id="23" name="s7-row-3-detail">
            <a:extLst xmlns:a="http://schemas.openxmlformats.org/drawingml/2006/main">
              <a:ext uri="{FF2B5EF4-FFF2-40B4-BE49-F238E27FC236}">
                <a16:creationId xmlns:a16="http://schemas.microsoft.com/office/drawing/2014/main" id="{8A8982BB-045F-4624-A0F1-4B7C9211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97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עומק ומשך מתחת לשיא</a:t>
            </a:r>
          </a:p>
        </p:txBody>
      </p:sp>
      <p:sp>
        <p:nvSpPr>
          <p:cNvPr id="24" name="s7-row-3-fill-panel">
            <a:extLst xmlns:a="http://schemas.openxmlformats.org/drawingml/2006/main">
              <a:ext uri="{FF2B5EF4-FFF2-40B4-BE49-F238E27FC236}">
                <a16:creationId xmlns:a16="http://schemas.microsoft.com/office/drawing/2014/main" id="{88B5D1A1-DB2F-4ECE-969C-C911057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314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row-3-fill-text">
            <a:extLst xmlns:a="http://schemas.openxmlformats.org/drawingml/2006/main">
              <a:ext uri="{FF2B5EF4-FFF2-40B4-BE49-F238E27FC236}">
                <a16:creationId xmlns:a16="http://schemas.microsoft.com/office/drawing/2014/main" id="{F11EE91C-A432-46CD-87ED-12DE55A6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6" name="slide-7-draft-footer">
            <a:extLst xmlns:a="http://schemas.openxmlformats.org/drawingml/2006/main">
              <a:ext uri="{FF2B5EF4-FFF2-40B4-BE49-F238E27FC236}">
                <a16:creationId xmlns:a16="http://schemas.microsoft.com/office/drawing/2014/main" id="{A4CBB715-A997-464D-9EC5-D1EA3CB2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7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06ED9123-AF73-4FC2-93E6-B8928789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1073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4A26FCD-375E-4B28-9D7A-6545B36A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פירוש להצטרף לשלב הראשוני</a:t>
            </a:r>
          </a:p>
        </p:txBody>
      </p:sp>
      <p:sp>
        <p:nvSpPr>
          <p:cNvPr id="2" name="s8-summary-panel">
            <a:extLst xmlns:a="http://schemas.openxmlformats.org/drawingml/2006/main">
              <a:ext uri="{FF2B5EF4-FFF2-40B4-BE49-F238E27FC236}">
                <a16:creationId xmlns:a16="http://schemas.microsoft.com/office/drawing/2014/main" id="{A5335BB3-A05C-4869-95A2-318B9A1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55340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8-stage-tag">
            <a:extLst xmlns:a="http://schemas.openxmlformats.org/drawingml/2006/main">
              <a:ext uri="{FF2B5EF4-FFF2-40B4-BE49-F238E27FC236}">
                <a16:creationId xmlns:a16="http://schemas.microsoft.com/office/drawing/2014/main" id="{85599F5F-E45D-4064-80C3-CC8D4CD2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00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FRIENDS &amp; FAMILY</a:t>
            </a:r>
          </a:p>
        </p:txBody>
      </p:sp>
      <p:sp>
        <p:nvSpPr>
          <p:cNvPr id="4" name="s8-summary-title">
            <a:extLst xmlns:a="http://schemas.openxmlformats.org/drawingml/2006/main">
              <a:ext uri="{FF2B5EF4-FFF2-40B4-BE49-F238E27FC236}">
                <a16:creationId xmlns:a16="http://schemas.microsoft.com/office/drawing/2014/main" id="{AAD662D0-582E-4000-922E-F8F64F97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482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זהו שלב מוקדם</a:t>
            </a:r>
          </a:p>
        </p:txBody>
      </p:sp>
      <p:sp>
        <p:nvSpPr>
          <p:cNvPr id="5" name="s8-summary-body">
            <a:extLst xmlns:a="http://schemas.openxmlformats.org/drawingml/2006/main">
              <a:ext uri="{FF2B5EF4-FFF2-40B4-BE49-F238E27FC236}">
                <a16:creationId xmlns:a16="http://schemas.microsoft.com/office/drawing/2014/main" id="{F7E1EE4D-0544-452B-8CEC-8A2D085C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4848225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מטרת השלב היא לצבור ניסיון אמיתי, לבדוק את התפעול ולבנות היסטוריה שקופה — בלי להציג את המוצר כבשל יותר מכפי שהוא.</a:t>
            </a:r>
          </a:p>
        </p:txBody>
      </p:sp>
      <p:sp>
        <p:nvSpPr>
          <p:cNvPr id="6" name="s8-summary-caveat">
            <a:extLst xmlns:a="http://schemas.openxmlformats.org/drawingml/2006/main">
              <a:ext uri="{FF2B5EF4-FFF2-40B4-BE49-F238E27FC236}">
                <a16:creationId xmlns:a16="http://schemas.microsoft.com/office/drawing/2014/main" id="{4ED5A627-5DF6-4BDB-A148-2ABE7C1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48482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לפני הצטרפות תתקיים שיחה אישית על התהליך, הסיכונים, התנאים וההתאמה למשקיע.</a:t>
            </a:r>
          </a:p>
        </p:txBody>
      </p:sp>
      <p:sp>
        <p:nvSpPr>
          <p:cNvPr id="7" name="s8-item-0-check">
            <a:extLst xmlns:a="http://schemas.openxmlformats.org/drawingml/2006/main">
              <a:ext uri="{FF2B5EF4-FFF2-40B4-BE49-F238E27FC236}">
                <a16:creationId xmlns:a16="http://schemas.microsoft.com/office/drawing/2014/main" id="{A7B8D43F-7E52-452D-BA6A-7795455A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s8-item-0-label">
            <a:extLst xmlns:a="http://schemas.openxmlformats.org/drawingml/2006/main">
              <a:ext uri="{FF2B5EF4-FFF2-40B4-BE49-F238E27FC236}">
                <a16:creationId xmlns:a16="http://schemas.microsoft.com/office/drawing/2014/main" id="{7C00803F-1683-4A98-BCF5-3A4F8693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מבנה החשבון והמשמורת</a:t>
            </a:r>
          </a:p>
        </p:txBody>
      </p:sp>
      <p:sp>
        <p:nvSpPr>
          <p:cNvPr id="9" name="s8-item-0-fill-panel">
            <a:extLst xmlns:a="http://schemas.openxmlformats.org/drawingml/2006/main">
              <a:ext uri="{FF2B5EF4-FFF2-40B4-BE49-F238E27FC236}">
                <a16:creationId xmlns:a16="http://schemas.microsoft.com/office/drawing/2014/main" id="{E44CA153-56E8-4411-B8AD-AE500E21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-item-0-fill-text">
            <a:extLst xmlns:a="http://schemas.openxmlformats.org/drawingml/2006/main">
              <a:ext uri="{FF2B5EF4-FFF2-40B4-BE49-F238E27FC236}">
                <a16:creationId xmlns:a16="http://schemas.microsoft.com/office/drawing/2014/main" id="{417A3E66-1E86-4978-9843-26218F4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1" name="s8-item-1-check">
            <a:extLst xmlns:a="http://schemas.openxmlformats.org/drawingml/2006/main">
              <a:ext uri="{FF2B5EF4-FFF2-40B4-BE49-F238E27FC236}">
                <a16:creationId xmlns:a16="http://schemas.microsoft.com/office/drawing/2014/main" id="{474CA3D1-053F-4DD6-92DE-165A253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s8-item-1-label">
            <a:extLst xmlns:a="http://schemas.openxmlformats.org/drawingml/2006/main">
              <a:ext uri="{FF2B5EF4-FFF2-40B4-BE49-F238E27FC236}">
                <a16:creationId xmlns:a16="http://schemas.microsoft.com/office/drawing/2014/main" id="{734A28A1-1309-47E7-8757-727D5752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סכום מינימום</a:t>
            </a:r>
          </a:p>
        </p:txBody>
      </p:sp>
      <p:sp>
        <p:nvSpPr>
          <p:cNvPr id="13" name="s8-item-1-fill-panel">
            <a:extLst xmlns:a="http://schemas.openxmlformats.org/drawingml/2006/main">
              <a:ext uri="{FF2B5EF4-FFF2-40B4-BE49-F238E27FC236}">
                <a16:creationId xmlns:a16="http://schemas.microsoft.com/office/drawing/2014/main" id="{98C02534-4A7A-418C-AB21-88ADE843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8-item-1-fill-text">
            <a:extLst xmlns:a="http://schemas.openxmlformats.org/drawingml/2006/main">
              <a:ext uri="{FF2B5EF4-FFF2-40B4-BE49-F238E27FC236}">
                <a16:creationId xmlns:a16="http://schemas.microsoft.com/office/drawing/2014/main" id="{7E8E0DE6-0424-4E06-8A4C-9BE79CDB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5" name="s8-item-2-check">
            <a:extLst xmlns:a="http://schemas.openxmlformats.org/drawingml/2006/main">
              <a:ext uri="{FF2B5EF4-FFF2-40B4-BE49-F238E27FC236}">
                <a16:creationId xmlns:a16="http://schemas.microsoft.com/office/drawing/2014/main" id="{D1137568-35C5-4BDE-8368-A40C1BE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81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s8-item-2-label">
            <a:extLst xmlns:a="http://schemas.openxmlformats.org/drawingml/2006/main">
              <a:ext uri="{FF2B5EF4-FFF2-40B4-BE49-F238E27FC236}">
                <a16:creationId xmlns:a16="http://schemas.microsoft.com/office/drawing/2014/main" id="{101BDCA5-3B31-43CA-9EFF-68B6F99C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נזילות ומשיכות</a:t>
            </a:r>
          </a:p>
        </p:txBody>
      </p:sp>
      <p:sp>
        <p:nvSpPr>
          <p:cNvPr id="17" name="s8-item-2-fill-panel">
            <a:extLst xmlns:a="http://schemas.openxmlformats.org/drawingml/2006/main">
              <a:ext uri="{FF2B5EF4-FFF2-40B4-BE49-F238E27FC236}">
                <a16:creationId xmlns:a16="http://schemas.microsoft.com/office/drawing/2014/main" id="{E4061F87-1D60-4319-A1DA-92868AD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8-item-2-fill-text">
            <a:extLst xmlns:a="http://schemas.openxmlformats.org/drawingml/2006/main">
              <a:ext uri="{FF2B5EF4-FFF2-40B4-BE49-F238E27FC236}">
                <a16:creationId xmlns:a16="http://schemas.microsoft.com/office/drawing/2014/main" id="{58A66A8C-C179-4156-92D3-246D722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19" name="s8-item-3-check">
            <a:extLst xmlns:a="http://schemas.openxmlformats.org/drawingml/2006/main">
              <a:ext uri="{FF2B5EF4-FFF2-40B4-BE49-F238E27FC236}">
                <a16:creationId xmlns:a16="http://schemas.microsoft.com/office/drawing/2014/main" id="{4E9525BD-BA4A-4B1F-9DCD-74396A7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s8-item-3-label">
            <a:extLst xmlns:a="http://schemas.openxmlformats.org/drawingml/2006/main">
              <a:ext uri="{FF2B5EF4-FFF2-40B4-BE49-F238E27FC236}">
                <a16:creationId xmlns:a16="http://schemas.microsoft.com/office/drawing/2014/main" id="{2B00D531-4A48-4B35-BB0A-087AB1A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עמלות ודמי ניהול</a:t>
            </a:r>
          </a:p>
        </p:txBody>
      </p:sp>
      <p:sp>
        <p:nvSpPr>
          <p:cNvPr id="21" name="s8-item-3-fill-panel">
            <a:extLst xmlns:a="http://schemas.openxmlformats.org/drawingml/2006/main">
              <a:ext uri="{FF2B5EF4-FFF2-40B4-BE49-F238E27FC236}">
                <a16:creationId xmlns:a16="http://schemas.microsoft.com/office/drawing/2014/main" id="{86E80099-F5B4-47CF-99F2-05D25786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8-item-3-fill-text">
            <a:extLst xmlns:a="http://schemas.openxmlformats.org/drawingml/2006/main">
              <a:ext uri="{FF2B5EF4-FFF2-40B4-BE49-F238E27FC236}">
                <a16:creationId xmlns:a16="http://schemas.microsoft.com/office/drawing/2014/main" id="{342C1370-A678-4DA2-A032-2F260A7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3" name="s8-item-4-check">
            <a:extLst xmlns:a="http://schemas.openxmlformats.org/drawingml/2006/main">
              <a:ext uri="{FF2B5EF4-FFF2-40B4-BE49-F238E27FC236}">
                <a16:creationId xmlns:a16="http://schemas.microsoft.com/office/drawing/2014/main" id="{E80B7CD5-3D07-4733-AF60-1F6A60C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4" name="s8-item-4-label">
            <a:extLst xmlns:a="http://schemas.openxmlformats.org/drawingml/2006/main">
              <a:ext uri="{FF2B5EF4-FFF2-40B4-BE49-F238E27FC236}">
                <a16:creationId xmlns:a16="http://schemas.microsoft.com/office/drawing/2014/main" id="{2D40E914-7362-4103-BF5B-2ED1532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דיווח ותדירות</a:t>
            </a:r>
          </a:p>
        </p:txBody>
      </p:sp>
      <p:sp>
        <p:nvSpPr>
          <p:cNvPr id="25" name="s8-item-4-fill-panel">
            <a:extLst xmlns:a="http://schemas.openxmlformats.org/drawingml/2006/main">
              <a:ext uri="{FF2B5EF4-FFF2-40B4-BE49-F238E27FC236}">
                <a16:creationId xmlns:a16="http://schemas.microsoft.com/office/drawing/2014/main" id="{63D57693-9CF5-46F0-9B60-711F077C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81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8-item-4-fill-text">
            <a:extLst xmlns:a="http://schemas.openxmlformats.org/drawingml/2006/main">
              <a:ext uri="{FF2B5EF4-FFF2-40B4-BE49-F238E27FC236}">
                <a16:creationId xmlns:a16="http://schemas.microsoft.com/office/drawing/2014/main" id="{016B6E45-1A12-4D26-8619-F625526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990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7" name="s8-next-step-panel">
            <a:extLst xmlns:a="http://schemas.openxmlformats.org/drawingml/2006/main">
              <a:ext uri="{FF2B5EF4-FFF2-40B4-BE49-F238E27FC236}">
                <a16:creationId xmlns:a16="http://schemas.microsoft.com/office/drawing/2014/main" id="{3E90D0A3-7278-4F59-B554-55B566DF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53100"/>
            <a:ext cx="11410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8-next-step-label">
            <a:extLst xmlns:a="http://schemas.openxmlformats.org/drawingml/2006/main">
              <a:ext uri="{FF2B5EF4-FFF2-40B4-BE49-F238E27FC236}">
                <a16:creationId xmlns:a16="http://schemas.microsoft.com/office/drawing/2014/main" id="{F30D8E70-7D0E-4C0B-91F6-1DD0D58B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2930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הצעד הבא</a:t>
            </a:r>
          </a:p>
        </p:txBody>
      </p:sp>
      <p:sp>
        <p:nvSpPr>
          <p:cNvPr id="29" name="s8-next-step-fill-panel">
            <a:extLst xmlns:a="http://schemas.openxmlformats.org/drawingml/2006/main">
              <a:ext uri="{FF2B5EF4-FFF2-40B4-BE49-F238E27FC236}">
                <a16:creationId xmlns:a16="http://schemas.microsoft.com/office/drawing/2014/main" id="{092028E2-895A-4126-B0EC-83C23EED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314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8-next-step-fill-text">
            <a:extLst xmlns:a="http://schemas.openxmlformats.org/drawingml/2006/main">
              <a:ext uri="{FF2B5EF4-FFF2-40B4-BE49-F238E27FC236}">
                <a16:creationId xmlns:a16="http://schemas.microsoft.com/office/drawing/2014/main" id="{612D5EDC-B370-4FB2-8193-D1E2F8A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31" name="s8-next-step-text">
            <a:extLst xmlns:a="http://schemas.openxmlformats.org/drawingml/2006/main">
              <a:ext uri="{FF2B5EF4-FFF2-40B4-BE49-F238E27FC236}">
                <a16:creationId xmlns:a16="http://schemas.microsoft.com/office/drawing/2014/main" id="{03395DDF-FBCD-41F1-BABB-BD6BB9E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פגישת המשך, מסמכים ובדיקת התאמה</a:t>
            </a:r>
          </a:p>
        </p:txBody>
      </p:sp>
      <p:sp>
        <p:nvSpPr>
          <p:cNvPr id="32" name="slide-8-draft-footer">
            <a:extLst xmlns:a="http://schemas.openxmlformats.org/drawingml/2006/main">
              <a:ext uri="{FF2B5EF4-FFF2-40B4-BE49-F238E27FC236}">
                <a16:creationId xmlns:a16="http://schemas.microsoft.com/office/drawing/2014/main" id="{4EDBAB10-FBD4-4091-8E18-EF87E723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33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3B51D0A5-C153-4F39-A28E-BA26FD1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082303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FE4ED15D-73B4-44C5-A6E2-C349184C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כל שכבת ראיה באמת מוכיחה</a:t>
            </a:r>
          </a:p>
        </p:txBody>
      </p:sp>
      <p:sp>
        <p:nvSpPr>
          <p:cNvPr id="2" name="slide-9-appendix">
            <a:extLst xmlns:a="http://schemas.openxmlformats.org/drawingml/2006/main">
              <a:ext uri="{FF2B5EF4-FFF2-40B4-BE49-F238E27FC236}">
                <a16:creationId xmlns:a16="http://schemas.microsoft.com/office/drawing/2014/main" id="{E566E4E7-EDCB-4934-974C-8A1C29E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נספח</a:t>
            </a:r>
          </a:p>
        </p:txBody>
      </p:sp>
      <p:sp>
        <p:nvSpPr>
          <p:cNvPr id="3" name="s9-intro">
            <a:extLst xmlns:a="http://schemas.openxmlformats.org/drawingml/2006/main">
              <a:ext uri="{FF2B5EF4-FFF2-40B4-BE49-F238E27FC236}">
                <a16:creationId xmlns:a16="http://schemas.microsoft.com/office/drawing/2014/main" id="{30532005-3EFC-40FC-A9F6-B540D445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00150"/>
            <a:ext cx="893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כל נתון במצגת הסופית צריך להופיע עם סוג הראיה, התקופה, העלויות ומקור המדידה.</a:t>
            </a:r>
          </a:p>
        </p:txBody>
      </p:sp>
      <p:sp>
        <p:nvSpPr>
          <p:cNvPr id="4" name="s9-header-panel">
            <a:extLst xmlns:a="http://schemas.openxmlformats.org/drawingml/2006/main">
              <a:ext uri="{FF2B5EF4-FFF2-40B4-BE49-F238E27FC236}">
                <a16:creationId xmlns:a16="http://schemas.microsoft.com/office/drawing/2014/main" id="{8FC18D4A-FB1F-412B-89D2-C70E5E2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109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header-layer">
            <a:extLst xmlns:a="http://schemas.openxmlformats.org/drawingml/2006/main">
              <a:ext uri="{FF2B5EF4-FFF2-40B4-BE49-F238E27FC236}">
                <a16:creationId xmlns:a16="http://schemas.microsoft.com/office/drawing/2014/main" id="{3E5318ED-C262-4FD4-A65F-9841BB50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240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שכבה</a:t>
            </a:r>
          </a:p>
        </p:txBody>
      </p:sp>
      <p:sp>
        <p:nvSpPr>
          <p:cNvPr id="6" name="s9-header-proves">
            <a:extLst xmlns:a="http://schemas.openxmlformats.org/drawingml/2006/main">
              <a:ext uri="{FF2B5EF4-FFF2-40B4-BE49-F238E27FC236}">
                <a16:creationId xmlns:a16="http://schemas.microsoft.com/office/drawing/2014/main" id="{44B3BA41-F9B9-4FAF-B254-D8C3CFBB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מה היא מוכיחה</a:t>
            </a:r>
          </a:p>
        </p:txBody>
      </p:sp>
      <p:sp>
        <p:nvSpPr>
          <p:cNvPr id="7" name="s9-header-not-proves">
            <a:extLst xmlns:a="http://schemas.openxmlformats.org/drawingml/2006/main">
              <a:ext uri="{FF2B5EF4-FFF2-40B4-BE49-F238E27FC236}">
                <a16:creationId xmlns:a16="http://schemas.microsoft.com/office/drawing/2014/main" id="{9E787D76-BA25-4432-BA82-3D08C0A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מה היא אינה מוכיחה</a:t>
            </a:r>
          </a:p>
        </p:txBody>
      </p:sp>
      <p:sp>
        <p:nvSpPr>
          <p:cNvPr id="8" name="s9-row-0-panel">
            <a:extLst xmlns:a="http://schemas.openxmlformats.org/drawingml/2006/main">
              <a:ext uri="{FF2B5EF4-FFF2-40B4-BE49-F238E27FC236}">
                <a16:creationId xmlns:a16="http://schemas.microsoft.com/office/drawing/2014/main" id="{C8126A80-D09F-4080-BD6A-3F41A86E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9" name="s9-row-0-layer">
            <a:extLst xmlns:a="http://schemas.openxmlformats.org/drawingml/2006/main">
              <a:ext uri="{FF2B5EF4-FFF2-40B4-BE49-F238E27FC236}">
                <a16:creationId xmlns:a16="http://schemas.microsoft.com/office/drawing/2014/main" id="{AFF7A0CD-FAE3-45F4-9A2A-2246F310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955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בדיקה היסטורית</a:t>
            </a:r>
          </a:p>
        </p:txBody>
      </p:sp>
      <p:sp>
        <p:nvSpPr>
          <p:cNvPr id="10" name="s9-row-0-proves">
            <a:extLst xmlns:a="http://schemas.openxmlformats.org/drawingml/2006/main">
              <a:ext uri="{FF2B5EF4-FFF2-40B4-BE49-F238E27FC236}">
                <a16:creationId xmlns:a16="http://schemas.microsoft.com/office/drawing/2014/main" id="{1FB11995-D6D9-4BB7-BA1F-14DFE99A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הרעיון היה אפשרי בעבר</a:t>
            </a:r>
          </a:p>
        </p:txBody>
      </p:sp>
      <p:sp>
        <p:nvSpPr>
          <p:cNvPr id="11" name="s9-row-0-not-proves">
            <a:extLst xmlns:a="http://schemas.openxmlformats.org/drawingml/2006/main">
              <a:ext uri="{FF2B5EF4-FFF2-40B4-BE49-F238E27FC236}">
                <a16:creationId xmlns:a16="http://schemas.microsoft.com/office/drawing/2014/main" id="{CEA8824A-48EA-41E6-BD38-D1D29A6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ביצוע עתידי</a:t>
            </a:r>
          </a:p>
        </p:txBody>
      </p:sp>
      <p:sp>
        <p:nvSpPr>
          <p:cNvPr id="12" name="s9-row-1-panel">
            <a:extLst xmlns:a="http://schemas.openxmlformats.org/drawingml/2006/main">
              <a:ext uri="{FF2B5EF4-FFF2-40B4-BE49-F238E27FC236}">
                <a16:creationId xmlns:a16="http://schemas.microsoft.com/office/drawing/2014/main" id="{478CEFB6-B7EA-4592-ACA5-B347E44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9087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3" name="s9-row-1-layer">
            <a:extLst xmlns:a="http://schemas.openxmlformats.org/drawingml/2006/main">
              <a:ext uri="{FF2B5EF4-FFF2-40B4-BE49-F238E27FC236}">
                <a16:creationId xmlns:a16="http://schemas.microsoft.com/office/drawing/2014/main" id="{7A5DCA2E-CB06-48AF-B64F-652B8DA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5280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Incubation</a:t>
            </a:r>
          </a:p>
        </p:txBody>
      </p:sp>
      <p:sp>
        <p:nvSpPr>
          <p:cNvPr id="14" name="s9-row-1-proves">
            <a:extLst xmlns:a="http://schemas.openxmlformats.org/drawingml/2006/main">
              <a:ext uri="{FF2B5EF4-FFF2-40B4-BE49-F238E27FC236}">
                <a16:creationId xmlns:a16="http://schemas.microsoft.com/office/drawing/2014/main" id="{8E298A15-379E-486A-92CA-C4FDC6E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התהליך עובד בזמן אמת</a:t>
            </a:r>
          </a:p>
        </p:txBody>
      </p:sp>
      <p:sp>
        <p:nvSpPr>
          <p:cNvPr id="15" name="s9-row-1-not-proves">
            <a:extLst xmlns:a="http://schemas.openxmlformats.org/drawingml/2006/main">
              <a:ext uri="{FF2B5EF4-FFF2-40B4-BE49-F238E27FC236}">
                <a16:creationId xmlns:a16="http://schemas.microsoft.com/office/drawing/2014/main" id="{D56482E7-09BD-410E-868C-83F55CE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תשואה בכסף אמיתי</a:t>
            </a:r>
          </a:p>
        </p:txBody>
      </p:sp>
      <p:sp>
        <p:nvSpPr>
          <p:cNvPr id="16" name="s9-row-2-panel">
            <a:extLst xmlns:a="http://schemas.openxmlformats.org/drawingml/2006/main">
              <a:ext uri="{FF2B5EF4-FFF2-40B4-BE49-F238E27FC236}">
                <a16:creationId xmlns:a16="http://schemas.microsoft.com/office/drawing/2014/main" id="{F97CFEAB-3DE8-4014-9C8C-DAA6DE23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4812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17" name="s9-row-2-layer">
            <a:extLst xmlns:a="http://schemas.openxmlformats.org/drawingml/2006/main">
              <a:ext uri="{FF2B5EF4-FFF2-40B4-BE49-F238E27FC236}">
                <a16:creationId xmlns:a16="http://schemas.microsoft.com/office/drawing/2014/main" id="{FCA6C1ED-B3F1-4C7F-A899-5BA2025E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100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Paper / מסחר מוגבל</a:t>
            </a:r>
          </a:p>
        </p:txBody>
      </p:sp>
      <p:sp>
        <p:nvSpPr>
          <p:cNvPr id="18" name="s9-row-2-proves">
            <a:extLst xmlns:a="http://schemas.openxmlformats.org/drawingml/2006/main">
              <a:ext uri="{FF2B5EF4-FFF2-40B4-BE49-F238E27FC236}">
                <a16:creationId xmlns:a16="http://schemas.microsoft.com/office/drawing/2014/main" id="{A8EFDE46-43A4-4087-BB8D-414D3AE3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האם חיבור הברוקר והתפעול עובדים</a:t>
            </a:r>
          </a:p>
        </p:txBody>
      </p:sp>
      <p:sp>
        <p:nvSpPr>
          <p:cNvPr id="19" name="s9-row-2-not-proves">
            <a:extLst xmlns:a="http://schemas.openxmlformats.org/drawingml/2006/main">
              <a:ext uri="{FF2B5EF4-FFF2-40B4-BE49-F238E27FC236}">
                <a16:creationId xmlns:a16="http://schemas.microsoft.com/office/drawing/2014/main" id="{61C5BE90-A3BD-4C43-BB44-5310694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איכות מילוי אמיתית לאורך זמן</a:t>
            </a:r>
          </a:p>
        </p:txBody>
      </p:sp>
      <p:sp>
        <p:nvSpPr>
          <p:cNvPr id="20" name="s9-row-3-panel">
            <a:extLst xmlns:a="http://schemas.openxmlformats.org/drawingml/2006/main">
              <a:ext uri="{FF2B5EF4-FFF2-40B4-BE49-F238E27FC236}">
                <a16:creationId xmlns:a16="http://schemas.microsoft.com/office/drawing/2014/main" id="{15484D83-24CB-4708-98D7-8C9C7FC2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05375"/>
            <a:ext cx="11410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B8BCC4"/>
            </a:solidFill>
            <a:prstDash val="solid"/>
          </a:ln>
        </p:spPr>
      </p:sp>
      <p:sp>
        <p:nvSpPr>
          <p:cNvPr id="21" name="s9-row-3-layer">
            <a:extLst xmlns:a="http://schemas.openxmlformats.org/drawingml/2006/main">
              <a:ext uri="{FF2B5EF4-FFF2-40B4-BE49-F238E27FC236}">
                <a16:creationId xmlns:a16="http://schemas.microsoft.com/office/drawing/2014/main" id="{4FDE6191-C882-4722-B3C5-C92B46E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6730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Live</a:t>
            </a:r>
          </a:p>
        </p:txBody>
      </p:sp>
      <p:sp>
        <p:nvSpPr>
          <p:cNvPr id="22" name="s9-row-3-proves">
            <a:extLst xmlns:a="http://schemas.openxmlformats.org/drawingml/2006/main">
              <a:ext uri="{FF2B5EF4-FFF2-40B4-BE49-F238E27FC236}">
                <a16:creationId xmlns:a16="http://schemas.microsoft.com/office/drawing/2014/main" id="{6C7D6862-3A40-48CD-ABB4-6E8B872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קרה בפועל בחשבון</a:t>
            </a:r>
          </a:p>
        </p:txBody>
      </p:sp>
      <p:sp>
        <p:nvSpPr>
          <p:cNvPr id="23" name="s9-row-3-not-proves">
            <a:extLst xmlns:a="http://schemas.openxmlformats.org/drawingml/2006/main">
              <a:ext uri="{FF2B5EF4-FFF2-40B4-BE49-F238E27FC236}">
                <a16:creationId xmlns:a16="http://schemas.microsoft.com/office/drawing/2014/main" id="{181104F6-A200-47F1-A7E4-7E348D7C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619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עמידות לאורך מחזורי שוק שלמים</a:t>
            </a:r>
          </a:p>
        </p:txBody>
      </p:sp>
      <p:sp>
        <p:nvSpPr>
          <p:cNvPr id="24" name="s9-method-label">
            <a:extLst xmlns:a="http://schemas.openxmlformats.org/drawingml/2006/main">
              <a:ext uri="{FF2B5EF4-FFF2-40B4-BE49-F238E27FC236}">
                <a16:creationId xmlns:a16="http://schemas.microsoft.com/office/drawing/2014/main" id="{EDABBE26-ADAC-49D3-BD27-9742443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864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שיטת המדידה והמקורות</a:t>
            </a:r>
          </a:p>
        </p:txBody>
      </p:sp>
      <p:sp>
        <p:nvSpPr>
          <p:cNvPr id="25" name="s9-method-fill-panel">
            <a:extLst xmlns:a="http://schemas.openxmlformats.org/drawingml/2006/main">
              <a:ext uri="{FF2B5EF4-FFF2-40B4-BE49-F238E27FC236}">
                <a16:creationId xmlns:a16="http://schemas.microsoft.com/office/drawing/2014/main" id="{7D98CB22-FDBF-46DB-96CA-6EF6B51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14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9-method-fill-text">
            <a:extLst xmlns:a="http://schemas.openxmlformats.org/drawingml/2006/main">
              <a:ext uri="{FF2B5EF4-FFF2-40B4-BE49-F238E27FC236}">
                <a16:creationId xmlns:a16="http://schemas.microsoft.com/office/drawing/2014/main" id="{54C12F44-D41F-4204-B8C2-01823FA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7" name="slide-9-draft-footer">
            <a:extLst xmlns:a="http://schemas.openxmlformats.org/drawingml/2006/main">
              <a:ext uri="{FF2B5EF4-FFF2-40B4-BE49-F238E27FC236}">
                <a16:creationId xmlns:a16="http://schemas.microsoft.com/office/drawing/2014/main" id="{E1CEEE3A-382B-49EA-92E7-EDC77B0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8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49BCB645-10B8-4FC8-92AD-C3B4C752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7315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67CBD50-E641-4532-BB74-875D242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מודל הסיכון מתאר טווחים, לא תחזית</a:t>
            </a:r>
          </a:p>
        </p:txBody>
      </p:sp>
      <p:sp>
        <p:nvSpPr>
          <p:cNvPr id="2" name="slide-10-appendix">
            <a:extLst xmlns:a="http://schemas.openxmlformats.org/drawingml/2006/main">
              <a:ext uri="{FF2B5EF4-FFF2-40B4-BE49-F238E27FC236}">
                <a16:creationId xmlns:a16="http://schemas.microsoft.com/office/drawing/2014/main" id="{D5498502-169C-4049-9BDB-76366FB4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נספח</a:t>
            </a:r>
          </a:p>
        </p:txBody>
      </p:sp>
      <p:sp>
        <p:nvSpPr>
          <p:cNvPr id="3" name="s10-intro">
            <a:extLst xmlns:a="http://schemas.openxmlformats.org/drawingml/2006/main">
              <a:ext uri="{FF2B5EF4-FFF2-40B4-BE49-F238E27FC236}">
                <a16:creationId xmlns:a16="http://schemas.microsoft.com/office/drawing/2014/main" id="{F6213073-32E1-4057-BEB2-C0F1B31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19200"/>
            <a:ext cx="9505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המודל מסדר מחדש מקטעים של תשואות עבר כדי להראות מסלולים היסטוריים חלופיים — כולל רצפים לא נעימים.</a:t>
            </a:r>
          </a:p>
        </p:txBody>
      </p:sp>
      <p:sp>
        <p:nvSpPr>
          <p:cNvPr id="4" name="s10-does-panel">
            <a:extLst xmlns:a="http://schemas.openxmlformats.org/drawingml/2006/main">
              <a:ext uri="{FF2B5EF4-FFF2-40B4-BE49-F238E27FC236}">
                <a16:creationId xmlns:a16="http://schemas.microsoft.com/office/drawing/2014/main" id="{F02E7009-9D29-4FE1-A6D5-03D5C32B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5534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-does-not-panel">
            <a:extLst xmlns:a="http://schemas.openxmlformats.org/drawingml/2006/main">
              <a:ext uri="{FF2B5EF4-FFF2-40B4-BE49-F238E27FC236}">
                <a16:creationId xmlns:a16="http://schemas.microsoft.com/office/drawing/2014/main" id="{4A981C48-7BB7-4C58-89C1-3688FC99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55340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0-does-title">
            <a:extLst xmlns:a="http://schemas.openxmlformats.org/drawingml/2006/main">
              <a:ext uri="{FF2B5EF4-FFF2-40B4-BE49-F238E27FC236}">
                <a16:creationId xmlns:a16="http://schemas.microsoft.com/office/drawing/2014/main" id="{BF8019A6-E2B2-474C-845D-602E1FDB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810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הוא עושה</a:t>
            </a:r>
          </a:p>
        </p:txBody>
      </p:sp>
      <p:sp>
        <p:nvSpPr>
          <p:cNvPr id="7" name="s10-does-not-title">
            <a:extLst xmlns:a="http://schemas.openxmlformats.org/drawingml/2006/main">
              <a:ext uri="{FF2B5EF4-FFF2-40B4-BE49-F238E27FC236}">
                <a16:creationId xmlns:a16="http://schemas.microsoft.com/office/drawing/2014/main" id="{7E5D001C-B09A-42A6-91A7-3817ABAC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43150"/>
            <a:ext cx="48101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מה הוא לא עושה</a:t>
            </a:r>
          </a:p>
        </p:txBody>
      </p:sp>
      <p:sp>
        <p:nvSpPr>
          <p:cNvPr id="8" name="s10-does-0-check">
            <a:extLst xmlns:a="http://schemas.openxmlformats.org/drawingml/2006/main">
              <a:ext uri="{FF2B5EF4-FFF2-40B4-BE49-F238E27FC236}">
                <a16:creationId xmlns:a16="http://schemas.microsoft.com/office/drawing/2014/main" id="{709C99A9-220A-4864-96EC-EADBB0B4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908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s10-does-0-text">
            <a:extLst xmlns:a="http://schemas.openxmlformats.org/drawingml/2006/main">
              <a:ext uri="{FF2B5EF4-FFF2-40B4-BE49-F238E27FC236}">
                <a16:creationId xmlns:a16="http://schemas.microsoft.com/office/drawing/2014/main" id="{E5E396EE-DC7E-4D40-AA6B-08A99F75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מראה חודשים ושנים חלשים אפשריים</a:t>
            </a:r>
          </a:p>
        </p:txBody>
      </p:sp>
      <p:sp>
        <p:nvSpPr>
          <p:cNvPr id="10" name="s10-does-not-0-check">
            <a:extLst xmlns:a="http://schemas.openxmlformats.org/drawingml/2006/main">
              <a:ext uri="{FF2B5EF4-FFF2-40B4-BE49-F238E27FC236}">
                <a16:creationId xmlns:a16="http://schemas.microsoft.com/office/drawing/2014/main" id="{20D3753A-1FDC-4A7B-85BF-F833A34A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908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1" name="s10-does-not-0-text">
            <a:extLst xmlns:a="http://schemas.openxmlformats.org/drawingml/2006/main">
              <a:ext uri="{FF2B5EF4-FFF2-40B4-BE49-F238E27FC236}">
                <a16:creationId xmlns:a16="http://schemas.microsoft.com/office/drawing/2014/main" id="{690F8506-46B8-4B7A-B86E-35CF1929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יודע לחזות משבר שלא הופיע בעבר</a:t>
            </a:r>
          </a:p>
        </p:txBody>
      </p:sp>
      <p:sp>
        <p:nvSpPr>
          <p:cNvPr id="12" name="s10-does-1-check">
            <a:extLst xmlns:a="http://schemas.openxmlformats.org/drawingml/2006/main">
              <a:ext uri="{FF2B5EF4-FFF2-40B4-BE49-F238E27FC236}">
                <a16:creationId xmlns:a16="http://schemas.microsoft.com/office/drawing/2014/main" id="{00E35C52-18F8-4358-A3E5-2742D54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052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s10-does-1-text">
            <a:extLst xmlns:a="http://schemas.openxmlformats.org/drawingml/2006/main">
              <a:ext uri="{FF2B5EF4-FFF2-40B4-BE49-F238E27FC236}">
                <a16:creationId xmlns:a16="http://schemas.microsoft.com/office/drawing/2014/main" id="{EAF1EEE4-9744-4222-A0D1-F6B324E9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בודק ירידות מהשיא וזמן מתחת לשיא</a:t>
            </a:r>
          </a:p>
        </p:txBody>
      </p:sp>
      <p:sp>
        <p:nvSpPr>
          <p:cNvPr id="14" name="s10-does-not-1-check">
            <a:extLst xmlns:a="http://schemas.openxmlformats.org/drawingml/2006/main">
              <a:ext uri="{FF2B5EF4-FFF2-40B4-BE49-F238E27FC236}">
                <a16:creationId xmlns:a16="http://schemas.microsoft.com/office/drawing/2014/main" id="{0784F0CB-ADD4-4910-8C9B-96CE514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052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5" name="s10-does-not-1-text">
            <a:extLst xmlns:a="http://schemas.openxmlformats.org/drawingml/2006/main">
              <a:ext uri="{FF2B5EF4-FFF2-40B4-BE49-F238E27FC236}">
                <a16:creationId xmlns:a16="http://schemas.microsoft.com/office/drawing/2014/main" id="{5B71224F-B78C-4EC9-94BD-28AC895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מבטל סיכון מודל או בחירת יתר</a:t>
            </a:r>
          </a:p>
        </p:txBody>
      </p:sp>
      <p:sp>
        <p:nvSpPr>
          <p:cNvPr id="16" name="s10-does-2-check">
            <a:extLst xmlns:a="http://schemas.openxmlformats.org/drawingml/2006/main">
              <a:ext uri="{FF2B5EF4-FFF2-40B4-BE49-F238E27FC236}">
                <a16:creationId xmlns:a16="http://schemas.microsoft.com/office/drawing/2014/main" id="{7A6A8C14-4FC2-4C30-87AC-48F9ABD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195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7" name="s10-does-2-text">
            <a:extLst xmlns:a="http://schemas.openxmlformats.org/drawingml/2006/main">
              <a:ext uri="{FF2B5EF4-FFF2-40B4-BE49-F238E27FC236}">
                <a16:creationId xmlns:a16="http://schemas.microsoft.com/office/drawing/2014/main" id="{89A74EA0-EFAD-48E1-91CE-2049E670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משווה הנחות עלויות ותרחישים</a:t>
            </a:r>
          </a:p>
        </p:txBody>
      </p:sp>
      <p:sp>
        <p:nvSpPr>
          <p:cNvPr id="18" name="s10-does-not-2-check">
            <a:extLst xmlns:a="http://schemas.openxmlformats.org/drawingml/2006/main">
              <a:ext uri="{FF2B5EF4-FFF2-40B4-BE49-F238E27FC236}">
                <a16:creationId xmlns:a16="http://schemas.microsoft.com/office/drawing/2014/main" id="{77230CC9-0467-4C19-85A6-597E8CF5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1955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19" name="s10-does-not-2-text">
            <a:extLst xmlns:a="http://schemas.openxmlformats.org/drawingml/2006/main">
              <a:ext uri="{FF2B5EF4-FFF2-40B4-BE49-F238E27FC236}">
                <a16:creationId xmlns:a16="http://schemas.microsoft.com/office/drawing/2014/main" id="{619E24DE-5780-46CD-BC59-014539BE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מבטיח שהתוצאה תישאר בטווח</a:t>
            </a:r>
          </a:p>
        </p:txBody>
      </p:sp>
      <p:sp>
        <p:nvSpPr>
          <p:cNvPr id="20" name="s10-does-3-check">
            <a:extLst xmlns:a="http://schemas.openxmlformats.org/drawingml/2006/main">
              <a:ext uri="{FF2B5EF4-FFF2-40B4-BE49-F238E27FC236}">
                <a16:creationId xmlns:a16="http://schemas.microsoft.com/office/drawing/2014/main" id="{A45D8249-C1CD-4A13-A223-9D1DBA5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339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1" name="s10-does-3-text">
            <a:extLst xmlns:a="http://schemas.openxmlformats.org/drawingml/2006/main">
              <a:ext uri="{FF2B5EF4-FFF2-40B4-BE49-F238E27FC236}">
                <a16:creationId xmlns:a16="http://schemas.microsoft.com/office/drawing/2014/main" id="{BCCEE7B9-3071-495B-B934-DACAF1A3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מציג טווחים במקום מספר יעד יחיד</a:t>
            </a:r>
          </a:p>
        </p:txBody>
      </p:sp>
      <p:sp>
        <p:nvSpPr>
          <p:cNvPr id="22" name="s10-does-not-3-check">
            <a:extLst xmlns:a="http://schemas.openxmlformats.org/drawingml/2006/main">
              <a:ext uri="{FF2B5EF4-FFF2-40B4-BE49-F238E27FC236}">
                <a16:creationId xmlns:a16="http://schemas.microsoft.com/office/drawing/2014/main" id="{E0FD72E9-6607-4601-97B2-5228ED8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339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×</a:t>
            </a:r>
          </a:p>
        </p:txBody>
      </p:sp>
      <p:sp>
        <p:nvSpPr>
          <p:cNvPr id="23" name="s10-does-not-3-text">
            <a:extLst xmlns:a="http://schemas.openxmlformats.org/drawingml/2006/main">
              <a:ext uri="{FF2B5EF4-FFF2-40B4-BE49-F238E27FC236}">
                <a16:creationId xmlns:a16="http://schemas.microsoft.com/office/drawing/2014/main" id="{21BFC5FE-B2EE-4A40-A609-A8339EE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419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אינו מחליף היסטוריה אמיתית בכסף אמיתי</a:t>
            </a:r>
          </a:p>
        </p:txBody>
      </p:sp>
      <p:sp>
        <p:nvSpPr>
          <p:cNvPr id="24" name="s10-fill-band">
            <a:extLst xmlns:a="http://schemas.openxmlformats.org/drawingml/2006/main">
              <a:ext uri="{FF2B5EF4-FFF2-40B4-BE49-F238E27FC236}">
                <a16:creationId xmlns:a16="http://schemas.microsoft.com/office/drawing/2014/main" id="{119B2A69-EE85-4A01-886F-F39C7E2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10-fill-label">
            <a:extLst xmlns:a="http://schemas.openxmlformats.org/drawingml/2006/main">
              <a:ext uri="{FF2B5EF4-FFF2-40B4-BE49-F238E27FC236}">
                <a16:creationId xmlns:a16="http://schemas.microsoft.com/office/drawing/2014/main" id="{4ACF1DCA-7D8D-416C-80DA-20D6C0E9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3880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התיק, התקופה, העלויות והעמלות במודל</a:t>
            </a:r>
          </a:p>
        </p:txBody>
      </p:sp>
      <p:sp>
        <p:nvSpPr>
          <p:cNvPr id="26" name="s10-fill-panel">
            <a:extLst xmlns:a="http://schemas.openxmlformats.org/drawingml/2006/main">
              <a:ext uri="{FF2B5EF4-FFF2-40B4-BE49-F238E27FC236}">
                <a16:creationId xmlns:a16="http://schemas.microsoft.com/office/drawing/2014/main" id="{3F896277-07D3-4ECF-B6B9-24823C73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3144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0-fill-text">
            <a:extLst xmlns:a="http://schemas.openxmlformats.org/drawingml/2006/main">
              <a:ext uri="{FF2B5EF4-FFF2-40B4-BE49-F238E27FC236}">
                <a16:creationId xmlns:a16="http://schemas.microsoft.com/office/drawing/2014/main" id="{FBC66515-5DE9-4A6D-AFD5-9729D49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123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sp>
        <p:nvSpPr>
          <p:cNvPr id="28" name="s10-current-note">
            <a:extLst xmlns:a="http://schemas.openxmlformats.org/drawingml/2006/main">
              <a:ext uri="{FF2B5EF4-FFF2-40B4-BE49-F238E27FC236}">
                <a16:creationId xmlns:a16="http://schemas.microsoft.com/office/drawing/2014/main" id="{D42CB2EE-85F5-49C0-BA90-2D59F12E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72200"/>
            <a:ext cx="893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הערה: במודל הנוכחי חודש מחושב כ־21 ימי מסחר; התאמה לחודש קלנדרי: FILL</a:t>
            </a:r>
          </a:p>
        </p:txBody>
      </p:sp>
      <p:sp>
        <p:nvSpPr>
          <p:cNvPr id="29" name="slide-10-draft-footer">
            <a:extLst xmlns:a="http://schemas.openxmlformats.org/drawingml/2006/main">
              <a:ext uri="{FF2B5EF4-FFF2-40B4-BE49-F238E27FC236}">
                <a16:creationId xmlns:a16="http://schemas.microsoft.com/office/drawing/2014/main" id="{6F59D23B-A5EB-4DA5-996C-572C8CD2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30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139BDD6C-D8C8-48DD-B156-A27F580E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06120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1EFE66D-5509-42C0-B20E-870AE061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לפני הפצה נדרש אישור משפטי</a:t>
            </a:r>
          </a:p>
        </p:txBody>
      </p:sp>
      <p:sp>
        <p:nvSpPr>
          <p:cNvPr id="2" name="slide-11-appendix">
            <a:extLst xmlns:a="http://schemas.openxmlformats.org/drawingml/2006/main">
              <a:ext uri="{FF2B5EF4-FFF2-40B4-BE49-F238E27FC236}">
                <a16:creationId xmlns:a16="http://schemas.microsoft.com/office/drawing/2014/main" id="{F4EAA330-70C8-4B5F-8CB2-1F60F31F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נספח</a:t>
            </a:r>
          </a:p>
        </p:txBody>
      </p:sp>
      <p:sp>
        <p:nvSpPr>
          <p:cNvPr id="3" name="s11-intro">
            <a:extLst xmlns:a="http://schemas.openxmlformats.org/drawingml/2006/main">
              <a:ext uri="{FF2B5EF4-FFF2-40B4-BE49-F238E27FC236}">
                <a16:creationId xmlns:a16="http://schemas.microsoft.com/office/drawing/2014/main" id="{63D86336-869F-4782-8A26-CCC56C64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19200"/>
            <a:ext cx="8934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המצגת יכולה להיות כלי שיחה רק לאחר שהמבנה, הקהל והנוסח אושרו מקצועית.</a:t>
            </a:r>
          </a:p>
        </p:txBody>
      </p:sp>
      <p:sp>
        <p:nvSpPr>
          <p:cNvPr id="4" name="s11-field-0-label">
            <a:extLst xmlns:a="http://schemas.openxmlformats.org/drawingml/2006/main">
              <a:ext uri="{FF2B5EF4-FFF2-40B4-BE49-F238E27FC236}">
                <a16:creationId xmlns:a16="http://schemas.microsoft.com/office/drawing/2014/main" id="{10F451C5-1F77-4ECC-AB0A-24FDDF8B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זהות הישות והמנהל</a:t>
            </a:r>
          </a:p>
        </p:txBody>
      </p:sp>
      <p:sp>
        <p:nvSpPr>
          <p:cNvPr id="5" name="s11-field-0-fill-panel">
            <a:extLst xmlns:a="http://schemas.openxmlformats.org/drawingml/2006/main">
              <a:ext uri="{FF2B5EF4-FFF2-40B4-BE49-F238E27FC236}">
                <a16:creationId xmlns:a16="http://schemas.microsoft.com/office/drawing/2014/main" id="{001839BB-C16A-4699-8477-05BB189B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1-field-0-fill-text">
            <a:extLst xmlns:a="http://schemas.openxmlformats.org/drawingml/2006/main">
              <a:ext uri="{FF2B5EF4-FFF2-40B4-BE49-F238E27FC236}">
                <a16:creationId xmlns:a16="http://schemas.microsoft.com/office/drawing/2014/main" id="{00E78E9A-EC02-4A7B-9B88-9A4BB27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5" name="s11-field-0-line"/>
          <p:cNvCxnSpPr/>
          <p:nvPr/>
        </p:nvCxnSpPr>
        <p:spPr>
          <a:xfrm xmlns:a="http://schemas.openxmlformats.org/drawingml/2006/main">
            <a:off x="2381250" y="2495550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11-field-1-label">
            <a:extLst xmlns:a="http://schemas.openxmlformats.org/drawingml/2006/main">
              <a:ext uri="{FF2B5EF4-FFF2-40B4-BE49-F238E27FC236}">
                <a16:creationId xmlns:a16="http://schemas.microsoft.com/office/drawing/2014/main" id="{09EFEE45-E5F5-4D93-AC7F-17FAD181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95575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מבנה משפטי ומבנה החשבון</a:t>
            </a:r>
          </a:p>
        </p:txBody>
      </p:sp>
      <p:sp>
        <p:nvSpPr>
          <p:cNvPr id="9" name="s11-field-1-fill-panel">
            <a:extLst xmlns:a="http://schemas.openxmlformats.org/drawingml/2006/main">
              <a:ext uri="{FF2B5EF4-FFF2-40B4-BE49-F238E27FC236}">
                <a16:creationId xmlns:a16="http://schemas.microsoft.com/office/drawing/2014/main" id="{5C4B4A56-AFB9-4900-A11D-D4586A9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1-field-1-fill-text">
            <a:extLst xmlns:a="http://schemas.openxmlformats.org/drawingml/2006/main">
              <a:ext uri="{FF2B5EF4-FFF2-40B4-BE49-F238E27FC236}">
                <a16:creationId xmlns:a16="http://schemas.microsoft.com/office/drawing/2014/main" id="{9099A97A-819F-40D8-8822-F8A7FA8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39" name="s11-field-1-line"/>
          <p:cNvCxnSpPr/>
          <p:nvPr/>
        </p:nvCxnSpPr>
        <p:spPr>
          <a:xfrm xmlns:a="http://schemas.openxmlformats.org/drawingml/2006/main">
            <a:off x="2381250" y="3152775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11-field-2-label">
            <a:extLst xmlns:a="http://schemas.openxmlformats.org/drawingml/2006/main">
              <a:ext uri="{FF2B5EF4-FFF2-40B4-BE49-F238E27FC236}">
                <a16:creationId xmlns:a16="http://schemas.microsoft.com/office/drawing/2014/main" id="{C144D820-48A5-4177-A928-6D246471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רישוי, פטורים וקהל היעד</a:t>
            </a:r>
          </a:p>
        </p:txBody>
      </p:sp>
      <p:sp>
        <p:nvSpPr>
          <p:cNvPr id="13" name="s11-field-2-fill-panel">
            <a:extLst xmlns:a="http://schemas.openxmlformats.org/drawingml/2006/main">
              <a:ext uri="{FF2B5EF4-FFF2-40B4-BE49-F238E27FC236}">
                <a16:creationId xmlns:a16="http://schemas.microsoft.com/office/drawing/2014/main" id="{9F278CD2-9FB2-444B-BAF5-48C29907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1-field-2-fill-text">
            <a:extLst xmlns:a="http://schemas.openxmlformats.org/drawingml/2006/main">
              <a:ext uri="{FF2B5EF4-FFF2-40B4-BE49-F238E27FC236}">
                <a16:creationId xmlns:a16="http://schemas.microsoft.com/office/drawing/2014/main" id="{8C0C3158-077B-4B25-BF92-CBFD9F0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3" name="s11-field-2-line"/>
          <p:cNvCxnSpPr/>
          <p:nvPr/>
        </p:nvCxnSpPr>
        <p:spPr>
          <a:xfrm xmlns:a="http://schemas.openxmlformats.org/drawingml/2006/main">
            <a:off x="2381250" y="3810000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s11-field-3-label">
            <a:extLst xmlns:a="http://schemas.openxmlformats.org/drawingml/2006/main">
              <a:ext uri="{FF2B5EF4-FFF2-40B4-BE49-F238E27FC236}">
                <a16:creationId xmlns:a16="http://schemas.microsoft.com/office/drawing/2014/main" id="{D0D8D8DC-634F-4710-8AB3-9AA7FD5A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10025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תנאי ההשקעה והמשיכה</a:t>
            </a:r>
          </a:p>
        </p:txBody>
      </p:sp>
      <p:sp>
        <p:nvSpPr>
          <p:cNvPr id="17" name="s11-field-3-fill-panel">
            <a:extLst xmlns:a="http://schemas.openxmlformats.org/drawingml/2006/main">
              <a:ext uri="{FF2B5EF4-FFF2-40B4-BE49-F238E27FC236}">
                <a16:creationId xmlns:a16="http://schemas.microsoft.com/office/drawing/2014/main" id="{36C72924-7A9B-442A-9545-AB676768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1-field-3-fill-text">
            <a:extLst xmlns:a="http://schemas.openxmlformats.org/drawingml/2006/main">
              <a:ext uri="{FF2B5EF4-FFF2-40B4-BE49-F238E27FC236}">
                <a16:creationId xmlns:a16="http://schemas.microsoft.com/office/drawing/2014/main" id="{AA02B418-1F0E-4B06-A180-A2433FBA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47" name="s11-field-3-line"/>
          <p:cNvCxnSpPr/>
          <p:nvPr/>
        </p:nvCxnSpPr>
        <p:spPr>
          <a:xfrm xmlns:a="http://schemas.openxmlformats.org/drawingml/2006/main">
            <a:off x="2381250" y="4467225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s11-field-4-label">
            <a:extLst xmlns:a="http://schemas.openxmlformats.org/drawingml/2006/main">
              <a:ext uri="{FF2B5EF4-FFF2-40B4-BE49-F238E27FC236}">
                <a16:creationId xmlns:a16="http://schemas.microsoft.com/office/drawing/2014/main" id="{20C69D8B-831B-426B-A11D-5F04652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5981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נוסח גילוי נאות שאושר משפטית</a:t>
            </a:r>
          </a:p>
        </p:txBody>
      </p:sp>
      <p:sp>
        <p:nvSpPr>
          <p:cNvPr id="21" name="s11-field-4-fill-panel">
            <a:extLst xmlns:a="http://schemas.openxmlformats.org/drawingml/2006/main">
              <a:ext uri="{FF2B5EF4-FFF2-40B4-BE49-F238E27FC236}">
                <a16:creationId xmlns:a16="http://schemas.microsoft.com/office/drawing/2014/main" id="{286F0DD3-E7CB-4A72-8938-9A2084AC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314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1-field-4-fill-text">
            <a:extLst xmlns:a="http://schemas.openxmlformats.org/drawingml/2006/main">
              <a:ext uri="{FF2B5EF4-FFF2-40B4-BE49-F238E27FC236}">
                <a16:creationId xmlns:a16="http://schemas.microsoft.com/office/drawing/2014/main" id="{B60785EF-39A5-4BCE-A2DC-A9D0899E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123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FILL</a:t>
            </a:r>
          </a:p>
        </p:txBody>
      </p:sp>
      <p:cxnSp>
        <p:nvCxnSpPr>
          <p:cNvPr id="51" name="s11-field-4-line"/>
          <p:cNvCxnSpPr/>
          <p:nvPr/>
        </p:nvCxnSpPr>
        <p:spPr>
          <a:xfrm xmlns:a="http://schemas.openxmlformats.org/drawingml/2006/main">
            <a:off x="2381250" y="5124450"/>
            <a:ext cx="902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s11-warning-panel">
            <a:extLst xmlns:a="http://schemas.openxmlformats.org/drawingml/2006/main">
              <a:ext uri="{FF2B5EF4-FFF2-40B4-BE49-F238E27FC236}">
                <a16:creationId xmlns:a16="http://schemas.microsoft.com/office/drawing/2014/main" id="{AE25D845-1919-4F27-A570-05E1F763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43550"/>
            <a:ext cx="11410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1-warning">
            <a:extLst xmlns:a="http://schemas.openxmlformats.org/drawingml/2006/main">
              <a:ext uri="{FF2B5EF4-FFF2-40B4-BE49-F238E27FC236}">
                <a16:creationId xmlns:a16="http://schemas.microsoft.com/office/drawing/2014/main" id="{96182036-489F-458F-92F5-11A29B71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216"/>
                </a:solidFill>
                <a:latin typeface="Arial"/>
                <a:ea typeface="Arial"/>
                <a:cs typeface="Arial"/>
              </a:defRPr>
            </a:pPr>
            <a:r>
              <a:t>טיוטה פנימית. אין להפיץ או למסור נתוני תשואה ותנאים לפני אישור עורך דין מתאים.</a:t>
            </a:r>
          </a:p>
        </p:txBody>
      </p:sp>
      <p:sp>
        <p:nvSpPr>
          <p:cNvPr id="26" name="s11-risk">
            <a:extLst xmlns:a="http://schemas.openxmlformats.org/drawingml/2006/main">
              <a:ext uri="{FF2B5EF4-FFF2-40B4-BE49-F238E27FC236}">
                <a16:creationId xmlns:a16="http://schemas.microsoft.com/office/drawing/2014/main" id="{1B1C1052-585F-41FF-AA74-A8C89BD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10300"/>
            <a:ext cx="981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השקעה כרוכה בסיכון להפסד, לרבות הפסד משמעותי. תוצאות עבר ובדיקות היסטוריות אינן מבטיחות תוצאות עתידיות.</a:t>
            </a:r>
          </a:p>
        </p:txBody>
      </p:sp>
      <p:sp>
        <p:nvSpPr>
          <p:cNvPr id="27" name="slide-11-draft-footer">
            <a:extLst xmlns:a="http://schemas.openxmlformats.org/drawingml/2006/main">
              <a:ext uri="{FF2B5EF4-FFF2-40B4-BE49-F238E27FC236}">
                <a16:creationId xmlns:a16="http://schemas.microsoft.com/office/drawing/2014/main" id="{53277B2B-5448-49F3-B149-8C078B02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353175"/>
            <a:ext cx="6838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טיוטה פנימית — לא להפצה | נוסח משפטי: FILL</a:t>
            </a:r>
          </a:p>
        </p:txBody>
      </p:sp>
      <p:sp>
        <p:nvSpPr>
          <p:cNvPr id="28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9F102E4D-CF86-497A-8904-E4B5AC6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531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5310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2026-07-10T11:27:44.8860000Z</dcterms:created>
  <dcterms:modified xsi:type="dcterms:W3CDTF">2026-07-10T11:27:44.8860000Z</dcterms:modified>
</coreProperties>
</file>