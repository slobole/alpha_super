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b9fa738f47495f" /><Relationship Type="http://schemas.openxmlformats.org/officeDocument/2006/relationships/extended-properties" Target="/docProps/app.xml" Id="R9f30c91875484eae" /><Relationship Type="http://schemas.openxmlformats.org/officeDocument/2006/relationships/officeDocument" Target="/ppt/presentation.xml" Id="R4d1e6784b65643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2cac34d9b9432c"/>
  </p:sldMasterIdLst>
  <p:notesMasterIdLst>
    <p:notesMasterId xmlns:r="http://schemas.openxmlformats.org/officeDocument/2006/relationships" r:id="Rf152267cb86e4ebb"/>
  </p:notesMasterIdLst>
  <p:sldIdLst>
    <p:sldId xmlns:r="http://schemas.openxmlformats.org/officeDocument/2006/relationships" id="256" r:id="R4a7475aedd644a36"/>
    <p:sldId xmlns:r="http://schemas.openxmlformats.org/officeDocument/2006/relationships" id="257" r:id="R9feecaf3da0f4b47"/>
    <p:sldId xmlns:r="http://schemas.openxmlformats.org/officeDocument/2006/relationships" id="258" r:id="R58b9c8060bc142dd"/>
    <p:sldId xmlns:r="http://schemas.openxmlformats.org/officeDocument/2006/relationships" id="259" r:id="R6c291705825a47dc"/>
    <p:sldId xmlns:r="http://schemas.openxmlformats.org/officeDocument/2006/relationships" id="260" r:id="R3ac639b911ea4fd3"/>
    <p:sldId xmlns:r="http://schemas.openxmlformats.org/officeDocument/2006/relationships" id="261" r:id="R2158fd572f0a46d8"/>
    <p:sldId xmlns:r="http://schemas.openxmlformats.org/officeDocument/2006/relationships" id="262" r:id="R5c4f9bf883714d28"/>
    <p:sldId xmlns:r="http://schemas.openxmlformats.org/officeDocument/2006/relationships" id="263" r:id="R9844e67864a9420e"/>
    <p:sldId xmlns:r="http://schemas.openxmlformats.org/officeDocument/2006/relationships" id="264" r:id="Rfb6176e6a6f240d7"/>
    <p:sldId xmlns:r="http://schemas.openxmlformats.org/officeDocument/2006/relationships" id="265" r:id="R2c314226c9304c26"/>
    <p:sldId xmlns:r="http://schemas.openxmlformats.org/officeDocument/2006/relationships" id="266" r:id="Rba684da10eef4720"/>
    <p:sldId xmlns:r="http://schemas.openxmlformats.org/officeDocument/2006/relationships" id="267" r:id="Ra63b0ceeac944c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f2802951ff4591" /><Relationship Type="http://schemas.openxmlformats.org/officeDocument/2006/relationships/slideMaster" Target="/ppt/slideMasters/slideMaster1.xml" Id="Rf32cac34d9b9432c" /><Relationship Type="http://schemas.openxmlformats.org/officeDocument/2006/relationships/notesMaster" Target="/ppt/notesMasters/notesMaster1.xml" Id="Rf152267cb86e4ebb" /><Relationship Type="http://schemas.openxmlformats.org/officeDocument/2006/relationships/presProps" Target="/ppt/presProps.xml" Id="Rdedbe95c2a2f4d6c" /><Relationship Type="http://schemas.openxmlformats.org/officeDocument/2006/relationships/tableStyles" Target="/ppt/tableStyles.xml" Id="R3fe3a8551fd645bf" /><Relationship Type="http://schemas.openxmlformats.org/officeDocument/2006/relationships/slide" Target="/ppt/slides/slide1.xml" Id="R4a7475aedd644a36" /><Relationship Type="http://schemas.openxmlformats.org/officeDocument/2006/relationships/slide" Target="/ppt/slides/slide2.xml" Id="R9feecaf3da0f4b47" /><Relationship Type="http://schemas.openxmlformats.org/officeDocument/2006/relationships/slide" Target="/ppt/slides/slide3.xml" Id="R58b9c8060bc142dd" /><Relationship Type="http://schemas.openxmlformats.org/officeDocument/2006/relationships/slide" Target="/ppt/slides/slide4.xml" Id="R6c291705825a47dc" /><Relationship Type="http://schemas.openxmlformats.org/officeDocument/2006/relationships/slide" Target="/ppt/slides/slide5.xml" Id="R3ac639b911ea4fd3" /><Relationship Type="http://schemas.openxmlformats.org/officeDocument/2006/relationships/slide" Target="/ppt/slides/slide6.xml" Id="R2158fd572f0a46d8" /><Relationship Type="http://schemas.openxmlformats.org/officeDocument/2006/relationships/slide" Target="/ppt/slides/slide7.xml" Id="R5c4f9bf883714d28" /><Relationship Type="http://schemas.openxmlformats.org/officeDocument/2006/relationships/slide" Target="/ppt/slides/slide8.xml" Id="R9844e67864a9420e" /><Relationship Type="http://schemas.openxmlformats.org/officeDocument/2006/relationships/slide" Target="/ppt/slides/slide9.xml" Id="Rfb6176e6a6f240d7" /><Relationship Type="http://schemas.openxmlformats.org/officeDocument/2006/relationships/slide" Target="/ppt/slides/slide10.xml" Id="R2c314226c9304c26" /><Relationship Type="http://schemas.openxmlformats.org/officeDocument/2006/relationships/slide" Target="/ppt/slides/slide11.xml" Id="Rba684da10eef4720" /><Relationship Type="http://schemas.openxmlformats.org/officeDocument/2006/relationships/slide" Target="/ppt/slides/slide12.xml" Id="Ra63b0ceeac944c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1ed543d77f4a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9b3d04404e4103" /><Relationship Type="http://schemas.openxmlformats.org/officeDocument/2006/relationships/notesMaster" Target="/ppt/notesMasters/notesMaster1.xml" Id="R49c12ad8bfc449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a931fb93564940" /><Relationship Type="http://schemas.openxmlformats.org/officeDocument/2006/relationships/notesMaster" Target="/ppt/notesMasters/notesMaster1.xml" Id="Raa8d9457d04e4e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d1da064fcc4834" /><Relationship Type="http://schemas.openxmlformats.org/officeDocument/2006/relationships/notesMaster" Target="/ppt/notesMasters/notesMaster1.xml" Id="Rcc3a79c3ef724c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e3a1df2bcf40b3" /><Relationship Type="http://schemas.openxmlformats.org/officeDocument/2006/relationships/notesMaster" Target="/ppt/notesMasters/notesMaster1.xml" Id="R55a7ab8349a54b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34dec327d948cf" /><Relationship Type="http://schemas.openxmlformats.org/officeDocument/2006/relationships/notesMaster" Target="/ppt/notesMasters/notesMaster1.xml" Id="Rc3c909217e1845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2318d1949141b7" /><Relationship Type="http://schemas.openxmlformats.org/officeDocument/2006/relationships/notesMaster" Target="/ppt/notesMasters/notesMaster1.xml" Id="R08d8c022c26847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e85bbd33fc499f" /><Relationship Type="http://schemas.openxmlformats.org/officeDocument/2006/relationships/notesMaster" Target="/ppt/notesMasters/notesMaster1.xml" Id="Rd95ff65fa11645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d574c84da64577" /><Relationship Type="http://schemas.openxmlformats.org/officeDocument/2006/relationships/notesMaster" Target="/ppt/notesMasters/notesMaster1.xml" Id="Rb5b6e627643847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e8fc037b364259" /><Relationship Type="http://schemas.openxmlformats.org/officeDocument/2006/relationships/notesMaster" Target="/ppt/notesMasters/notesMaster1.xml" Id="R30f57e96e36641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f28ad4dd3a4ba8" /><Relationship Type="http://schemas.openxmlformats.org/officeDocument/2006/relationships/notesMaster" Target="/ppt/notesMasters/notesMaster1.xml" Id="R78dd2c56411240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20d9503f514b42" /><Relationship Type="http://schemas.openxmlformats.org/officeDocument/2006/relationships/notesMaster" Target="/ppt/notesMasters/notesMaster1.xml" Id="Rc72b7a133c484c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efe0eb18844b78" /><Relationship Type="http://schemas.openxmlformats.org/officeDocument/2006/relationships/notesMaster" Target="/ppt/notesMasters/notesMaster1.xml" Id="R35d13cdb56ee4f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bc3c7bc374c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ab0d0aca0b4a59" /><Relationship Type="http://schemas.openxmlformats.org/officeDocument/2006/relationships/slideLayout" Target="/ppt/slideLayouts/slideLayout1.xml" Id="R7ecbbf675ac34b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cbbf675ac34b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ca6c50fac4cfd" /><Relationship Type="http://schemas.openxmlformats.org/officeDocument/2006/relationships/notesSlide" Target="/ppt/notesSlides/notesSlide1.xml" Id="Rb273339c8fc943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9675d6fcf4baa" /><Relationship Type="http://schemas.openxmlformats.org/officeDocument/2006/relationships/notesSlide" Target="/ppt/notesSlides/notesSlide2.xml" Id="R9e6cda9e27d64c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a829e86fa4139" /><Relationship Type="http://schemas.openxmlformats.org/officeDocument/2006/relationships/notesSlide" Target="/ppt/notesSlides/notesSlide3.xml" Id="Rd847e79ff67b49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59516c48b42c2" /><Relationship Type="http://schemas.openxmlformats.org/officeDocument/2006/relationships/notesSlide" Target="/ppt/notesSlides/notesSlide4.xml" Id="R2a61bc6c2dde4b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08203b03d4c48" /><Relationship Type="http://schemas.openxmlformats.org/officeDocument/2006/relationships/notesSlide" Target="/ppt/notesSlides/notesSlide5.xml" Id="R0c248d1b29a044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f2274a71046e5" /><Relationship Type="http://schemas.openxmlformats.org/officeDocument/2006/relationships/notesSlide" Target="/ppt/notesSlides/notesSlide6.xml" Id="Red42680140074a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cac139ef14b27" /><Relationship Type="http://schemas.openxmlformats.org/officeDocument/2006/relationships/notesSlide" Target="/ppt/notesSlides/notesSlide7.xml" Id="R43c902f594c148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88b137ffb47e4" /><Relationship Type="http://schemas.openxmlformats.org/officeDocument/2006/relationships/notesSlide" Target="/ppt/notesSlides/notesSlide8.xml" Id="Rb9f74dbf2b7044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f59c2ddd840e4" /><Relationship Type="http://schemas.openxmlformats.org/officeDocument/2006/relationships/notesSlide" Target="/ppt/notesSlides/notesSlide9.xml" Id="Rc2dbacccfee84f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0b21c48a240e6" /><Relationship Type="http://schemas.openxmlformats.org/officeDocument/2006/relationships/notesSlide" Target="/ppt/notesSlides/notesSlide10.xml" Id="Rf2b17fff2fb149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13bb65b5e4027" /><Relationship Type="http://schemas.openxmlformats.org/officeDocument/2006/relationships/notesSlide" Target="/ppt/notesSlides/notesSlide11.xml" Id="R4e52e9e99d8d42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0bde36ae841b5" /><Relationship Type="http://schemas.openxmlformats.org/officeDocument/2006/relationships/notesSlide" Target="/ppt/notesSlides/notesSlide12.xml" Id="R9efcee27139a42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-eyebrow">
            <a:extLst xmlns:a="http://schemas.openxmlformats.org/drawingml/2006/main">
              <a:ext uri="{FF2B5EF4-FFF2-40B4-BE49-F238E27FC236}">
                <a16:creationId xmlns:a16="http://schemas.microsoft.com/office/drawing/2014/main" id="{4AC69D09-7B48-4007-9C34-19B314F1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"/>
            <a:ext cx="3333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FRIENDS &amp; FAMILY</a:t>
            </a:r>
          </a:p>
        </p:txBody>
      </p:sp>
      <p:sp>
        <p:nvSpPr>
          <p:cNvPr id="2" name="s1-draft-label">
            <a:extLst xmlns:a="http://schemas.openxmlformats.org/drawingml/2006/main">
              <a:ext uri="{FF2B5EF4-FFF2-40B4-BE49-F238E27FC236}">
                <a16:creationId xmlns:a16="http://schemas.microsoft.com/office/drawing/2014/main" id="{37BD8E5D-612B-4584-BF21-8B83BB82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"/>
            <a:ext cx="161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טיוטה פנימית</a:t>
            </a:r>
          </a:p>
        </p:txBody>
      </p:sp>
      <p:sp>
        <p:nvSpPr>
          <p:cNvPr id="3" name="s1-program-label">
            <a:extLst xmlns:a="http://schemas.openxmlformats.org/drawingml/2006/main">
              <a:ext uri="{FF2B5EF4-FFF2-40B4-BE49-F238E27FC236}">
                <a16:creationId xmlns:a16="http://schemas.microsoft.com/office/drawing/2014/main" id="{22C8A629-D959-4E5C-8BCE-69D9446F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2870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שם התוכנית</a:t>
            </a:r>
          </a:p>
        </p:txBody>
      </p:sp>
      <p:sp>
        <p:nvSpPr>
          <p:cNvPr id="4" name="s1-program-fill-panel">
            <a:extLst xmlns:a="http://schemas.openxmlformats.org/drawingml/2006/main">
              <a:ext uri="{FF2B5EF4-FFF2-40B4-BE49-F238E27FC236}">
                <a16:creationId xmlns:a16="http://schemas.microsoft.com/office/drawing/2014/main" id="{CC01A751-370F-4519-A9F8-2392D801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352550"/>
            <a:ext cx="1104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-program-fill-text">
            <a:extLst xmlns:a="http://schemas.openxmlformats.org/drawingml/2006/main">
              <a:ext uri="{FF2B5EF4-FFF2-40B4-BE49-F238E27FC236}">
                <a16:creationId xmlns:a16="http://schemas.microsoft.com/office/drawing/2014/main" id="{263349C7-3F2B-4275-BA0F-11499AA7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390650"/>
            <a:ext cx="914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6" name="s1-headline">
            <a:extLst xmlns:a="http://schemas.openxmlformats.org/drawingml/2006/main">
              <a:ext uri="{FF2B5EF4-FFF2-40B4-BE49-F238E27FC236}">
                <a16:creationId xmlns:a16="http://schemas.microsoft.com/office/drawing/2014/main" id="{DFCC3579-F3F3-4CF0-A10A-AD5D64E9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66950"/>
            <a:ext cx="9048750" cy="2038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57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תהליך השקעה שיטתי
בשלב מוקדם ושקוף</a:t>
            </a:r>
          </a:p>
        </p:txBody>
      </p:sp>
      <p:cxnSp>
        <p:nvCxnSpPr>
          <p:cNvPr id="18" name="s1-accent-rule"/>
          <p:cNvCxnSpPr/>
          <p:nvPr/>
        </p:nvCxnSpPr>
        <p:spPr>
          <a:xfrm xmlns:a="http://schemas.openxmlformats.org/drawingml/2006/main">
            <a:off x="7105650" y="4600575"/>
            <a:ext cx="4324350" cy="286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8" name="s1-subtitle">
            <a:extLst xmlns:a="http://schemas.openxmlformats.org/drawingml/2006/main">
              <a:ext uri="{FF2B5EF4-FFF2-40B4-BE49-F238E27FC236}">
                <a16:creationId xmlns:a16="http://schemas.microsoft.com/office/drawing/2014/main" id="{69E4562D-49D4-4ECD-9FC4-3F947F3C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53000"/>
            <a:ext cx="6381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כללים שנבדקו מראש. כמה גישות נפרדות. סיכון שמוצג בגלוי.</a:t>
            </a:r>
          </a:p>
        </p:txBody>
      </p:sp>
      <p:sp>
        <p:nvSpPr>
          <p:cNvPr id="9" name="s1-goal-label">
            <a:extLst xmlns:a="http://schemas.openxmlformats.org/drawingml/2006/main">
              <a:ext uri="{FF2B5EF4-FFF2-40B4-BE49-F238E27FC236}">
                <a16:creationId xmlns:a16="http://schemas.microsoft.com/office/drawing/2014/main" id="{C7299ED3-E25B-4BAD-947D-EDD339C8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00750"/>
            <a:ext cx="2857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מטרת השלב הראשוני</a:t>
            </a:r>
          </a:p>
        </p:txBody>
      </p:sp>
      <p:sp>
        <p:nvSpPr>
          <p:cNvPr id="10" name="s1-goal-fill-panel">
            <a:extLst xmlns:a="http://schemas.openxmlformats.org/drawingml/2006/main">
              <a:ext uri="{FF2B5EF4-FFF2-40B4-BE49-F238E27FC236}">
                <a16:creationId xmlns:a16="http://schemas.microsoft.com/office/drawing/2014/main" id="{47E061FF-51A5-489D-A1AF-0076ABA8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267450"/>
            <a:ext cx="1181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1-goal-fill-text">
            <a:extLst xmlns:a="http://schemas.openxmlformats.org/drawingml/2006/main">
              <a:ext uri="{FF2B5EF4-FFF2-40B4-BE49-F238E27FC236}">
                <a16:creationId xmlns:a16="http://schemas.microsoft.com/office/drawing/2014/main" id="{B1584EEC-8799-4F20-A49E-C1C79F21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305550"/>
            <a:ext cx="990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</p:spTree>
    <p:extLst>
      <p:ext uri="{BB962C8B-B14F-4D97-AF65-F5344CB8AC3E}">
        <p14:creationId xmlns:p14="http://schemas.microsoft.com/office/powerpoint/2010/main" val="11803629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CBE638AC-CF70-4B70-98A4-AC04741A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לא תלויים ברעיון אחד</a:t>
            </a:r>
          </a:p>
        </p:txBody>
      </p:sp>
      <p:sp>
        <p:nvSpPr>
          <p:cNvPr id="2" name="s2-intro">
            <a:extLst xmlns:a="http://schemas.openxmlformats.org/drawingml/2006/main">
              <a:ext uri="{FF2B5EF4-FFF2-40B4-BE49-F238E27FC236}">
                <a16:creationId xmlns:a16="http://schemas.microsoft.com/office/drawing/2014/main" id="{820C0C18-9F20-47C9-91ED-A4A514A9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219200"/>
            <a:ext cx="883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המערכת נועדה לשלב כמה חלקים נפרדים, שלכל אחד מהם כללים ותפקיד משלו. ההרכב המוצע עדיין דורש השלמה.</a:t>
            </a:r>
          </a:p>
        </p:txBody>
      </p:sp>
      <p:cxnSp>
        <p:nvCxnSpPr>
          <p:cNvPr id="27" name="s2-divider-1"/>
          <p:cNvCxnSpPr/>
          <p:nvPr/>
        </p:nvCxnSpPr>
        <p:spPr>
          <a:xfrm xmlns:a="http://schemas.openxmlformats.org/drawingml/2006/main">
            <a:off x="4105275" y="2209800"/>
            <a:ext cx="286" cy="3333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8" name="s2-divider-2"/>
          <p:cNvCxnSpPr/>
          <p:nvPr/>
        </p:nvCxnSpPr>
        <p:spPr>
          <a:xfrm xmlns:a="http://schemas.openxmlformats.org/drawingml/2006/main">
            <a:off x="8020050" y="2209800"/>
            <a:ext cx="286" cy="3333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s2-01-index">
            <a:extLst xmlns:a="http://schemas.openxmlformats.org/drawingml/2006/main">
              <a:ext uri="{FF2B5EF4-FFF2-40B4-BE49-F238E27FC236}">
                <a16:creationId xmlns:a16="http://schemas.microsoft.com/office/drawing/2014/main" id="{9C559EDD-DE80-415B-A4FE-457BE868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09800"/>
            <a:ext cx="3562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6" name="s2-01-title">
            <a:extLst xmlns:a="http://schemas.openxmlformats.org/drawingml/2006/main">
              <a:ext uri="{FF2B5EF4-FFF2-40B4-BE49-F238E27FC236}">
                <a16:creationId xmlns:a16="http://schemas.microsoft.com/office/drawing/2014/main" id="{EF78DB29-44DF-42FD-AEC3-1EAF0CBF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3562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מומנטום</a:t>
            </a:r>
          </a:p>
        </p:txBody>
      </p:sp>
      <p:sp>
        <p:nvSpPr>
          <p:cNvPr id="7" name="s2-01-body">
            <a:extLst xmlns:a="http://schemas.openxmlformats.org/drawingml/2006/main">
              <a:ext uri="{FF2B5EF4-FFF2-40B4-BE49-F238E27FC236}">
                <a16:creationId xmlns:a16="http://schemas.microsoft.com/office/drawing/2014/main" id="{690F0B84-2E4B-42DD-A705-64EB758F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35623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חיפוש אחר חוזקה יחסית שמתפתחת בהדרגה, תחת כללי סינון וסיכון.</a:t>
            </a:r>
          </a:p>
        </p:txBody>
      </p:sp>
      <p:sp>
        <p:nvSpPr>
          <p:cNvPr id="8" name="s2-01-fill-panel">
            <a:extLst xmlns:a="http://schemas.openxmlformats.org/drawingml/2006/main">
              <a:ext uri="{FF2B5EF4-FFF2-40B4-BE49-F238E27FC236}">
                <a16:creationId xmlns:a16="http://schemas.microsoft.com/office/drawing/2014/main" id="{3546720C-F419-4D8E-A6D5-BAF640B8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12445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2-01-fill-text">
            <a:extLst xmlns:a="http://schemas.openxmlformats.org/drawingml/2006/main">
              <a:ext uri="{FF2B5EF4-FFF2-40B4-BE49-F238E27FC236}">
                <a16:creationId xmlns:a16="http://schemas.microsoft.com/office/drawing/2014/main" id="{FEFDBA64-A154-42F7-AD48-58941F73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1625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10" name="s2-01-fill-label">
            <a:extLst xmlns:a="http://schemas.openxmlformats.org/drawingml/2006/main">
              <a:ext uri="{FF2B5EF4-FFF2-40B4-BE49-F238E27FC236}">
                <a16:creationId xmlns:a16="http://schemas.microsoft.com/office/drawing/2014/main" id="{82C28DD8-1722-46F3-B5A4-A7EF9C26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619750"/>
            <a:ext cx="35623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המשקל והאסטרטגיה הסופיים</a:t>
            </a:r>
          </a:p>
        </p:txBody>
      </p:sp>
      <p:sp>
        <p:nvSpPr>
          <p:cNvPr id="11" name="s2-02-index">
            <a:extLst xmlns:a="http://schemas.openxmlformats.org/drawingml/2006/main">
              <a:ext uri="{FF2B5EF4-FFF2-40B4-BE49-F238E27FC236}">
                <a16:creationId xmlns:a16="http://schemas.microsoft.com/office/drawing/2014/main" id="{7E70977B-4EE1-4AD6-B06D-05BF9435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09800"/>
            <a:ext cx="3562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2" name="s2-02-title">
            <a:extLst xmlns:a="http://schemas.openxmlformats.org/drawingml/2006/main">
              <a:ext uri="{FF2B5EF4-FFF2-40B4-BE49-F238E27FC236}">
                <a16:creationId xmlns:a16="http://schemas.microsoft.com/office/drawing/2014/main" id="{A71EE9E1-6FEA-41E0-932E-BB016452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09900"/>
            <a:ext cx="3562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חזרה לממוצע</a:t>
            </a:r>
          </a:p>
        </p:txBody>
      </p:sp>
      <p:sp>
        <p:nvSpPr>
          <p:cNvPr id="13" name="s2-02-body">
            <a:extLst xmlns:a="http://schemas.openxmlformats.org/drawingml/2006/main">
              <a:ext uri="{FF2B5EF4-FFF2-40B4-BE49-F238E27FC236}">
                <a16:creationId xmlns:a16="http://schemas.microsoft.com/office/drawing/2014/main" id="{203C0D66-E2A3-4B59-B048-CAE2A3C1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714750"/>
            <a:ext cx="35623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ניסיון לנצל תנועות קיצוניות וקצרות, בלי להניח שכל ירידה חייבת להתהפך.</a:t>
            </a:r>
          </a:p>
        </p:txBody>
      </p:sp>
      <p:sp>
        <p:nvSpPr>
          <p:cNvPr id="14" name="s2-02-fill-panel">
            <a:extLst xmlns:a="http://schemas.openxmlformats.org/drawingml/2006/main">
              <a:ext uri="{FF2B5EF4-FFF2-40B4-BE49-F238E27FC236}">
                <a16:creationId xmlns:a16="http://schemas.microsoft.com/office/drawing/2014/main" id="{FD9FDAC2-95C7-456A-A8C9-D67305F6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12445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2-02-fill-text">
            <a:extLst xmlns:a="http://schemas.openxmlformats.org/drawingml/2006/main">
              <a:ext uri="{FF2B5EF4-FFF2-40B4-BE49-F238E27FC236}">
                <a16:creationId xmlns:a16="http://schemas.microsoft.com/office/drawing/2014/main" id="{439A65E1-2B68-47BF-A0E3-97B25416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1625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16" name="s2-02-fill-label">
            <a:extLst xmlns:a="http://schemas.openxmlformats.org/drawingml/2006/main">
              <a:ext uri="{FF2B5EF4-FFF2-40B4-BE49-F238E27FC236}">
                <a16:creationId xmlns:a16="http://schemas.microsoft.com/office/drawing/2014/main" id="{012987E3-2DD0-4BEC-B36A-BEB6AC66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619750"/>
            <a:ext cx="35623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המשקל והאסטרטגיה הסופיים</a:t>
            </a:r>
          </a:p>
        </p:txBody>
      </p:sp>
      <p:sp>
        <p:nvSpPr>
          <p:cNvPr id="17" name="s2-03-index">
            <a:extLst xmlns:a="http://schemas.openxmlformats.org/drawingml/2006/main">
              <a:ext uri="{FF2B5EF4-FFF2-40B4-BE49-F238E27FC236}">
                <a16:creationId xmlns:a16="http://schemas.microsoft.com/office/drawing/2014/main" id="{1B6EB622-1281-4E73-B689-9AB1C551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09800"/>
            <a:ext cx="3562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8" name="s2-03-title">
            <a:extLst xmlns:a="http://schemas.openxmlformats.org/drawingml/2006/main">
              <a:ext uri="{FF2B5EF4-FFF2-40B4-BE49-F238E27FC236}">
                <a16:creationId xmlns:a16="http://schemas.microsoft.com/office/drawing/2014/main" id="{A77E9D51-E45D-4FBF-A35E-4146EB17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09900"/>
            <a:ext cx="3562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הקצאה טקטית</a:t>
            </a:r>
          </a:p>
        </p:txBody>
      </p:sp>
      <p:sp>
        <p:nvSpPr>
          <p:cNvPr id="19" name="s2-03-body">
            <a:extLst xmlns:a="http://schemas.openxmlformats.org/drawingml/2006/main">
              <a:ext uri="{FF2B5EF4-FFF2-40B4-BE49-F238E27FC236}">
                <a16:creationId xmlns:a16="http://schemas.microsoft.com/office/drawing/2014/main" id="{E2C3C0AC-B8D9-4F2C-A32F-9DC4C7E4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35623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שינוי חשיפה בין נכסים לפי כללים קבועים ותנאי שוק מוגדרים.</a:t>
            </a:r>
          </a:p>
        </p:txBody>
      </p:sp>
      <p:sp>
        <p:nvSpPr>
          <p:cNvPr id="20" name="s2-03-fill-panel">
            <a:extLst xmlns:a="http://schemas.openxmlformats.org/drawingml/2006/main">
              <a:ext uri="{FF2B5EF4-FFF2-40B4-BE49-F238E27FC236}">
                <a16:creationId xmlns:a16="http://schemas.microsoft.com/office/drawing/2014/main" id="{3452D883-0F3F-4956-9CF4-805899D6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12445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2-03-fill-text">
            <a:extLst xmlns:a="http://schemas.openxmlformats.org/drawingml/2006/main">
              <a:ext uri="{FF2B5EF4-FFF2-40B4-BE49-F238E27FC236}">
                <a16:creationId xmlns:a16="http://schemas.microsoft.com/office/drawing/2014/main" id="{DF59B691-A133-4A01-854A-79BD9535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1625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22" name="s2-03-fill-label">
            <a:extLst xmlns:a="http://schemas.openxmlformats.org/drawingml/2006/main">
              <a:ext uri="{FF2B5EF4-FFF2-40B4-BE49-F238E27FC236}">
                <a16:creationId xmlns:a16="http://schemas.microsoft.com/office/drawing/2014/main" id="{8A7D8D2B-E6A4-4891-8A79-132D7029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19750"/>
            <a:ext cx="35623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המשקל והאסטרטגיה הסופיים</a:t>
            </a:r>
          </a:p>
        </p:txBody>
      </p:sp>
      <p:sp>
        <p:nvSpPr>
          <p:cNvPr id="23" name="slide-2-draft-footer">
            <a:extLst xmlns:a="http://schemas.openxmlformats.org/drawingml/2006/main">
              <a:ext uri="{FF2B5EF4-FFF2-40B4-BE49-F238E27FC236}">
                <a16:creationId xmlns:a16="http://schemas.microsoft.com/office/drawing/2014/main" id="{B54171F7-0942-4F27-B097-37B718EC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53175"/>
            <a:ext cx="560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טיוטה פנימית | לא להפצה | משפטי: FILL</a:t>
            </a:r>
          </a:p>
        </p:txBody>
      </p:sp>
      <p:sp>
        <p:nvSpPr>
          <p:cNvPr id="24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1ED21A23-7AA4-45A1-99B8-8877C87B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62788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4ED787C3-E06C-4CC2-A9EB-64DDCAF9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התרחבות בין שווקים תיבנה בהדרגה</a:t>
            </a:r>
          </a:p>
        </p:txBody>
      </p:sp>
      <p:sp>
        <p:nvSpPr>
          <p:cNvPr id="2" name="s-market-intro">
            <a:extLst xmlns:a="http://schemas.openxmlformats.org/drawingml/2006/main">
              <a:ext uri="{FF2B5EF4-FFF2-40B4-BE49-F238E27FC236}">
                <a16:creationId xmlns:a16="http://schemas.microsoft.com/office/drawing/2014/main" id="{5B107CC1-57BB-4BCD-81A8-1155B30E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200150"/>
            <a:ext cx="8934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המטרה היא להרחיב בהדרגה את מגוון ההזדמנויות. כיום הפלטפורמה ממוקדת בארה״ב; כל שוק חדש חייב לעבור בדיקות נתונים, עלויות, נזילות וביצוע.</a:t>
            </a:r>
          </a:p>
        </p:txBody>
      </p:sp>
      <p:sp>
        <p:nvSpPr>
          <p:cNvPr id="3" name="s-market-01-panel">
            <a:extLst xmlns:a="http://schemas.openxmlformats.org/drawingml/2006/main">
              <a:ext uri="{FF2B5EF4-FFF2-40B4-BE49-F238E27FC236}">
                <a16:creationId xmlns:a16="http://schemas.microsoft.com/office/drawing/2014/main" id="{5176A7DD-681C-4751-A646-C05F1E85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85950"/>
            <a:ext cx="35623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-market-01-number">
            <a:extLst xmlns:a="http://schemas.openxmlformats.org/drawingml/2006/main">
              <a:ext uri="{FF2B5EF4-FFF2-40B4-BE49-F238E27FC236}">
                <a16:creationId xmlns:a16="http://schemas.microsoft.com/office/drawing/2014/main" id="{2BC8F02B-C902-4192-9D20-305CBBD3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114550"/>
            <a:ext cx="57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5" name="s-market-01-stage">
            <a:extLst xmlns:a="http://schemas.openxmlformats.org/drawingml/2006/main">
              <a:ext uri="{FF2B5EF4-FFF2-40B4-BE49-F238E27FC236}">
                <a16:creationId xmlns:a16="http://schemas.microsoft.com/office/drawing/2014/main" id="{B5EBA6AB-23B1-41D1-B3FE-54E0C988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526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היום</a:t>
            </a:r>
          </a:p>
        </p:txBody>
      </p:sp>
      <p:sp>
        <p:nvSpPr>
          <p:cNvPr id="6" name="s-market-01-title">
            <a:extLst xmlns:a="http://schemas.openxmlformats.org/drawingml/2006/main">
              <a:ext uri="{FF2B5EF4-FFF2-40B4-BE49-F238E27FC236}">
                <a16:creationId xmlns:a16="http://schemas.microsoft.com/office/drawing/2014/main" id="{423BD6AF-9843-458F-813C-4A26B931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24150"/>
            <a:ext cx="2914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ארה״ב</a:t>
            </a:r>
          </a:p>
        </p:txBody>
      </p:sp>
      <p:sp>
        <p:nvSpPr>
          <p:cNvPr id="7" name="s-market-01-body">
            <a:extLst xmlns:a="http://schemas.openxmlformats.org/drawingml/2006/main">
              <a:ext uri="{FF2B5EF4-FFF2-40B4-BE49-F238E27FC236}">
                <a16:creationId xmlns:a16="http://schemas.microsoft.com/office/drawing/2014/main" id="{30FD9B58-A33F-424E-9A94-E131D56C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09950"/>
            <a:ext cx="29146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המחקר והפעילות הקיימים מתמקדים כיום בשוק האמריקאי בלבד.</a:t>
            </a:r>
          </a:p>
        </p:txBody>
      </p:sp>
      <p:sp>
        <p:nvSpPr>
          <p:cNvPr id="8" name="s-market-01-note">
            <a:extLst xmlns:a="http://schemas.openxmlformats.org/drawingml/2006/main">
              <a:ext uri="{FF2B5EF4-FFF2-40B4-BE49-F238E27FC236}">
                <a16:creationId xmlns:a16="http://schemas.microsoft.com/office/drawing/2014/main" id="{DCB71035-DB4F-4DBC-A819-F1ACBEFB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6725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החשיפה הגיאוגרפית הנוכחית</a:t>
            </a:r>
          </a:p>
        </p:txBody>
      </p:sp>
      <p:sp>
        <p:nvSpPr>
          <p:cNvPr id="9" name="s-market-02-panel">
            <a:extLst xmlns:a="http://schemas.openxmlformats.org/drawingml/2006/main">
              <a:ext uri="{FF2B5EF4-FFF2-40B4-BE49-F238E27FC236}">
                <a16:creationId xmlns:a16="http://schemas.microsoft.com/office/drawing/2014/main" id="{21B39E3A-350B-496F-A72C-5145AEC5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85950"/>
            <a:ext cx="35623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-market-02-number">
            <a:extLst xmlns:a="http://schemas.openxmlformats.org/drawingml/2006/main">
              <a:ext uri="{FF2B5EF4-FFF2-40B4-BE49-F238E27FC236}">
                <a16:creationId xmlns:a16="http://schemas.microsoft.com/office/drawing/2014/main" id="{B4076D34-3D5B-47BA-B6D2-67BEB5C1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114550"/>
            <a:ext cx="57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1" name="s-market-02-stage">
            <a:extLst xmlns:a="http://schemas.openxmlformats.org/drawingml/2006/main">
              <a:ext uri="{FF2B5EF4-FFF2-40B4-BE49-F238E27FC236}">
                <a16:creationId xmlns:a16="http://schemas.microsoft.com/office/drawing/2014/main" id="{CA84D5EB-ED46-40FD-9550-B9F70D24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526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השלב הבא</a:t>
            </a:r>
          </a:p>
        </p:txBody>
      </p:sp>
      <p:sp>
        <p:nvSpPr>
          <p:cNvPr id="12" name="s-market-02-title">
            <a:extLst xmlns:a="http://schemas.openxmlformats.org/drawingml/2006/main">
              <a:ext uri="{FF2B5EF4-FFF2-40B4-BE49-F238E27FC236}">
                <a16:creationId xmlns:a16="http://schemas.microsoft.com/office/drawing/2014/main" id="{194E55BC-BB50-4586-A702-CF415614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24150"/>
            <a:ext cx="2914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קנדה ואוסטרליה</a:t>
            </a:r>
          </a:p>
        </p:txBody>
      </p:sp>
      <p:sp>
        <p:nvSpPr>
          <p:cNvPr id="13" name="s-market-02-body">
            <a:extLst xmlns:a="http://schemas.openxmlformats.org/drawingml/2006/main">
              <a:ext uri="{FF2B5EF4-FFF2-40B4-BE49-F238E27FC236}">
                <a16:creationId xmlns:a16="http://schemas.microsoft.com/office/drawing/2014/main" id="{651F4E41-020A-4B4B-BAF8-6959A496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09950"/>
            <a:ext cx="29146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קיימת גישה לנתוני שוק מתאימים. לפני השקעת הון, ייבדקו מחדש האסטרטגיות, העלויות, המטבע והביצוע.</a:t>
            </a:r>
          </a:p>
        </p:txBody>
      </p:sp>
      <p:sp>
        <p:nvSpPr>
          <p:cNvPr id="14" name="s-market-02-note">
            <a:extLst xmlns:a="http://schemas.openxmlformats.org/drawingml/2006/main">
              <a:ext uri="{FF2B5EF4-FFF2-40B4-BE49-F238E27FC236}">
                <a16:creationId xmlns:a16="http://schemas.microsoft.com/office/drawing/2014/main" id="{E3680D9B-1F3E-4653-9D84-FD1F3054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66725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גישה לנתונים קיימת; היישום עדיין עתידי</a:t>
            </a:r>
          </a:p>
        </p:txBody>
      </p:sp>
      <p:sp>
        <p:nvSpPr>
          <p:cNvPr id="15" name="s-market-03-panel">
            <a:extLst xmlns:a="http://schemas.openxmlformats.org/drawingml/2006/main">
              <a:ext uri="{FF2B5EF4-FFF2-40B4-BE49-F238E27FC236}">
                <a16:creationId xmlns:a16="http://schemas.microsoft.com/office/drawing/2014/main" id="{FC8A8D0A-5BE7-4FF5-BB48-43ED6B91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85950"/>
            <a:ext cx="35623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-market-03-number">
            <a:extLst xmlns:a="http://schemas.openxmlformats.org/drawingml/2006/main">
              <a:ext uri="{FF2B5EF4-FFF2-40B4-BE49-F238E27FC236}">
                <a16:creationId xmlns:a16="http://schemas.microsoft.com/office/drawing/2014/main" id="{BCAC0F71-71B0-43D1-BBDC-C68194C6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114550"/>
            <a:ext cx="57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7" name="s-market-03-stage">
            <a:extLst xmlns:a="http://schemas.openxmlformats.org/drawingml/2006/main">
              <a:ext uri="{FF2B5EF4-FFF2-40B4-BE49-F238E27FC236}">
                <a16:creationId xmlns:a16="http://schemas.microsoft.com/office/drawing/2014/main" id="{4B184C39-0EC6-443A-8B87-04FC486F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526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יעד אסטרטגי</a:t>
            </a:r>
          </a:p>
        </p:txBody>
      </p:sp>
      <p:sp>
        <p:nvSpPr>
          <p:cNvPr id="18" name="s-market-03-title">
            <a:extLst xmlns:a="http://schemas.openxmlformats.org/drawingml/2006/main">
              <a:ext uri="{FF2B5EF4-FFF2-40B4-BE49-F238E27FC236}">
                <a16:creationId xmlns:a16="http://schemas.microsoft.com/office/drawing/2014/main" id="{8E1744FF-70DE-4BCD-820C-A60423D3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24150"/>
            <a:ext cx="2914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ישראל</a:t>
            </a:r>
          </a:p>
        </p:txBody>
      </p:sp>
      <p:sp>
        <p:nvSpPr>
          <p:cNvPr id="19" name="s-market-03-body">
            <a:extLst xmlns:a="http://schemas.openxmlformats.org/drawingml/2006/main">
              <a:ext uri="{FF2B5EF4-FFF2-40B4-BE49-F238E27FC236}">
                <a16:creationId xmlns:a16="http://schemas.microsoft.com/office/drawing/2014/main" id="{6B4B9C4F-45C3-4638-87E3-7023D263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09950"/>
            <a:ext cx="29146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נבנה כעת מאגר מחקר ייעודי לשוק הישראלי. הוא עדיין אינו בסיס נתונים או נתיב ביצוע שמוכנים למסחר חי.</a:t>
            </a:r>
          </a:p>
        </p:txBody>
      </p:sp>
      <p:sp>
        <p:nvSpPr>
          <p:cNvPr id="20" name="s-market-03-note">
            <a:extLst xmlns:a="http://schemas.openxmlformats.org/drawingml/2006/main">
              <a:ext uri="{FF2B5EF4-FFF2-40B4-BE49-F238E27FC236}">
                <a16:creationId xmlns:a16="http://schemas.microsoft.com/office/drawing/2014/main" id="{E316CCEB-67B7-4A3A-951A-C35EEC4A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תשתית נתוני המחקר נמצאת בבנייה</a:t>
            </a:r>
          </a:p>
        </p:txBody>
      </p:sp>
      <p:sp>
        <p:nvSpPr>
          <p:cNvPr id="21" name="s-market-honesty-panel">
            <a:extLst xmlns:a="http://schemas.openxmlformats.org/drawingml/2006/main">
              <a:ext uri="{FF2B5EF4-FFF2-40B4-BE49-F238E27FC236}">
                <a16:creationId xmlns:a16="http://schemas.microsoft.com/office/drawing/2014/main" id="{997E64AC-CCAA-44E0-9261-C64CBFC5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67350"/>
            <a:ext cx="114109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s-market-honesty">
            <a:extLst xmlns:a="http://schemas.openxmlformats.org/drawingml/2006/main">
              <a:ext uri="{FF2B5EF4-FFF2-40B4-BE49-F238E27FC236}">
                <a16:creationId xmlns:a16="http://schemas.microsoft.com/office/drawing/2014/main" id="{27E6A7DD-5315-433F-B78A-4B65B3EB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66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זו מפת דרכים למחקר ולתשתית — לא חשיפה גיאוגרפית קיימת.</a:t>
            </a:r>
          </a:p>
        </p:txBody>
      </p:sp>
      <p:sp>
        <p:nvSpPr>
          <p:cNvPr id="23" name="slide-3-draft-footer">
            <a:extLst xmlns:a="http://schemas.openxmlformats.org/drawingml/2006/main">
              <a:ext uri="{FF2B5EF4-FFF2-40B4-BE49-F238E27FC236}">
                <a16:creationId xmlns:a16="http://schemas.microsoft.com/office/drawing/2014/main" id="{3A105C0E-2D42-4BCE-A16E-23DDDD6F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53175"/>
            <a:ext cx="560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טיוטה פנימית | לא להפצה | משפטי: FILL</a:t>
            </a:r>
          </a:p>
        </p:txBody>
      </p:sp>
      <p:sp>
        <p:nvSpPr>
          <p:cNvPr id="24" name="slide-3-page">
            <a:extLst xmlns:a="http://schemas.openxmlformats.org/drawingml/2006/main">
              <a:ext uri="{FF2B5EF4-FFF2-40B4-BE49-F238E27FC236}">
                <a16:creationId xmlns:a16="http://schemas.microsoft.com/office/drawing/2014/main" id="{055AD5A9-3EFA-455C-89F0-48647422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62077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02A6925-2A8E-4424-B52C-F2FF60D7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אמון מתחיל במי שמנהל את הכסף</a:t>
            </a:r>
          </a:p>
        </p:txBody>
      </p:sp>
      <p:sp>
        <p:nvSpPr>
          <p:cNvPr id="2" name="s3-photo-placeholder">
            <a:extLst xmlns:a="http://schemas.openxmlformats.org/drawingml/2006/main">
              <a:ext uri="{FF2B5EF4-FFF2-40B4-BE49-F238E27FC236}">
                <a16:creationId xmlns:a16="http://schemas.microsoft.com/office/drawing/2014/main" id="{CF33F810-25BB-405E-B54D-2E9A5094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47625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3-photo-fill">
            <a:extLst xmlns:a="http://schemas.openxmlformats.org/drawingml/2006/main">
              <a:ext uri="{FF2B5EF4-FFF2-40B4-BE49-F238E27FC236}">
                <a16:creationId xmlns:a16="http://schemas.microsoft.com/office/drawing/2014/main" id="{BD376F3F-6D42-41BB-B286-8C1B6D6F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2286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4" name="s3-photo-label">
            <a:extLst xmlns:a="http://schemas.openxmlformats.org/drawingml/2006/main">
              <a:ext uri="{FF2B5EF4-FFF2-40B4-BE49-F238E27FC236}">
                <a16:creationId xmlns:a16="http://schemas.microsoft.com/office/drawing/2014/main" id="{CE998F9B-2384-4F48-B07A-65104AAF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2286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תמונת מייסד</a:t>
            </a:r>
          </a:p>
        </p:txBody>
      </p:sp>
      <p:sp>
        <p:nvSpPr>
          <p:cNvPr id="5" name="s3-row-0-label">
            <a:extLst xmlns:a="http://schemas.openxmlformats.org/drawingml/2006/main">
              <a:ext uri="{FF2B5EF4-FFF2-40B4-BE49-F238E27FC236}">
                <a16:creationId xmlns:a16="http://schemas.microsoft.com/office/drawing/2014/main" id="{51899AAD-CCCA-4F05-9863-5AB56BA4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19250"/>
            <a:ext cx="4953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שם המייסד והתפקיד</a:t>
            </a:r>
          </a:p>
        </p:txBody>
      </p:sp>
      <p:sp>
        <p:nvSpPr>
          <p:cNvPr id="6" name="s3-row-0-fill-panel">
            <a:extLst xmlns:a="http://schemas.openxmlformats.org/drawingml/2006/main">
              <a:ext uri="{FF2B5EF4-FFF2-40B4-BE49-F238E27FC236}">
                <a16:creationId xmlns:a16="http://schemas.microsoft.com/office/drawing/2014/main" id="{A21E4069-7D81-47DC-B5EF-E4FD4425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19300"/>
            <a:ext cx="1181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row-0-fill-text">
            <a:extLst xmlns:a="http://schemas.openxmlformats.org/drawingml/2006/main">
              <a:ext uri="{FF2B5EF4-FFF2-40B4-BE49-F238E27FC236}">
                <a16:creationId xmlns:a16="http://schemas.microsoft.com/office/drawing/2014/main" id="{1075F01F-D08B-48EB-94DD-046E209B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57400"/>
            <a:ext cx="990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32" name="s3-row-0-rule"/>
          <p:cNvCxnSpPr/>
          <p:nvPr/>
        </p:nvCxnSpPr>
        <p:spPr>
          <a:xfrm xmlns:a="http://schemas.openxmlformats.org/drawingml/2006/main">
            <a:off x="6429375" y="2438400"/>
            <a:ext cx="495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s3-row-1-label">
            <a:extLst xmlns:a="http://schemas.openxmlformats.org/drawingml/2006/main">
              <a:ext uri="{FF2B5EF4-FFF2-40B4-BE49-F238E27FC236}">
                <a16:creationId xmlns:a16="http://schemas.microsoft.com/office/drawing/2014/main" id="{96B44922-24F7-4BB8-B508-66C684EC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76500"/>
            <a:ext cx="4953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רקע וניסיון רלוונטי</a:t>
            </a:r>
          </a:p>
        </p:txBody>
      </p:sp>
      <p:sp>
        <p:nvSpPr>
          <p:cNvPr id="10" name="s3-row-1-fill-panel">
            <a:extLst xmlns:a="http://schemas.openxmlformats.org/drawingml/2006/main">
              <a:ext uri="{FF2B5EF4-FFF2-40B4-BE49-F238E27FC236}">
                <a16:creationId xmlns:a16="http://schemas.microsoft.com/office/drawing/2014/main" id="{6F7DCA19-967F-44DF-BDB7-CBEB8484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76550"/>
            <a:ext cx="1181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3-row-1-fill-text">
            <a:extLst xmlns:a="http://schemas.openxmlformats.org/drawingml/2006/main">
              <a:ext uri="{FF2B5EF4-FFF2-40B4-BE49-F238E27FC236}">
                <a16:creationId xmlns:a16="http://schemas.microsoft.com/office/drawing/2014/main" id="{E8CBDE6E-E3E8-42EA-8F16-57669638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914650"/>
            <a:ext cx="990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36" name="s3-row-1-rule"/>
          <p:cNvCxnSpPr/>
          <p:nvPr/>
        </p:nvCxnSpPr>
        <p:spPr>
          <a:xfrm xmlns:a="http://schemas.openxmlformats.org/drawingml/2006/main">
            <a:off x="6429375" y="3295650"/>
            <a:ext cx="495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s3-row-2-label">
            <a:extLst xmlns:a="http://schemas.openxmlformats.org/drawingml/2006/main">
              <a:ext uri="{FF2B5EF4-FFF2-40B4-BE49-F238E27FC236}">
                <a16:creationId xmlns:a16="http://schemas.microsoft.com/office/drawing/2014/main" id="{FC6F6519-B7D7-47BC-8E0E-146AD902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33750"/>
            <a:ext cx="4953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הון אישי המושקע לצד המשקיעים</a:t>
            </a:r>
          </a:p>
        </p:txBody>
      </p:sp>
      <p:sp>
        <p:nvSpPr>
          <p:cNvPr id="14" name="s3-row-2-fill-panel">
            <a:extLst xmlns:a="http://schemas.openxmlformats.org/drawingml/2006/main">
              <a:ext uri="{FF2B5EF4-FFF2-40B4-BE49-F238E27FC236}">
                <a16:creationId xmlns:a16="http://schemas.microsoft.com/office/drawing/2014/main" id="{A691FD80-2E9F-42BB-95C3-E3B8BEC0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733800"/>
            <a:ext cx="1181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3-row-2-fill-text">
            <a:extLst xmlns:a="http://schemas.openxmlformats.org/drawingml/2006/main">
              <a:ext uri="{FF2B5EF4-FFF2-40B4-BE49-F238E27FC236}">
                <a16:creationId xmlns:a16="http://schemas.microsoft.com/office/drawing/2014/main" id="{19A61BDA-2744-46F8-8E9B-E28D1B81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771900"/>
            <a:ext cx="990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40" name="s3-row-2-rule"/>
          <p:cNvCxnSpPr/>
          <p:nvPr/>
        </p:nvCxnSpPr>
        <p:spPr>
          <a:xfrm xmlns:a="http://schemas.openxmlformats.org/drawingml/2006/main">
            <a:off x="6429375" y="4152900"/>
            <a:ext cx="495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s3-row-3-label">
            <a:extLst xmlns:a="http://schemas.openxmlformats.org/drawingml/2006/main">
              <a:ext uri="{FF2B5EF4-FFF2-40B4-BE49-F238E27FC236}">
                <a16:creationId xmlns:a16="http://schemas.microsoft.com/office/drawing/2014/main" id="{0D88BFB0-34AE-4264-9D15-2BC1CE89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91000"/>
            <a:ext cx="4953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ממתי פועל חשבון אמיתי</a:t>
            </a:r>
          </a:p>
        </p:txBody>
      </p:sp>
      <p:sp>
        <p:nvSpPr>
          <p:cNvPr id="18" name="s3-row-3-fill-panel">
            <a:extLst xmlns:a="http://schemas.openxmlformats.org/drawingml/2006/main">
              <a:ext uri="{FF2B5EF4-FFF2-40B4-BE49-F238E27FC236}">
                <a16:creationId xmlns:a16="http://schemas.microsoft.com/office/drawing/2014/main" id="{6DF27EF8-9B61-4B47-82FC-49213E00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591050"/>
            <a:ext cx="1181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3-row-3-fill-text">
            <a:extLst xmlns:a="http://schemas.openxmlformats.org/drawingml/2006/main">
              <a:ext uri="{FF2B5EF4-FFF2-40B4-BE49-F238E27FC236}">
                <a16:creationId xmlns:a16="http://schemas.microsoft.com/office/drawing/2014/main" id="{1C479E62-6675-42BA-A45B-B5B23EB7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629150"/>
            <a:ext cx="990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44" name="s3-row-3-rule"/>
          <p:cNvCxnSpPr/>
          <p:nvPr/>
        </p:nvCxnSpPr>
        <p:spPr>
          <a:xfrm xmlns:a="http://schemas.openxmlformats.org/drawingml/2006/main">
            <a:off x="6429375" y="5010150"/>
            <a:ext cx="495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s3-commitment-panel">
            <a:extLst xmlns:a="http://schemas.openxmlformats.org/drawingml/2006/main">
              <a:ext uri="{FF2B5EF4-FFF2-40B4-BE49-F238E27FC236}">
                <a16:creationId xmlns:a16="http://schemas.microsoft.com/office/drawing/2014/main" id="{2A035EC4-A43C-4E29-89DB-E55DDB91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19700"/>
            <a:ext cx="55340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3-commitment">
            <a:extLst xmlns:a="http://schemas.openxmlformats.org/drawingml/2006/main">
              <a:ext uri="{FF2B5EF4-FFF2-40B4-BE49-F238E27FC236}">
                <a16:creationId xmlns:a16="http://schemas.microsoft.com/office/drawing/2014/main" id="{8E51D15A-FA4F-428C-94ED-A08929A8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53050"/>
            <a:ext cx="51149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המחויבות: להסביר מה נעשה, מה עבד, מה לא — ומה השתנה.</a:t>
            </a:r>
          </a:p>
        </p:txBody>
      </p:sp>
      <p:sp>
        <p:nvSpPr>
          <p:cNvPr id="23" name="slide-4-draft-footer">
            <a:extLst xmlns:a="http://schemas.openxmlformats.org/drawingml/2006/main">
              <a:ext uri="{FF2B5EF4-FFF2-40B4-BE49-F238E27FC236}">
                <a16:creationId xmlns:a16="http://schemas.microsoft.com/office/drawing/2014/main" id="{744DCFAC-9F1C-4A02-B711-FC64CB61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53175"/>
            <a:ext cx="560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טיוטה פנימית | לא להפצה | משפטי: FILL</a:t>
            </a:r>
          </a:p>
        </p:txBody>
      </p:sp>
      <p:sp>
        <p:nvSpPr>
          <p:cNvPr id="24" name="slide-4-page">
            <a:extLst xmlns:a="http://schemas.openxmlformats.org/drawingml/2006/main">
              <a:ext uri="{FF2B5EF4-FFF2-40B4-BE49-F238E27FC236}">
                <a16:creationId xmlns:a16="http://schemas.microsoft.com/office/drawing/2014/main" id="{D62FC8AF-4AAC-4463-B5A7-F6518D84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43405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E4999C04-D560-49E0-97C0-69606E2E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דוגמה ליתרון: השוק לא תמיד מגיב מיד</a:t>
            </a:r>
          </a:p>
        </p:txBody>
      </p:sp>
      <p:cxnSp>
        <p:nvCxnSpPr>
          <p:cNvPr id="21" name="s4-center-rule"/>
          <p:cNvCxnSpPr/>
          <p:nvPr/>
        </p:nvCxnSpPr>
        <p:spPr>
          <a:xfrm xmlns:a="http://schemas.openxmlformats.org/drawingml/2006/main">
            <a:off x="6096000" y="1666875"/>
            <a:ext cx="286" cy="3619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4-principle-label">
            <a:extLst xmlns:a="http://schemas.openxmlformats.org/drawingml/2006/main">
              <a:ext uri="{FF2B5EF4-FFF2-40B4-BE49-F238E27FC236}">
                <a16:creationId xmlns:a16="http://schemas.microsoft.com/office/drawing/2014/main" id="{B9A8CD69-A411-4948-A6F8-53BE0123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14500"/>
            <a:ext cx="4876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הרעיון</a:t>
            </a:r>
          </a:p>
        </p:txBody>
      </p:sp>
      <p:sp>
        <p:nvSpPr>
          <p:cNvPr id="4" name="s4-principle-main">
            <a:extLst xmlns:a="http://schemas.openxmlformats.org/drawingml/2006/main">
              <a:ext uri="{FF2B5EF4-FFF2-40B4-BE49-F238E27FC236}">
                <a16:creationId xmlns:a16="http://schemas.microsoft.com/office/drawing/2014/main" id="{67A06C8D-A9CD-446A-83F9-420774DC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876800" cy="140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לעיתים, נכסים שהציגו חוזקה יחסית ממשיכים להוביל עוד זמן מה. לתופעה הזו קוראים מומנטום.</a:t>
            </a:r>
          </a:p>
        </p:txBody>
      </p:sp>
      <p:sp>
        <p:nvSpPr>
          <p:cNvPr id="5" name="s4-principle-caveat">
            <a:extLst xmlns:a="http://schemas.openxmlformats.org/drawingml/2006/main">
              <a:ext uri="{FF2B5EF4-FFF2-40B4-BE49-F238E27FC236}">
                <a16:creationId xmlns:a16="http://schemas.microsoft.com/office/drawing/2014/main" id="{8A93CDDE-B292-440B-8A41-2177F361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00500"/>
            <a:ext cx="48768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זה אינו חוק, והוא אינו עובד בכל תקופה.</a:t>
            </a:r>
          </a:p>
        </p:txBody>
      </p:sp>
      <p:sp>
        <p:nvSpPr>
          <p:cNvPr id="6" name="s4-test-label">
            <a:extLst xmlns:a="http://schemas.openxmlformats.org/drawingml/2006/main">
              <a:ext uri="{FF2B5EF4-FFF2-40B4-BE49-F238E27FC236}">
                <a16:creationId xmlns:a16="http://schemas.microsoft.com/office/drawing/2014/main" id="{0C288B49-945A-4674-98B7-D6A8117B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876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איך בודקים</a:t>
            </a:r>
          </a:p>
        </p:txBody>
      </p:sp>
      <p:sp>
        <p:nvSpPr>
          <p:cNvPr id="7" name="s4-test-0-check">
            <a:extLst xmlns:a="http://schemas.openxmlformats.org/drawingml/2006/main">
              <a:ext uri="{FF2B5EF4-FFF2-40B4-BE49-F238E27FC236}">
                <a16:creationId xmlns:a16="http://schemas.microsoft.com/office/drawing/2014/main" id="{31249BE7-1B61-4F8B-B10A-7FF30458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43150"/>
            <a:ext cx="457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8" name="s4-test-0-text">
            <a:extLst xmlns:a="http://schemas.openxmlformats.org/drawingml/2006/main">
              <a:ext uri="{FF2B5EF4-FFF2-40B4-BE49-F238E27FC236}">
                <a16:creationId xmlns:a16="http://schemas.microsoft.com/office/drawing/2014/main" id="{5068121B-D90B-40D5-9060-8A57EFE6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4248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מתי התופעה הופיעה — ומתי נכשלה</a:t>
            </a:r>
          </a:p>
        </p:txBody>
      </p:sp>
      <p:sp>
        <p:nvSpPr>
          <p:cNvPr id="9" name="s4-test-1-check">
            <a:extLst xmlns:a="http://schemas.openxmlformats.org/drawingml/2006/main">
              <a:ext uri="{FF2B5EF4-FFF2-40B4-BE49-F238E27FC236}">
                <a16:creationId xmlns:a16="http://schemas.microsoft.com/office/drawing/2014/main" id="{45397A74-B9E3-4BA3-9B92-E850114A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90850"/>
            <a:ext cx="457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0" name="s4-test-1-text">
            <a:extLst xmlns:a="http://schemas.openxmlformats.org/drawingml/2006/main">
              <a:ext uri="{FF2B5EF4-FFF2-40B4-BE49-F238E27FC236}">
                <a16:creationId xmlns:a16="http://schemas.microsoft.com/office/drawing/2014/main" id="{8A559A16-3A84-4EAB-8DB6-957DA76D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4248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האם היא נשארת לאחר עלויות מסחר</a:t>
            </a:r>
          </a:p>
        </p:txBody>
      </p:sp>
      <p:sp>
        <p:nvSpPr>
          <p:cNvPr id="11" name="s4-test-2-check">
            <a:extLst xmlns:a="http://schemas.openxmlformats.org/drawingml/2006/main">
              <a:ext uri="{FF2B5EF4-FFF2-40B4-BE49-F238E27FC236}">
                <a16:creationId xmlns:a16="http://schemas.microsoft.com/office/drawing/2014/main" id="{E6424D6B-C94F-466B-9075-1014B840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38550"/>
            <a:ext cx="457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s4-test-2-text">
            <a:extLst xmlns:a="http://schemas.openxmlformats.org/drawingml/2006/main">
              <a:ext uri="{FF2B5EF4-FFF2-40B4-BE49-F238E27FC236}">
                <a16:creationId xmlns:a16="http://schemas.microsoft.com/office/drawing/2014/main" id="{DEEF2BA5-B110-48B3-B656-CBAC98E1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4248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האם התוצאה תלויה בתקופה חריגה אחת</a:t>
            </a:r>
          </a:p>
        </p:txBody>
      </p:sp>
      <p:sp>
        <p:nvSpPr>
          <p:cNvPr id="13" name="s4-test-3-check">
            <a:extLst xmlns:a="http://schemas.openxmlformats.org/drawingml/2006/main">
              <a:ext uri="{FF2B5EF4-FFF2-40B4-BE49-F238E27FC236}">
                <a16:creationId xmlns:a16="http://schemas.microsoft.com/office/drawing/2014/main" id="{CE99180E-B320-4DCB-936E-5EA0749D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86250"/>
            <a:ext cx="457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4" name="s4-test-3-text">
            <a:extLst xmlns:a="http://schemas.openxmlformats.org/drawingml/2006/main">
              <a:ext uri="{FF2B5EF4-FFF2-40B4-BE49-F238E27FC236}">
                <a16:creationId xmlns:a16="http://schemas.microsoft.com/office/drawing/2014/main" id="{9DE2C3F5-FA25-4E0D-B723-C629BA33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4248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האם היא מוסיפה ערך לתיק המלא</a:t>
            </a:r>
          </a:p>
        </p:txBody>
      </p:sp>
      <p:sp>
        <p:nvSpPr>
          <p:cNvPr id="15" name="s4-bottom-callout">
            <a:extLst xmlns:a="http://schemas.openxmlformats.org/drawingml/2006/main">
              <a:ext uri="{FF2B5EF4-FFF2-40B4-BE49-F238E27FC236}">
                <a16:creationId xmlns:a16="http://schemas.microsoft.com/office/drawing/2014/main" id="{FBB6DA66-1849-4B83-B839-46B92216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29250"/>
            <a:ext cx="11410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4-bottom-text">
            <a:extLst xmlns:a="http://schemas.openxmlformats.org/drawingml/2006/main">
              <a:ext uri="{FF2B5EF4-FFF2-40B4-BE49-F238E27FC236}">
                <a16:creationId xmlns:a16="http://schemas.microsoft.com/office/drawing/2014/main" id="{96FE9C41-5F6E-45F4-BA83-ACA42D12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66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לא רודפים אחרי מה שעלה. מיישמים כלל עקבי — ורק לאחר בדיקות.</a:t>
            </a:r>
          </a:p>
        </p:txBody>
      </p:sp>
      <p:sp>
        <p:nvSpPr>
          <p:cNvPr id="17" name="s4-source">
            <a:extLst xmlns:a="http://schemas.openxmlformats.org/drawingml/2006/main">
              <a:ext uri="{FF2B5EF4-FFF2-40B4-BE49-F238E27FC236}">
                <a16:creationId xmlns:a16="http://schemas.microsoft.com/office/drawing/2014/main" id="{0F766785-B2C8-4A2B-B4A0-7016CB3C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15050"/>
            <a:ext cx="5695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דוגמת מחקר וניסוי תפעולי בלבד | מקור אקדמי להצגה: FILL</a:t>
            </a:r>
          </a:p>
        </p:txBody>
      </p:sp>
      <p:sp>
        <p:nvSpPr>
          <p:cNvPr id="18" name="slide-5-draft-footer">
            <a:extLst xmlns:a="http://schemas.openxmlformats.org/drawingml/2006/main">
              <a:ext uri="{FF2B5EF4-FFF2-40B4-BE49-F238E27FC236}">
                <a16:creationId xmlns:a16="http://schemas.microsoft.com/office/drawing/2014/main" id="{E9BD8D7A-921F-4C8A-9967-9FB854C7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53175"/>
            <a:ext cx="560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טיוטה פנימית | לא להפצה | משפטי: FILL</a:t>
            </a:r>
          </a:p>
        </p:txBody>
      </p:sp>
      <p:sp>
        <p:nvSpPr>
          <p:cNvPr id="19" name="slide-5-page">
            <a:extLst xmlns:a="http://schemas.openxmlformats.org/drawingml/2006/main">
              <a:ext uri="{FF2B5EF4-FFF2-40B4-BE49-F238E27FC236}">
                <a16:creationId xmlns:a16="http://schemas.microsoft.com/office/drawing/2014/main" id="{CC19F59E-571E-4A91-B1A1-F8FEA27B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547527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AAF8E4E0-27D4-41B9-AFA2-F99E5748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רעיון מקבל הון רק אחרי שניסינו לשבור אותו</a:t>
            </a:r>
          </a:p>
        </p:txBody>
      </p:sp>
      <p:cxnSp>
        <p:nvCxnSpPr>
          <p:cNvPr id="25" name="s5-timeline-line"/>
          <p:cNvCxnSpPr/>
          <p:nvPr/>
        </p:nvCxnSpPr>
        <p:spPr>
          <a:xfrm xmlns:a="http://schemas.openxmlformats.org/drawingml/2006/main">
            <a:off x="857250" y="4953000"/>
            <a:ext cx="104775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1216"/>
            </a:solidFill>
            <a:prstDash val="solid"/>
          </a:ln>
        </p:spPr>
      </p:cxnSp>
      <p:sp>
        <p:nvSpPr>
          <p:cNvPr id="3" name="s5-dot-1">
            <a:extLst xmlns:a="http://schemas.openxmlformats.org/drawingml/2006/main">
              <a:ext uri="{FF2B5EF4-FFF2-40B4-BE49-F238E27FC236}">
                <a16:creationId xmlns:a16="http://schemas.microsoft.com/office/drawing/2014/main" id="{2F9B995E-3109-4C06-9270-0D962360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958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5-dot-2">
            <a:extLst xmlns:a="http://schemas.openxmlformats.org/drawingml/2006/main">
              <a:ext uri="{FF2B5EF4-FFF2-40B4-BE49-F238E27FC236}">
                <a16:creationId xmlns:a16="http://schemas.microsoft.com/office/drawing/2014/main" id="{52E06284-7CFE-429D-9EFE-4BA7FD91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958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5-dot-3">
            <a:extLst xmlns:a="http://schemas.openxmlformats.org/drawingml/2006/main">
              <a:ext uri="{FF2B5EF4-FFF2-40B4-BE49-F238E27FC236}">
                <a16:creationId xmlns:a16="http://schemas.microsoft.com/office/drawing/2014/main" id="{5500DB3F-7502-4A90-9730-6C45B972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958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5-stage-1-panel">
            <a:extLst xmlns:a="http://schemas.openxmlformats.org/drawingml/2006/main">
              <a:ext uri="{FF2B5EF4-FFF2-40B4-BE49-F238E27FC236}">
                <a16:creationId xmlns:a16="http://schemas.microsoft.com/office/drawing/2014/main" id="{F694394F-4624-415A-8518-264F1BA4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66850"/>
            <a:ext cx="35623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5-stage-1-number">
            <a:extLst xmlns:a="http://schemas.openxmlformats.org/drawingml/2006/main">
              <a:ext uri="{FF2B5EF4-FFF2-40B4-BE49-F238E27FC236}">
                <a16:creationId xmlns:a16="http://schemas.microsoft.com/office/drawing/2014/main" id="{ED2D7AA5-FC70-4574-8BEC-15FED0F0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714500"/>
            <a:ext cx="533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8" name="s5-stage-1-title">
            <a:extLst xmlns:a="http://schemas.openxmlformats.org/drawingml/2006/main">
              <a:ext uri="{FF2B5EF4-FFF2-40B4-BE49-F238E27FC236}">
                <a16:creationId xmlns:a16="http://schemas.microsoft.com/office/drawing/2014/main" id="{B46C18C6-9D0D-4887-9FAC-85E16E72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19350"/>
            <a:ext cx="2914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מנסחים השערה</a:t>
            </a:r>
          </a:p>
        </p:txBody>
      </p:sp>
      <p:sp>
        <p:nvSpPr>
          <p:cNvPr id="9" name="s5-stage-1-body">
            <a:extLst xmlns:a="http://schemas.openxmlformats.org/drawingml/2006/main">
              <a:ext uri="{FF2B5EF4-FFF2-40B4-BE49-F238E27FC236}">
                <a16:creationId xmlns:a16="http://schemas.microsoft.com/office/drawing/2014/main" id="{B148FB32-0C92-4219-90B7-ECD9DF1D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43250"/>
            <a:ext cx="29146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מה אמור לעבוד, למה, ומתי בדיוק מתקבלת ההחלטה.</a:t>
            </a:r>
          </a:p>
        </p:txBody>
      </p:sp>
      <p:sp>
        <p:nvSpPr>
          <p:cNvPr id="10" name="s5-stage-1-label">
            <a:extLst xmlns:a="http://schemas.openxmlformats.org/drawingml/2006/main">
              <a:ext uri="{FF2B5EF4-FFF2-40B4-BE49-F238E27FC236}">
                <a16:creationId xmlns:a16="http://schemas.microsoft.com/office/drawing/2014/main" id="{764CF7DB-07D8-46D7-8ACE-4893E30D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6255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שלב 1</a:t>
            </a:r>
          </a:p>
        </p:txBody>
      </p:sp>
      <p:sp>
        <p:nvSpPr>
          <p:cNvPr id="11" name="s5-stage-2-panel">
            <a:extLst xmlns:a="http://schemas.openxmlformats.org/drawingml/2006/main">
              <a:ext uri="{FF2B5EF4-FFF2-40B4-BE49-F238E27FC236}">
                <a16:creationId xmlns:a16="http://schemas.microsoft.com/office/drawing/2014/main" id="{7C831FD4-03C7-4C29-9261-353ECA88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66850"/>
            <a:ext cx="35623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5-stage-2-number">
            <a:extLst xmlns:a="http://schemas.openxmlformats.org/drawingml/2006/main">
              <a:ext uri="{FF2B5EF4-FFF2-40B4-BE49-F238E27FC236}">
                <a16:creationId xmlns:a16="http://schemas.microsoft.com/office/drawing/2014/main" id="{BCD973B9-2B2E-46DC-96DF-663ADA98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714500"/>
            <a:ext cx="533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3" name="s5-stage-2-title">
            <a:extLst xmlns:a="http://schemas.openxmlformats.org/drawingml/2006/main">
              <a:ext uri="{FF2B5EF4-FFF2-40B4-BE49-F238E27FC236}">
                <a16:creationId xmlns:a16="http://schemas.microsoft.com/office/drawing/2014/main" id="{2DB901DB-F75E-460B-B166-B7C1FCFA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19350"/>
            <a:ext cx="2914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מנסים להפריך</a:t>
            </a:r>
          </a:p>
        </p:txBody>
      </p:sp>
      <p:sp>
        <p:nvSpPr>
          <p:cNvPr id="14" name="s5-stage-2-body">
            <a:extLst xmlns:a="http://schemas.openxmlformats.org/drawingml/2006/main">
              <a:ext uri="{FF2B5EF4-FFF2-40B4-BE49-F238E27FC236}">
                <a16:creationId xmlns:a16="http://schemas.microsoft.com/office/drawing/2014/main" id="{20C21C15-33F6-4F2A-92EA-85363754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43250"/>
            <a:ext cx="29146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תקופות שונות, עלויות, תנאי שוק קשים ותלות באירוע חריג.</a:t>
            </a:r>
          </a:p>
        </p:txBody>
      </p:sp>
      <p:sp>
        <p:nvSpPr>
          <p:cNvPr id="15" name="s5-stage-2-label">
            <a:extLst xmlns:a="http://schemas.openxmlformats.org/drawingml/2006/main">
              <a:ext uri="{FF2B5EF4-FFF2-40B4-BE49-F238E27FC236}">
                <a16:creationId xmlns:a16="http://schemas.microsoft.com/office/drawing/2014/main" id="{5E102598-8BEC-479F-BFB1-A244F50F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16255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שלב 2</a:t>
            </a:r>
          </a:p>
        </p:txBody>
      </p:sp>
      <p:sp>
        <p:nvSpPr>
          <p:cNvPr id="16" name="s5-stage-3-panel">
            <a:extLst xmlns:a="http://schemas.openxmlformats.org/drawingml/2006/main">
              <a:ext uri="{FF2B5EF4-FFF2-40B4-BE49-F238E27FC236}">
                <a16:creationId xmlns:a16="http://schemas.microsoft.com/office/drawing/2014/main" id="{F5F1EBF5-BBEE-4148-99ED-00ACE6CB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35623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5-stage-3-number">
            <a:extLst xmlns:a="http://schemas.openxmlformats.org/drawingml/2006/main">
              <a:ext uri="{FF2B5EF4-FFF2-40B4-BE49-F238E27FC236}">
                <a16:creationId xmlns:a16="http://schemas.microsoft.com/office/drawing/2014/main" id="{3680A5C4-2F3A-49F1-AC01-85B55BF5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14500"/>
            <a:ext cx="533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8" name="s5-stage-3-title">
            <a:extLst xmlns:a="http://schemas.openxmlformats.org/drawingml/2006/main">
              <a:ext uri="{FF2B5EF4-FFF2-40B4-BE49-F238E27FC236}">
                <a16:creationId xmlns:a16="http://schemas.microsoft.com/office/drawing/2014/main" id="{29C34AD9-0E73-4BC8-AD7B-08682B0D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914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מתחילים קטן</a:t>
            </a:r>
          </a:p>
        </p:txBody>
      </p:sp>
      <p:sp>
        <p:nvSpPr>
          <p:cNvPr id="19" name="s5-stage-3-body">
            <a:extLst xmlns:a="http://schemas.openxmlformats.org/drawingml/2006/main">
              <a:ext uri="{FF2B5EF4-FFF2-40B4-BE49-F238E27FC236}">
                <a16:creationId xmlns:a16="http://schemas.microsoft.com/office/drawing/2014/main" id="{745A913F-A6FE-4AC7-8A58-D1D6D1FA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9146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ניסוי תפעולי, מסחר מוגבל, ניטור — ואז הגדלה או עצירה.</a:t>
            </a:r>
          </a:p>
        </p:txBody>
      </p:sp>
      <p:sp>
        <p:nvSpPr>
          <p:cNvPr id="20" name="s5-stage-3-label">
            <a:extLst xmlns:a="http://schemas.openxmlformats.org/drawingml/2006/main">
              <a:ext uri="{FF2B5EF4-FFF2-40B4-BE49-F238E27FC236}">
                <a16:creationId xmlns:a16="http://schemas.microsoft.com/office/drawing/2014/main" id="{B253B31E-9EC1-4F6E-BC4B-B929979F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שלב 3</a:t>
            </a:r>
          </a:p>
        </p:txBody>
      </p:sp>
      <p:sp>
        <p:nvSpPr>
          <p:cNvPr id="21" name="s5-rejected-example">
            <a:extLst xmlns:a="http://schemas.openxmlformats.org/drawingml/2006/main">
              <a:ext uri="{FF2B5EF4-FFF2-40B4-BE49-F238E27FC236}">
                <a16:creationId xmlns:a16="http://schemas.microsoft.com/office/drawing/2014/main" id="{5F65AC58-9842-4A33-AD34-1BDFEF47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10706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דוגמה: רעיון המבוסס על פער פתיחה נראה חזק לפני עלויות. לאחר עלויות ובדיקת תקופות שונות, התוצאה לא הייתה יציבה — ולכן לא קודם להשקעה.</a:t>
            </a:r>
          </a:p>
        </p:txBody>
      </p:sp>
      <p:sp>
        <p:nvSpPr>
          <p:cNvPr id="22" name="slide-6-draft-footer">
            <a:extLst xmlns:a="http://schemas.openxmlformats.org/drawingml/2006/main">
              <a:ext uri="{FF2B5EF4-FFF2-40B4-BE49-F238E27FC236}">
                <a16:creationId xmlns:a16="http://schemas.microsoft.com/office/drawing/2014/main" id="{DE4656B4-B4EB-4CEC-BC4B-2430FCBB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53175"/>
            <a:ext cx="560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טיוטה פנימית | לא להפצה | משפטי: FILL</a:t>
            </a:r>
          </a:p>
        </p:txBody>
      </p:sp>
      <p:sp>
        <p:nvSpPr>
          <p:cNvPr id="23" name="slide-6-page">
            <a:extLst xmlns:a="http://schemas.openxmlformats.org/drawingml/2006/main">
              <a:ext uri="{FF2B5EF4-FFF2-40B4-BE49-F238E27FC236}">
                <a16:creationId xmlns:a16="http://schemas.microsoft.com/office/drawing/2014/main" id="{D8B32B3B-E72A-4006-BD7F-75652552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4073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B1EECDCC-7EEF-4AEC-840F-73027641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בדיקה וכסף אמיתי מוצגים בנפרד</a:t>
            </a:r>
          </a:p>
        </p:txBody>
      </p:sp>
      <p:sp>
        <p:nvSpPr>
          <p:cNvPr id="2" name="s6-intro">
            <a:extLst xmlns:a="http://schemas.openxmlformats.org/drawingml/2006/main">
              <a:ext uri="{FF2B5EF4-FFF2-40B4-BE49-F238E27FC236}">
                <a16:creationId xmlns:a16="http://schemas.microsoft.com/office/drawing/2014/main" id="{FB7300B6-B869-454C-9534-74F82639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91249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לכל תוצאה מוצמדת רמת הראיה שלה. סימולציה לעולם לא תוצג כתשואה שהושגה בחשבון אמיתי.</a:t>
            </a:r>
          </a:p>
        </p:txBody>
      </p:sp>
      <p:sp>
        <p:nvSpPr>
          <p:cNvPr id="3" name="s6-evidence-0-panel">
            <a:extLst xmlns:a="http://schemas.openxmlformats.org/drawingml/2006/main">
              <a:ext uri="{FF2B5EF4-FFF2-40B4-BE49-F238E27FC236}">
                <a16:creationId xmlns:a16="http://schemas.microsoft.com/office/drawing/2014/main" id="{328D30F8-34E9-4592-A78F-6C97F327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66950"/>
            <a:ext cx="3571875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6-evidence-0-title">
            <a:extLst xmlns:a="http://schemas.openxmlformats.org/drawingml/2006/main">
              <a:ext uri="{FF2B5EF4-FFF2-40B4-BE49-F238E27FC236}">
                <a16:creationId xmlns:a16="http://schemas.microsoft.com/office/drawing/2014/main" id="{E2BE4942-43B2-40AE-8D3F-714AA9B7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52700"/>
            <a:ext cx="300037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כסף אמיתי</a:t>
            </a:r>
          </a:p>
        </p:txBody>
      </p:sp>
      <p:sp>
        <p:nvSpPr>
          <p:cNvPr id="5" name="s6-evidence-0-subtitle">
            <a:extLst xmlns:a="http://schemas.openxmlformats.org/drawingml/2006/main">
              <a:ext uri="{FF2B5EF4-FFF2-40B4-BE49-F238E27FC236}">
                <a16:creationId xmlns:a16="http://schemas.microsoft.com/office/drawing/2014/main" id="{25ABA75E-ED51-4E8E-B9D9-8F479FB8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05150"/>
            <a:ext cx="300037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LIVE</a:t>
            </a:r>
          </a:p>
        </p:txBody>
      </p:sp>
      <p:sp>
        <p:nvSpPr>
          <p:cNvPr id="6" name="s6-evidence-0-fill-panel">
            <a:extLst xmlns:a="http://schemas.openxmlformats.org/drawingml/2006/main">
              <a:ext uri="{FF2B5EF4-FFF2-40B4-BE49-F238E27FC236}">
                <a16:creationId xmlns:a16="http://schemas.microsoft.com/office/drawing/2014/main" id="{2AF26AA1-EEFF-4966-88D6-4B98CFDB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695700"/>
            <a:ext cx="11811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evidence-0-fill-text">
            <a:extLst xmlns:a="http://schemas.openxmlformats.org/drawingml/2006/main">
              <a:ext uri="{FF2B5EF4-FFF2-40B4-BE49-F238E27FC236}">
                <a16:creationId xmlns:a16="http://schemas.microsoft.com/office/drawing/2014/main" id="{9671C46D-A95B-4183-B03A-863E6447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733800"/>
            <a:ext cx="990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8" name="s6-evidence-0-body">
            <a:extLst xmlns:a="http://schemas.openxmlformats.org/drawingml/2006/main">
              <a:ext uri="{FF2B5EF4-FFF2-40B4-BE49-F238E27FC236}">
                <a16:creationId xmlns:a16="http://schemas.microsoft.com/office/drawing/2014/main" id="{39C6467C-E077-4C4F-A005-6CACB058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62450"/>
            <a:ext cx="300037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ביצוע בפועל בחשבון. נדרשים תאריך התחלה, הפקדות ומשיכות ובסיס מדידה.</a:t>
            </a:r>
          </a:p>
        </p:txBody>
      </p:sp>
      <p:sp>
        <p:nvSpPr>
          <p:cNvPr id="9" name="s6-evidence-1-panel">
            <a:extLst xmlns:a="http://schemas.openxmlformats.org/drawingml/2006/main">
              <a:ext uri="{FF2B5EF4-FFF2-40B4-BE49-F238E27FC236}">
                <a16:creationId xmlns:a16="http://schemas.microsoft.com/office/drawing/2014/main" id="{9A344F79-01E6-49E8-BD1E-FE16C7E7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66950"/>
            <a:ext cx="3571875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6-evidence-1-title">
            <a:extLst xmlns:a="http://schemas.openxmlformats.org/drawingml/2006/main">
              <a:ext uri="{FF2B5EF4-FFF2-40B4-BE49-F238E27FC236}">
                <a16:creationId xmlns:a16="http://schemas.microsoft.com/office/drawing/2014/main" id="{3495A277-7DF4-4EDC-85A6-3D75CFAF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52700"/>
            <a:ext cx="300037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ניסוי בזמן אמת</a:t>
            </a:r>
          </a:p>
        </p:txBody>
      </p:sp>
      <p:sp>
        <p:nvSpPr>
          <p:cNvPr id="11" name="s6-evidence-1-subtitle">
            <a:extLst xmlns:a="http://schemas.openxmlformats.org/drawingml/2006/main">
              <a:ext uri="{FF2B5EF4-FFF2-40B4-BE49-F238E27FC236}">
                <a16:creationId xmlns:a16="http://schemas.microsoft.com/office/drawing/2014/main" id="{EB2062B8-A6D6-469E-8023-45311C06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05150"/>
            <a:ext cx="300037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INCUBATION / PAPER</a:t>
            </a:r>
          </a:p>
        </p:txBody>
      </p:sp>
      <p:sp>
        <p:nvSpPr>
          <p:cNvPr id="12" name="s6-evidence-1-fill-panel">
            <a:extLst xmlns:a="http://schemas.openxmlformats.org/drawingml/2006/main">
              <a:ext uri="{FF2B5EF4-FFF2-40B4-BE49-F238E27FC236}">
                <a16:creationId xmlns:a16="http://schemas.microsoft.com/office/drawing/2014/main" id="{B3C6CFEF-4C42-4980-99A0-529013D3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95700"/>
            <a:ext cx="11811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6-evidence-1-fill-text">
            <a:extLst xmlns:a="http://schemas.openxmlformats.org/drawingml/2006/main">
              <a:ext uri="{FF2B5EF4-FFF2-40B4-BE49-F238E27FC236}">
                <a16:creationId xmlns:a16="http://schemas.microsoft.com/office/drawing/2014/main" id="{839A5573-766A-4532-9CB0-FFC09CDF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33800"/>
            <a:ext cx="990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14" name="s6-evidence-1-body">
            <a:extLst xmlns:a="http://schemas.openxmlformats.org/drawingml/2006/main">
              <a:ext uri="{FF2B5EF4-FFF2-40B4-BE49-F238E27FC236}">
                <a16:creationId xmlns:a16="http://schemas.microsoft.com/office/drawing/2014/main" id="{13F75B9F-E79B-4B74-8146-C6AFBE1D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362450"/>
            <a:ext cx="300037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בודק תהליך, תזמון וחיבור לברוקר. אינו תשואה שהושגה בכסף אמיתי.</a:t>
            </a:r>
          </a:p>
        </p:txBody>
      </p:sp>
      <p:sp>
        <p:nvSpPr>
          <p:cNvPr id="15" name="s6-evidence-2-panel">
            <a:extLst xmlns:a="http://schemas.openxmlformats.org/drawingml/2006/main">
              <a:ext uri="{FF2B5EF4-FFF2-40B4-BE49-F238E27FC236}">
                <a16:creationId xmlns:a16="http://schemas.microsoft.com/office/drawing/2014/main" id="{97030E9B-A3A2-405D-9949-767E6861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66950"/>
            <a:ext cx="3571875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6-evidence-2-title">
            <a:extLst xmlns:a="http://schemas.openxmlformats.org/drawingml/2006/main">
              <a:ext uri="{FF2B5EF4-FFF2-40B4-BE49-F238E27FC236}">
                <a16:creationId xmlns:a16="http://schemas.microsoft.com/office/drawing/2014/main" id="{9E2C6FA5-23BC-43CB-BA88-D1162E1E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52700"/>
            <a:ext cx="300037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בדיקה היסטורית</a:t>
            </a:r>
          </a:p>
        </p:txBody>
      </p:sp>
      <p:sp>
        <p:nvSpPr>
          <p:cNvPr id="17" name="s6-evidence-2-subtitle">
            <a:extLst xmlns:a="http://schemas.openxmlformats.org/drawingml/2006/main">
              <a:ext uri="{FF2B5EF4-FFF2-40B4-BE49-F238E27FC236}">
                <a16:creationId xmlns:a16="http://schemas.microsoft.com/office/drawing/2014/main" id="{B17F11BD-90E7-483E-A0BC-06995206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05150"/>
            <a:ext cx="300037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BACKTEST</a:t>
            </a:r>
          </a:p>
        </p:txBody>
      </p:sp>
      <p:sp>
        <p:nvSpPr>
          <p:cNvPr id="18" name="s6-evidence-2-fill-panel">
            <a:extLst xmlns:a="http://schemas.openxmlformats.org/drawingml/2006/main">
              <a:ext uri="{FF2B5EF4-FFF2-40B4-BE49-F238E27FC236}">
                <a16:creationId xmlns:a16="http://schemas.microsoft.com/office/drawing/2014/main" id="{B8B5DBAA-106F-4667-9458-BFE69624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95700"/>
            <a:ext cx="11811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evidence-2-fill-text">
            <a:extLst xmlns:a="http://schemas.openxmlformats.org/drawingml/2006/main">
              <a:ext uri="{FF2B5EF4-FFF2-40B4-BE49-F238E27FC236}">
                <a16:creationId xmlns:a16="http://schemas.microsoft.com/office/drawing/2014/main" id="{9A413B16-6B5D-41FE-97C9-6A743BF6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33800"/>
            <a:ext cx="990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20" name="s6-evidence-2-body">
            <a:extLst xmlns:a="http://schemas.openxmlformats.org/drawingml/2006/main">
              <a:ext uri="{FF2B5EF4-FFF2-40B4-BE49-F238E27FC236}">
                <a16:creationId xmlns:a16="http://schemas.microsoft.com/office/drawing/2014/main" id="{9C779534-AA24-4F8A-8D6E-881A7554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62450"/>
            <a:ext cx="300037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מה היה קורה לפי נתוני עבר והנחות מוגדרות. תוצאה היפותטית בלבד.</a:t>
            </a:r>
          </a:p>
        </p:txBody>
      </p:sp>
      <p:sp>
        <p:nvSpPr>
          <p:cNvPr id="21" name="s6-status-note">
            <a:extLst xmlns:a="http://schemas.openxmlformats.org/drawingml/2006/main">
              <a:ext uri="{FF2B5EF4-FFF2-40B4-BE49-F238E27FC236}">
                <a16:creationId xmlns:a16="http://schemas.microsoft.com/office/drawing/2014/main" id="{8ECDDE18-BD14-46BA-864C-CE57D381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1025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הסטטוס הנוכחי של כל רכיב בפורטפוליו</a:t>
            </a:r>
          </a:p>
        </p:txBody>
      </p:sp>
      <p:sp>
        <p:nvSpPr>
          <p:cNvPr id="22" name="s6-status-fill-panel">
            <a:extLst xmlns:a="http://schemas.openxmlformats.org/drawingml/2006/main">
              <a:ext uri="{FF2B5EF4-FFF2-40B4-BE49-F238E27FC236}">
                <a16:creationId xmlns:a16="http://schemas.microsoft.com/office/drawing/2014/main" id="{71BDD5E4-2222-4595-801A-C8566693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531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6-status-fill-text">
            <a:extLst xmlns:a="http://schemas.openxmlformats.org/drawingml/2006/main">
              <a:ext uri="{FF2B5EF4-FFF2-40B4-BE49-F238E27FC236}">
                <a16:creationId xmlns:a16="http://schemas.microsoft.com/office/drawing/2014/main" id="{8E926996-1FB2-4F40-94F0-4E532EA6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91200"/>
            <a:ext cx="112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24" name="slide-7-draft-footer">
            <a:extLst xmlns:a="http://schemas.openxmlformats.org/drawingml/2006/main">
              <a:ext uri="{FF2B5EF4-FFF2-40B4-BE49-F238E27FC236}">
                <a16:creationId xmlns:a16="http://schemas.microsoft.com/office/drawing/2014/main" id="{DFF1942E-5787-42EA-AC01-B8D77047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53175"/>
            <a:ext cx="560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טיוטה פנימית | לא להפצה | משפטי: FILL</a:t>
            </a:r>
          </a:p>
        </p:txBody>
      </p:sp>
      <p:sp>
        <p:nvSpPr>
          <p:cNvPr id="25" name="slide-7-page">
            <a:extLst xmlns:a="http://schemas.openxmlformats.org/drawingml/2006/main">
              <a:ext uri="{FF2B5EF4-FFF2-40B4-BE49-F238E27FC236}">
                <a16:creationId xmlns:a16="http://schemas.microsoft.com/office/drawing/2014/main" id="{2B2D4832-36DC-46E9-ADDB-4AA9B14B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845729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B6AB7427-8E04-446A-91F0-830FDE3A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גם תהליך טוב כולל תקופות קשות</a:t>
            </a:r>
          </a:p>
        </p:txBody>
      </p:sp>
      <p:sp>
        <p:nvSpPr>
          <p:cNvPr id="2" name="s7-intro-panel">
            <a:extLst xmlns:a="http://schemas.openxmlformats.org/drawingml/2006/main">
              <a:ext uri="{FF2B5EF4-FFF2-40B4-BE49-F238E27FC236}">
                <a16:creationId xmlns:a16="http://schemas.microsoft.com/office/drawing/2014/main" id="{03E18D79-6D07-4204-94C2-A8E864A1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571875" cy="4191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7-intro-title">
            <a:extLst xmlns:a="http://schemas.openxmlformats.org/drawingml/2006/main">
              <a:ext uri="{FF2B5EF4-FFF2-40B4-BE49-F238E27FC236}">
                <a16:creationId xmlns:a16="http://schemas.microsoft.com/office/drawing/2014/main" id="{E1066900-4042-4B1B-80F0-F9F13B12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52650"/>
            <a:ext cx="2905125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503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לפני השקעה, נציג טווחים — לא מספר יעד יחיד.</a:t>
            </a:r>
          </a:p>
        </p:txBody>
      </p:sp>
      <p:sp>
        <p:nvSpPr>
          <p:cNvPr id="4" name="s7-intro-body">
            <a:extLst xmlns:a="http://schemas.openxmlformats.org/drawingml/2006/main">
              <a:ext uri="{FF2B5EF4-FFF2-40B4-BE49-F238E27FC236}">
                <a16:creationId xmlns:a16="http://schemas.microsoft.com/office/drawing/2014/main" id="{998F0371-085B-4809-8150-35B150C2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62350"/>
            <a:ext cx="2905125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המשקיע צריך להבין מראש כיצד חודש חלש, ירידה מהשיא או התאוששות ארוכה עלולים להרגיש.</a:t>
            </a:r>
          </a:p>
        </p:txBody>
      </p:sp>
      <p:sp>
        <p:nvSpPr>
          <p:cNvPr id="5" name="s7-intro-caveat">
            <a:extLst xmlns:a="http://schemas.openxmlformats.org/drawingml/2006/main">
              <a:ext uri="{FF2B5EF4-FFF2-40B4-BE49-F238E27FC236}">
                <a16:creationId xmlns:a16="http://schemas.microsoft.com/office/drawing/2014/main" id="{D6DC5F2E-9028-4B5F-9C93-63037AAF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81600"/>
            <a:ext cx="29051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המספרים יתארו תרחישים מותנים בהיסטוריה ובהנחות. הם אינם תחזית או הבטחה.</a:t>
            </a:r>
          </a:p>
        </p:txBody>
      </p:sp>
      <p:cxnSp>
        <p:nvCxnSpPr>
          <p:cNvPr id="33" name="s7-row-0-line"/>
          <p:cNvCxnSpPr/>
          <p:nvPr/>
        </p:nvCxnSpPr>
        <p:spPr>
          <a:xfrm xmlns:a="http://schemas.openxmlformats.org/drawingml/2006/main">
            <a:off x="390525" y="2600325"/>
            <a:ext cx="74866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s7-row-0-label">
            <a:extLst xmlns:a="http://schemas.openxmlformats.org/drawingml/2006/main">
              <a:ext uri="{FF2B5EF4-FFF2-40B4-BE49-F238E27FC236}">
                <a16:creationId xmlns:a16="http://schemas.microsoft.com/office/drawing/2014/main" id="{2C9EBEA1-8931-4E64-B811-B2A0DFF7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62125"/>
            <a:ext cx="2400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תנועה חודשית טיפוסית</a:t>
            </a:r>
          </a:p>
        </p:txBody>
      </p:sp>
      <p:sp>
        <p:nvSpPr>
          <p:cNvPr id="8" name="s7-row-0-detail">
            <a:extLst xmlns:a="http://schemas.openxmlformats.org/drawingml/2006/main">
              <a:ext uri="{FF2B5EF4-FFF2-40B4-BE49-F238E27FC236}">
                <a16:creationId xmlns:a16="http://schemas.microsoft.com/office/drawing/2014/main" id="{93FE7FB0-D997-47CA-8DC6-0C9ACC12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162175"/>
            <a:ext cx="2400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טווח מרכזי, לאחר עלויות</a:t>
            </a:r>
          </a:p>
        </p:txBody>
      </p:sp>
      <p:sp>
        <p:nvSpPr>
          <p:cNvPr id="9" name="s7-row-0-fill-panel">
            <a:extLst xmlns:a="http://schemas.openxmlformats.org/drawingml/2006/main">
              <a:ext uri="{FF2B5EF4-FFF2-40B4-BE49-F238E27FC236}">
                <a16:creationId xmlns:a16="http://schemas.microsoft.com/office/drawing/2014/main" id="{52EB18EE-0EE6-449D-9E60-D73975B4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14525"/>
            <a:ext cx="1314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7-row-0-fill-text">
            <a:extLst xmlns:a="http://schemas.openxmlformats.org/drawingml/2006/main">
              <a:ext uri="{FF2B5EF4-FFF2-40B4-BE49-F238E27FC236}">
                <a16:creationId xmlns:a16="http://schemas.microsoft.com/office/drawing/2014/main" id="{481D2CBC-1C72-4405-9618-4470050E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123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38" name="s7-row-1-line"/>
          <p:cNvCxnSpPr/>
          <p:nvPr/>
        </p:nvCxnSpPr>
        <p:spPr>
          <a:xfrm xmlns:a="http://schemas.openxmlformats.org/drawingml/2006/main">
            <a:off x="390525" y="3619500"/>
            <a:ext cx="74866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s7-row-1-label">
            <a:extLst xmlns:a="http://schemas.openxmlformats.org/drawingml/2006/main">
              <a:ext uri="{FF2B5EF4-FFF2-40B4-BE49-F238E27FC236}">
                <a16:creationId xmlns:a16="http://schemas.microsoft.com/office/drawing/2014/main" id="{3E2FB89C-F943-4529-B42C-C2DFF78F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81300"/>
            <a:ext cx="2400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שכיחות חודש שלילי</a:t>
            </a:r>
          </a:p>
        </p:txBody>
      </p:sp>
      <p:sp>
        <p:nvSpPr>
          <p:cNvPr id="13" name="s7-row-1-detail">
            <a:extLst xmlns:a="http://schemas.openxmlformats.org/drawingml/2006/main">
              <a:ext uri="{FF2B5EF4-FFF2-40B4-BE49-F238E27FC236}">
                <a16:creationId xmlns:a16="http://schemas.microsoft.com/office/drawing/2014/main" id="{473517C4-0217-4F2E-BA01-FF3AF951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81350"/>
            <a:ext cx="2400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לא הבטחה לגבי חודש מסוים</a:t>
            </a:r>
          </a:p>
        </p:txBody>
      </p:sp>
      <p:sp>
        <p:nvSpPr>
          <p:cNvPr id="14" name="s7-row-1-fill-panel">
            <a:extLst xmlns:a="http://schemas.openxmlformats.org/drawingml/2006/main">
              <a:ext uri="{FF2B5EF4-FFF2-40B4-BE49-F238E27FC236}">
                <a16:creationId xmlns:a16="http://schemas.microsoft.com/office/drawing/2014/main" id="{DBEFE5CF-2CBB-49E6-94DA-FD18DC72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1314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7-row-1-fill-text">
            <a:extLst xmlns:a="http://schemas.openxmlformats.org/drawingml/2006/main">
              <a:ext uri="{FF2B5EF4-FFF2-40B4-BE49-F238E27FC236}">
                <a16:creationId xmlns:a16="http://schemas.microsoft.com/office/drawing/2014/main" id="{BB2A5EA9-DC3A-4162-AE0D-33EFC810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1123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43" name="s7-row-2-line"/>
          <p:cNvCxnSpPr/>
          <p:nvPr/>
        </p:nvCxnSpPr>
        <p:spPr>
          <a:xfrm xmlns:a="http://schemas.openxmlformats.org/drawingml/2006/main">
            <a:off x="390525" y="4638675"/>
            <a:ext cx="74866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s7-row-2-label">
            <a:extLst xmlns:a="http://schemas.openxmlformats.org/drawingml/2006/main">
              <a:ext uri="{FF2B5EF4-FFF2-40B4-BE49-F238E27FC236}">
                <a16:creationId xmlns:a16="http://schemas.microsoft.com/office/drawing/2014/main" id="{AC61419B-1F53-42EF-AEA7-3B92AA5D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00475"/>
            <a:ext cx="2400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תרחיש שנה קשה</a:t>
            </a:r>
          </a:p>
        </p:txBody>
      </p:sp>
      <p:sp>
        <p:nvSpPr>
          <p:cNvPr id="18" name="s7-row-2-detail">
            <a:extLst xmlns:a="http://schemas.openxmlformats.org/drawingml/2006/main">
              <a:ext uri="{FF2B5EF4-FFF2-40B4-BE49-F238E27FC236}">
                <a16:creationId xmlns:a16="http://schemas.microsoft.com/office/drawing/2014/main" id="{2F59E1E8-879F-4E46-A3A5-DC34F4AE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00525"/>
            <a:ext cx="2400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תוצאה חריגה אך אפשרית</a:t>
            </a:r>
          </a:p>
        </p:txBody>
      </p:sp>
      <p:sp>
        <p:nvSpPr>
          <p:cNvPr id="19" name="s7-row-2-fill-panel">
            <a:extLst xmlns:a="http://schemas.openxmlformats.org/drawingml/2006/main">
              <a:ext uri="{FF2B5EF4-FFF2-40B4-BE49-F238E27FC236}">
                <a16:creationId xmlns:a16="http://schemas.microsoft.com/office/drawing/2014/main" id="{447FF694-6FD8-4679-8BC3-EB9C5BA4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1314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7-row-2-fill-text">
            <a:extLst xmlns:a="http://schemas.openxmlformats.org/drawingml/2006/main">
              <a:ext uri="{FF2B5EF4-FFF2-40B4-BE49-F238E27FC236}">
                <a16:creationId xmlns:a16="http://schemas.microsoft.com/office/drawing/2014/main" id="{A5F6E745-D589-4768-B142-F453AECE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90975"/>
            <a:ext cx="1123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48" name="s7-row-3-line"/>
          <p:cNvCxnSpPr/>
          <p:nvPr/>
        </p:nvCxnSpPr>
        <p:spPr>
          <a:xfrm xmlns:a="http://schemas.openxmlformats.org/drawingml/2006/main">
            <a:off x="390525" y="5657850"/>
            <a:ext cx="74866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2" name="s7-row-3-label">
            <a:extLst xmlns:a="http://schemas.openxmlformats.org/drawingml/2006/main">
              <a:ext uri="{FF2B5EF4-FFF2-40B4-BE49-F238E27FC236}">
                <a16:creationId xmlns:a16="http://schemas.microsoft.com/office/drawing/2014/main" id="{5A680BA9-72BF-4BB3-B87A-5475E60F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19650"/>
            <a:ext cx="2400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ירידה וזמן התאוששות</a:t>
            </a:r>
          </a:p>
        </p:txBody>
      </p:sp>
      <p:sp>
        <p:nvSpPr>
          <p:cNvPr id="23" name="s7-row-3-detail">
            <a:extLst xmlns:a="http://schemas.openxmlformats.org/drawingml/2006/main">
              <a:ext uri="{FF2B5EF4-FFF2-40B4-BE49-F238E27FC236}">
                <a16:creationId xmlns:a16="http://schemas.microsoft.com/office/drawing/2014/main" id="{BF1623E9-1B7E-4F2C-B5C8-D3ABD080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219700"/>
            <a:ext cx="2400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עומק ומשך מתחת לשיא</a:t>
            </a:r>
          </a:p>
        </p:txBody>
      </p:sp>
      <p:sp>
        <p:nvSpPr>
          <p:cNvPr id="24" name="s7-row-3-fill-panel">
            <a:extLst xmlns:a="http://schemas.openxmlformats.org/drawingml/2006/main">
              <a:ext uri="{FF2B5EF4-FFF2-40B4-BE49-F238E27FC236}">
                <a16:creationId xmlns:a16="http://schemas.microsoft.com/office/drawing/2014/main" id="{FA2FCCFC-8A4C-4BA9-8811-51F3A186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1314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7-row-3-fill-text">
            <a:extLst xmlns:a="http://schemas.openxmlformats.org/drawingml/2006/main">
              <a:ext uri="{FF2B5EF4-FFF2-40B4-BE49-F238E27FC236}">
                <a16:creationId xmlns:a16="http://schemas.microsoft.com/office/drawing/2014/main" id="{8C1A9BE3-37A9-4EA8-A758-520D336A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1123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26" name="slide-8-draft-footer">
            <a:extLst xmlns:a="http://schemas.openxmlformats.org/drawingml/2006/main">
              <a:ext uri="{FF2B5EF4-FFF2-40B4-BE49-F238E27FC236}">
                <a16:creationId xmlns:a16="http://schemas.microsoft.com/office/drawing/2014/main" id="{EC0A2305-9E55-4B54-8204-D3937038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53175"/>
            <a:ext cx="560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טיוטה פנימית | לא להפצה | משפטי: FILL</a:t>
            </a:r>
          </a:p>
        </p:txBody>
      </p:sp>
      <p:sp>
        <p:nvSpPr>
          <p:cNvPr id="27" name="slide-8-page">
            <a:extLst xmlns:a="http://schemas.openxmlformats.org/drawingml/2006/main">
              <a:ext uri="{FF2B5EF4-FFF2-40B4-BE49-F238E27FC236}">
                <a16:creationId xmlns:a16="http://schemas.microsoft.com/office/drawing/2014/main" id="{7EC2A360-75EE-4CAD-9B12-F157AB8E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673493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753C4169-91B1-4316-8ED5-39D7A9F4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מה פירוש להצטרף לשלב הראשוני</a:t>
            </a:r>
          </a:p>
        </p:txBody>
      </p:sp>
      <p:sp>
        <p:nvSpPr>
          <p:cNvPr id="2" name="s8-summary-panel">
            <a:extLst xmlns:a="http://schemas.openxmlformats.org/drawingml/2006/main">
              <a:ext uri="{FF2B5EF4-FFF2-40B4-BE49-F238E27FC236}">
                <a16:creationId xmlns:a16="http://schemas.microsoft.com/office/drawing/2014/main" id="{CCCEE503-3D50-4104-82BF-C523E42E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00200"/>
            <a:ext cx="5534025" cy="3924300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8-stage-tag">
            <a:extLst xmlns:a="http://schemas.openxmlformats.org/drawingml/2006/main">
              <a:ext uri="{FF2B5EF4-FFF2-40B4-BE49-F238E27FC236}">
                <a16:creationId xmlns:a16="http://schemas.microsoft.com/office/drawing/2014/main" id="{190F7341-E9FE-4484-894F-CB73AFDE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52600"/>
            <a:ext cx="300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FRIENDS &amp; FAMILY</a:t>
            </a:r>
          </a:p>
        </p:txBody>
      </p:sp>
      <p:sp>
        <p:nvSpPr>
          <p:cNvPr id="4" name="s8-summary-title">
            <a:extLst xmlns:a="http://schemas.openxmlformats.org/drawingml/2006/main">
              <a:ext uri="{FF2B5EF4-FFF2-40B4-BE49-F238E27FC236}">
                <a16:creationId xmlns:a16="http://schemas.microsoft.com/office/drawing/2014/main" id="{EC1243C7-1D82-4459-B5AE-EBE797EB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00250"/>
            <a:ext cx="48482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זהו שלב מוקדם</a:t>
            </a:r>
          </a:p>
        </p:txBody>
      </p:sp>
      <p:sp>
        <p:nvSpPr>
          <p:cNvPr id="5" name="s8-summary-body">
            <a:extLst xmlns:a="http://schemas.openxmlformats.org/drawingml/2006/main">
              <a:ext uri="{FF2B5EF4-FFF2-40B4-BE49-F238E27FC236}">
                <a16:creationId xmlns:a16="http://schemas.microsoft.com/office/drawing/2014/main" id="{BCA89050-8C44-434D-ABD3-63E2440E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81300"/>
            <a:ext cx="4848225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מטרת השלב היא לצבור ניסיון אמיתי, לבדוק את התפעול ולבנות היסטוריה שקופה — בלי להציג את המוצר כבשל יותר מכפי שהוא.</a:t>
            </a:r>
          </a:p>
        </p:txBody>
      </p:sp>
      <p:sp>
        <p:nvSpPr>
          <p:cNvPr id="6" name="s8-summary-caveat">
            <a:extLst xmlns:a="http://schemas.openxmlformats.org/drawingml/2006/main">
              <a:ext uri="{FF2B5EF4-FFF2-40B4-BE49-F238E27FC236}">
                <a16:creationId xmlns:a16="http://schemas.microsoft.com/office/drawing/2014/main" id="{F0C9B2CD-D94B-4E2E-8518-53E5C230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72000"/>
            <a:ext cx="4848225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לפני הצטרפות תתקיים שיחה אישית על התהליך, הסיכונים, התנאים וההתאמה למשקיע.</a:t>
            </a:r>
          </a:p>
        </p:txBody>
      </p:sp>
      <p:sp>
        <p:nvSpPr>
          <p:cNvPr id="7" name="s8-item-0-check">
            <a:extLst xmlns:a="http://schemas.openxmlformats.org/drawingml/2006/main">
              <a:ext uri="{FF2B5EF4-FFF2-40B4-BE49-F238E27FC236}">
                <a16:creationId xmlns:a16="http://schemas.microsoft.com/office/drawing/2014/main" id="{4B0D02B5-61AD-4A38-AF45-C9F5916D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8" name="s8-item-0-label">
            <a:extLst xmlns:a="http://schemas.openxmlformats.org/drawingml/2006/main">
              <a:ext uri="{FF2B5EF4-FFF2-40B4-BE49-F238E27FC236}">
                <a16:creationId xmlns:a16="http://schemas.microsoft.com/office/drawing/2014/main" id="{F94DFD38-AF71-45E2-BC5D-84A42CA9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097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מבנה החשבון והמשמורת</a:t>
            </a:r>
          </a:p>
        </p:txBody>
      </p:sp>
      <p:sp>
        <p:nvSpPr>
          <p:cNvPr id="9" name="s8-item-0-fill-panel">
            <a:extLst xmlns:a="http://schemas.openxmlformats.org/drawingml/2006/main">
              <a:ext uri="{FF2B5EF4-FFF2-40B4-BE49-F238E27FC236}">
                <a16:creationId xmlns:a16="http://schemas.microsoft.com/office/drawing/2014/main" id="{29659A35-0B2F-41CA-8884-17D7E9F3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8-item-0-fill-text">
            <a:extLst xmlns:a="http://schemas.openxmlformats.org/drawingml/2006/main">
              <a:ext uri="{FF2B5EF4-FFF2-40B4-BE49-F238E27FC236}">
                <a16:creationId xmlns:a16="http://schemas.microsoft.com/office/drawing/2014/main" id="{8DFCCF2D-6CBC-4992-970C-B4740603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11" name="s8-item-1-check">
            <a:extLst xmlns:a="http://schemas.openxmlformats.org/drawingml/2006/main">
              <a:ext uri="{FF2B5EF4-FFF2-40B4-BE49-F238E27FC236}">
                <a16:creationId xmlns:a16="http://schemas.microsoft.com/office/drawing/2014/main" id="{8F459C17-7A75-4A22-8DB3-F7B20889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955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s8-item-1-label">
            <a:extLst xmlns:a="http://schemas.openxmlformats.org/drawingml/2006/main">
              <a:ext uri="{FF2B5EF4-FFF2-40B4-BE49-F238E27FC236}">
                <a16:creationId xmlns:a16="http://schemas.microsoft.com/office/drawing/2014/main" id="{1E092023-A1AB-4A86-9976-3693A505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955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סכום מינימום</a:t>
            </a:r>
          </a:p>
        </p:txBody>
      </p:sp>
      <p:sp>
        <p:nvSpPr>
          <p:cNvPr id="13" name="s8-item-1-fill-panel">
            <a:extLst xmlns:a="http://schemas.openxmlformats.org/drawingml/2006/main">
              <a:ext uri="{FF2B5EF4-FFF2-40B4-BE49-F238E27FC236}">
                <a16:creationId xmlns:a16="http://schemas.microsoft.com/office/drawing/2014/main" id="{23016BDD-302E-4796-BA67-5F99D3B5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8-item-1-fill-text">
            <a:extLst xmlns:a="http://schemas.openxmlformats.org/drawingml/2006/main">
              <a:ext uri="{FF2B5EF4-FFF2-40B4-BE49-F238E27FC236}">
                <a16:creationId xmlns:a16="http://schemas.microsoft.com/office/drawing/2014/main" id="{ADF23DAA-ADA9-4899-B1BE-AEC871C1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15" name="s8-item-2-check">
            <a:extLst xmlns:a="http://schemas.openxmlformats.org/drawingml/2006/main">
              <a:ext uri="{FF2B5EF4-FFF2-40B4-BE49-F238E27FC236}">
                <a16:creationId xmlns:a16="http://schemas.microsoft.com/office/drawing/2014/main" id="{7FE769B4-E788-4532-AAEC-C74134CA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813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6" name="s8-item-2-label">
            <a:extLst xmlns:a="http://schemas.openxmlformats.org/drawingml/2006/main">
              <a:ext uri="{FF2B5EF4-FFF2-40B4-BE49-F238E27FC236}">
                <a16:creationId xmlns:a16="http://schemas.microsoft.com/office/drawing/2014/main" id="{5EC8A088-3939-409C-8312-D39CD2D2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813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נזילות ומשיכות</a:t>
            </a:r>
          </a:p>
        </p:txBody>
      </p:sp>
      <p:sp>
        <p:nvSpPr>
          <p:cNvPr id="17" name="s8-item-2-fill-panel">
            <a:extLst xmlns:a="http://schemas.openxmlformats.org/drawingml/2006/main">
              <a:ext uri="{FF2B5EF4-FFF2-40B4-BE49-F238E27FC236}">
                <a16:creationId xmlns:a16="http://schemas.microsoft.com/office/drawing/2014/main" id="{E6E95A14-BE0B-45B1-B751-D7B4A1ED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8-item-2-fill-text">
            <a:extLst xmlns:a="http://schemas.openxmlformats.org/drawingml/2006/main">
              <a:ext uri="{FF2B5EF4-FFF2-40B4-BE49-F238E27FC236}">
                <a16:creationId xmlns:a16="http://schemas.microsoft.com/office/drawing/2014/main" id="{46667A2F-1A14-4946-947D-B0176E84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19" name="s8-item-3-check">
            <a:extLst xmlns:a="http://schemas.openxmlformats.org/drawingml/2006/main">
              <a:ext uri="{FF2B5EF4-FFF2-40B4-BE49-F238E27FC236}">
                <a16:creationId xmlns:a16="http://schemas.microsoft.com/office/drawing/2014/main" id="{DDD4405E-9B22-436D-803D-5BBC94A0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671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0" name="s8-item-3-label">
            <a:extLst xmlns:a="http://schemas.openxmlformats.org/drawingml/2006/main">
              <a:ext uri="{FF2B5EF4-FFF2-40B4-BE49-F238E27FC236}">
                <a16:creationId xmlns:a16="http://schemas.microsoft.com/office/drawing/2014/main" id="{122D9B37-657E-44A9-86FC-FA19D4BA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671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עמלות ודמי ניהול</a:t>
            </a:r>
          </a:p>
        </p:txBody>
      </p:sp>
      <p:sp>
        <p:nvSpPr>
          <p:cNvPr id="21" name="s8-item-3-fill-panel">
            <a:extLst xmlns:a="http://schemas.openxmlformats.org/drawingml/2006/main">
              <a:ext uri="{FF2B5EF4-FFF2-40B4-BE49-F238E27FC236}">
                <a16:creationId xmlns:a16="http://schemas.microsoft.com/office/drawing/2014/main" id="{BC64E95B-C58B-4D93-9800-547202AE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8-item-3-fill-text">
            <a:extLst xmlns:a="http://schemas.openxmlformats.org/drawingml/2006/main">
              <a:ext uri="{FF2B5EF4-FFF2-40B4-BE49-F238E27FC236}">
                <a16:creationId xmlns:a16="http://schemas.microsoft.com/office/drawing/2014/main" id="{6076EE0D-AF30-46BE-8C55-9E58ED16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23" name="s8-item-4-check">
            <a:extLst xmlns:a="http://schemas.openxmlformats.org/drawingml/2006/main">
              <a:ext uri="{FF2B5EF4-FFF2-40B4-BE49-F238E27FC236}">
                <a16:creationId xmlns:a16="http://schemas.microsoft.com/office/drawing/2014/main" id="{B9CB5AE4-0EA1-414D-895F-6399312A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529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4" name="s8-item-4-label">
            <a:extLst xmlns:a="http://schemas.openxmlformats.org/drawingml/2006/main">
              <a:ext uri="{FF2B5EF4-FFF2-40B4-BE49-F238E27FC236}">
                <a16:creationId xmlns:a16="http://schemas.microsoft.com/office/drawing/2014/main" id="{43D2ADA0-CF97-4B2F-9710-3263B3F2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529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דיווח ותדירות</a:t>
            </a:r>
          </a:p>
        </p:txBody>
      </p:sp>
      <p:sp>
        <p:nvSpPr>
          <p:cNvPr id="25" name="s8-item-4-fill-panel">
            <a:extLst xmlns:a="http://schemas.openxmlformats.org/drawingml/2006/main">
              <a:ext uri="{FF2B5EF4-FFF2-40B4-BE49-F238E27FC236}">
                <a16:creationId xmlns:a16="http://schemas.microsoft.com/office/drawing/2014/main" id="{43F961FA-AB01-41DB-B466-096445E6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8-item-4-fill-text">
            <a:extLst xmlns:a="http://schemas.openxmlformats.org/drawingml/2006/main">
              <a:ext uri="{FF2B5EF4-FFF2-40B4-BE49-F238E27FC236}">
                <a16:creationId xmlns:a16="http://schemas.microsoft.com/office/drawing/2014/main" id="{790F276F-22B0-498B-8F66-EFFB638D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27" name="s8-next-step-panel">
            <a:extLst xmlns:a="http://schemas.openxmlformats.org/drawingml/2006/main">
              <a:ext uri="{FF2B5EF4-FFF2-40B4-BE49-F238E27FC236}">
                <a16:creationId xmlns:a16="http://schemas.microsoft.com/office/drawing/2014/main" id="{897131C4-D8D1-4AA3-8896-2E2F6AC2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53100"/>
            <a:ext cx="11410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8-next-step-label">
            <a:extLst xmlns:a="http://schemas.openxmlformats.org/drawingml/2006/main">
              <a:ext uri="{FF2B5EF4-FFF2-40B4-BE49-F238E27FC236}">
                <a16:creationId xmlns:a16="http://schemas.microsoft.com/office/drawing/2014/main" id="{48615F7D-2EEB-453C-BA5B-60B29C6A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829300"/>
            <a:ext cx="1885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הצעד הבא</a:t>
            </a:r>
          </a:p>
        </p:txBody>
      </p:sp>
      <p:sp>
        <p:nvSpPr>
          <p:cNvPr id="29" name="s8-next-step-fill-panel">
            <a:extLst xmlns:a="http://schemas.openxmlformats.org/drawingml/2006/main">
              <a:ext uri="{FF2B5EF4-FFF2-40B4-BE49-F238E27FC236}">
                <a16:creationId xmlns:a16="http://schemas.microsoft.com/office/drawing/2014/main" id="{05B5D727-56BB-4D71-841C-5E1C30B7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314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8-next-step-fill-text">
            <a:extLst xmlns:a="http://schemas.openxmlformats.org/drawingml/2006/main">
              <a:ext uri="{FF2B5EF4-FFF2-40B4-BE49-F238E27FC236}">
                <a16:creationId xmlns:a16="http://schemas.microsoft.com/office/drawing/2014/main" id="{534A7666-539E-4BBA-A302-F1341FB6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12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31" name="s8-next-step-text">
            <a:extLst xmlns:a="http://schemas.openxmlformats.org/drawingml/2006/main">
              <a:ext uri="{FF2B5EF4-FFF2-40B4-BE49-F238E27FC236}">
                <a16:creationId xmlns:a16="http://schemas.microsoft.com/office/drawing/2014/main" id="{47A77BC8-BF9F-4F36-ADC7-5097E794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810250"/>
            <a:ext cx="685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פגישת המשך, מסמכים ובדיקת התאמה</a:t>
            </a:r>
          </a:p>
        </p:txBody>
      </p:sp>
      <p:sp>
        <p:nvSpPr>
          <p:cNvPr id="32" name="slide-9-draft-footer">
            <a:extLst xmlns:a="http://schemas.openxmlformats.org/drawingml/2006/main">
              <a:ext uri="{FF2B5EF4-FFF2-40B4-BE49-F238E27FC236}">
                <a16:creationId xmlns:a16="http://schemas.microsoft.com/office/drawing/2014/main" id="{451A6E64-01CA-4F7B-A26F-EA5BFA1E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53175"/>
            <a:ext cx="560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טיוטה פנימית | לא להפצה | משפטי: FILL</a:t>
            </a:r>
          </a:p>
        </p:txBody>
      </p:sp>
      <p:sp>
        <p:nvSpPr>
          <p:cNvPr id="33" name="slide-9-page">
            <a:extLst xmlns:a="http://schemas.openxmlformats.org/drawingml/2006/main">
              <a:ext uri="{FF2B5EF4-FFF2-40B4-BE49-F238E27FC236}">
                <a16:creationId xmlns:a16="http://schemas.microsoft.com/office/drawing/2014/main" id="{30C64046-E25B-42FA-9A36-3C938E20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353005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15310B9C-13FF-4AD4-AA26-CF242382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מה כל שכבת ראיה באמת מוכיחה</a:t>
            </a:r>
          </a:p>
        </p:txBody>
      </p:sp>
      <p:sp>
        <p:nvSpPr>
          <p:cNvPr id="2" name="slide-10-appendix">
            <a:extLst xmlns:a="http://schemas.openxmlformats.org/drawingml/2006/main">
              <a:ext uri="{FF2B5EF4-FFF2-40B4-BE49-F238E27FC236}">
                <a16:creationId xmlns:a16="http://schemas.microsoft.com/office/drawing/2014/main" id="{1D70FE2C-A456-4737-9609-54391369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23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נספח</a:t>
            </a:r>
          </a:p>
        </p:txBody>
      </p:sp>
      <p:sp>
        <p:nvSpPr>
          <p:cNvPr id="3" name="s9-intro">
            <a:extLst xmlns:a="http://schemas.openxmlformats.org/drawingml/2006/main">
              <a:ext uri="{FF2B5EF4-FFF2-40B4-BE49-F238E27FC236}">
                <a16:creationId xmlns:a16="http://schemas.microsoft.com/office/drawing/2014/main" id="{56DCB5F5-A20E-4F6C-A7B1-FB84D110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200150"/>
            <a:ext cx="8934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כל נתון במצגת הסופית צריך להופיע עם סוג הראיה, התקופה, העלויות ומקור המדידה.</a:t>
            </a:r>
          </a:p>
        </p:txBody>
      </p:sp>
      <p:sp>
        <p:nvSpPr>
          <p:cNvPr id="4" name="s9-header-panel">
            <a:extLst xmlns:a="http://schemas.openxmlformats.org/drawingml/2006/main">
              <a:ext uri="{FF2B5EF4-FFF2-40B4-BE49-F238E27FC236}">
                <a16:creationId xmlns:a16="http://schemas.microsoft.com/office/drawing/2014/main" id="{71E4D0F3-A7F2-434E-9597-974A1C85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114109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9-header-layer">
            <a:extLst xmlns:a="http://schemas.openxmlformats.org/drawingml/2006/main">
              <a:ext uri="{FF2B5EF4-FFF2-40B4-BE49-F238E27FC236}">
                <a16:creationId xmlns:a16="http://schemas.microsoft.com/office/drawing/2014/main" id="{60A63E28-6BA4-44AC-BCAE-ECCD0729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24050"/>
            <a:ext cx="238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שכבה</a:t>
            </a:r>
          </a:p>
        </p:txBody>
      </p:sp>
      <p:sp>
        <p:nvSpPr>
          <p:cNvPr id="6" name="s9-header-proves">
            <a:extLst xmlns:a="http://schemas.openxmlformats.org/drawingml/2006/main">
              <a:ext uri="{FF2B5EF4-FFF2-40B4-BE49-F238E27FC236}">
                <a16:creationId xmlns:a16="http://schemas.microsoft.com/office/drawing/2014/main" id="{1711ACFE-D546-4CB8-AFD2-66273907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24050"/>
            <a:ext cx="4476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מה היא מוכיחה</a:t>
            </a:r>
          </a:p>
        </p:txBody>
      </p:sp>
      <p:sp>
        <p:nvSpPr>
          <p:cNvPr id="7" name="s9-header-not-proves">
            <a:extLst xmlns:a="http://schemas.openxmlformats.org/drawingml/2006/main">
              <a:ext uri="{FF2B5EF4-FFF2-40B4-BE49-F238E27FC236}">
                <a16:creationId xmlns:a16="http://schemas.microsoft.com/office/drawing/2014/main" id="{D300E90F-8DFE-4917-98A5-0229723F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619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מה היא אינה מוכיחה</a:t>
            </a:r>
          </a:p>
        </p:txBody>
      </p:sp>
      <p:sp>
        <p:nvSpPr>
          <p:cNvPr id="8" name="s9-row-0-panel">
            <a:extLst xmlns:a="http://schemas.openxmlformats.org/drawingml/2006/main">
              <a:ext uri="{FF2B5EF4-FFF2-40B4-BE49-F238E27FC236}">
                <a16:creationId xmlns:a16="http://schemas.microsoft.com/office/drawing/2014/main" id="{0A186170-EABC-4DCA-871D-1DD87C7E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33625"/>
            <a:ext cx="11410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9" name="s9-row-0-layer">
            <a:extLst xmlns:a="http://schemas.openxmlformats.org/drawingml/2006/main">
              <a:ext uri="{FF2B5EF4-FFF2-40B4-BE49-F238E27FC236}">
                <a16:creationId xmlns:a16="http://schemas.microsoft.com/office/drawing/2014/main" id="{A21CD864-26FA-4D30-9470-584B5E9D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95550"/>
            <a:ext cx="2381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בדיקה היסטורית</a:t>
            </a:r>
          </a:p>
        </p:txBody>
      </p:sp>
      <p:sp>
        <p:nvSpPr>
          <p:cNvPr id="10" name="s9-row-0-proves">
            <a:extLst xmlns:a="http://schemas.openxmlformats.org/drawingml/2006/main">
              <a:ext uri="{FF2B5EF4-FFF2-40B4-BE49-F238E27FC236}">
                <a16:creationId xmlns:a16="http://schemas.microsoft.com/office/drawing/2014/main" id="{63DC45B3-852D-4705-A250-9DEEB6FC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955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האם הרעיון היה אפשרי בעבר</a:t>
            </a:r>
          </a:p>
        </p:txBody>
      </p:sp>
      <p:sp>
        <p:nvSpPr>
          <p:cNvPr id="11" name="s9-row-0-not-proves">
            <a:extLst xmlns:a="http://schemas.openxmlformats.org/drawingml/2006/main">
              <a:ext uri="{FF2B5EF4-FFF2-40B4-BE49-F238E27FC236}">
                <a16:creationId xmlns:a16="http://schemas.microsoft.com/office/drawing/2014/main" id="{C5710457-F351-4011-B3ED-3C950656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61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ביצוע עתידי</a:t>
            </a:r>
          </a:p>
        </p:txBody>
      </p:sp>
      <p:sp>
        <p:nvSpPr>
          <p:cNvPr id="12" name="s9-row-1-panel">
            <a:extLst xmlns:a="http://schemas.openxmlformats.org/drawingml/2006/main">
              <a:ext uri="{FF2B5EF4-FFF2-40B4-BE49-F238E27FC236}">
                <a16:creationId xmlns:a16="http://schemas.microsoft.com/office/drawing/2014/main" id="{9366CC92-AD91-4DFD-91E3-C025C234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90875"/>
            <a:ext cx="11410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13" name="s9-row-1-layer">
            <a:extLst xmlns:a="http://schemas.openxmlformats.org/drawingml/2006/main">
              <a:ext uri="{FF2B5EF4-FFF2-40B4-BE49-F238E27FC236}">
                <a16:creationId xmlns:a16="http://schemas.microsoft.com/office/drawing/2014/main" id="{087C8EFE-6F7F-481F-9EA1-A1CB5D77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52800"/>
            <a:ext cx="2381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Incubation</a:t>
            </a:r>
          </a:p>
        </p:txBody>
      </p:sp>
      <p:sp>
        <p:nvSpPr>
          <p:cNvPr id="14" name="s9-row-1-proves">
            <a:extLst xmlns:a="http://schemas.openxmlformats.org/drawingml/2006/main">
              <a:ext uri="{FF2B5EF4-FFF2-40B4-BE49-F238E27FC236}">
                <a16:creationId xmlns:a16="http://schemas.microsoft.com/office/drawing/2014/main" id="{B7244FC6-2482-4B3E-9983-F08E77F5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האם התהליך עובד בזמן אמת</a:t>
            </a:r>
          </a:p>
        </p:txBody>
      </p:sp>
      <p:sp>
        <p:nvSpPr>
          <p:cNvPr id="15" name="s9-row-1-not-proves">
            <a:extLst xmlns:a="http://schemas.openxmlformats.org/drawingml/2006/main">
              <a:ext uri="{FF2B5EF4-FFF2-40B4-BE49-F238E27FC236}">
                <a16:creationId xmlns:a16="http://schemas.microsoft.com/office/drawing/2014/main" id="{27D9C7DC-C73A-4F6A-9B4D-E7F65406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361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תשואה בכסף אמיתי</a:t>
            </a:r>
          </a:p>
        </p:txBody>
      </p:sp>
      <p:sp>
        <p:nvSpPr>
          <p:cNvPr id="16" name="s9-row-2-panel">
            <a:extLst xmlns:a="http://schemas.openxmlformats.org/drawingml/2006/main">
              <a:ext uri="{FF2B5EF4-FFF2-40B4-BE49-F238E27FC236}">
                <a16:creationId xmlns:a16="http://schemas.microsoft.com/office/drawing/2014/main" id="{243405DA-DB1F-4D4D-8D40-2CA77443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48125"/>
            <a:ext cx="11410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17" name="s9-row-2-layer">
            <a:extLst xmlns:a="http://schemas.openxmlformats.org/drawingml/2006/main">
              <a:ext uri="{FF2B5EF4-FFF2-40B4-BE49-F238E27FC236}">
                <a16:creationId xmlns:a16="http://schemas.microsoft.com/office/drawing/2014/main" id="{3D33529B-F255-49FB-A034-2C4CF047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10050"/>
            <a:ext cx="2381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Paper / מסחר מוגבל</a:t>
            </a:r>
          </a:p>
        </p:txBody>
      </p:sp>
      <p:sp>
        <p:nvSpPr>
          <p:cNvPr id="18" name="s9-row-2-proves">
            <a:extLst xmlns:a="http://schemas.openxmlformats.org/drawingml/2006/main">
              <a:ext uri="{FF2B5EF4-FFF2-40B4-BE49-F238E27FC236}">
                <a16:creationId xmlns:a16="http://schemas.microsoft.com/office/drawing/2014/main" id="{56C67058-F8FA-4C8C-9E80-92744A6A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00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האם חיבור הברוקר והתפעול עובדים</a:t>
            </a:r>
          </a:p>
        </p:txBody>
      </p:sp>
      <p:sp>
        <p:nvSpPr>
          <p:cNvPr id="19" name="s9-row-2-not-proves">
            <a:extLst xmlns:a="http://schemas.openxmlformats.org/drawingml/2006/main">
              <a:ext uri="{FF2B5EF4-FFF2-40B4-BE49-F238E27FC236}">
                <a16:creationId xmlns:a16="http://schemas.microsoft.com/office/drawing/2014/main" id="{979589A9-661A-45D6-BF01-E54FF0D0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361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איכות מילוי אמיתית לאורך זמן</a:t>
            </a:r>
          </a:p>
        </p:txBody>
      </p:sp>
      <p:sp>
        <p:nvSpPr>
          <p:cNvPr id="20" name="s9-row-3-panel">
            <a:extLst xmlns:a="http://schemas.openxmlformats.org/drawingml/2006/main">
              <a:ext uri="{FF2B5EF4-FFF2-40B4-BE49-F238E27FC236}">
                <a16:creationId xmlns:a16="http://schemas.microsoft.com/office/drawing/2014/main" id="{685B8D27-F1B3-4153-BA0D-AD3ECE61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05375"/>
            <a:ext cx="11410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21" name="s9-row-3-layer">
            <a:extLst xmlns:a="http://schemas.openxmlformats.org/drawingml/2006/main">
              <a:ext uri="{FF2B5EF4-FFF2-40B4-BE49-F238E27FC236}">
                <a16:creationId xmlns:a16="http://schemas.microsoft.com/office/drawing/2014/main" id="{4B400B19-E19B-476A-8A00-8049D2EB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067300"/>
            <a:ext cx="2381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Live</a:t>
            </a:r>
          </a:p>
        </p:txBody>
      </p:sp>
      <p:sp>
        <p:nvSpPr>
          <p:cNvPr id="22" name="s9-row-3-proves">
            <a:extLst xmlns:a="http://schemas.openxmlformats.org/drawingml/2006/main">
              <a:ext uri="{FF2B5EF4-FFF2-40B4-BE49-F238E27FC236}">
                <a16:creationId xmlns:a16="http://schemas.microsoft.com/office/drawing/2014/main" id="{AFD55444-B705-4A14-869C-FE581059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6730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מה קרה בפועל בחשבון</a:t>
            </a:r>
          </a:p>
        </p:txBody>
      </p:sp>
      <p:sp>
        <p:nvSpPr>
          <p:cNvPr id="23" name="s9-row-3-not-proves">
            <a:extLst xmlns:a="http://schemas.openxmlformats.org/drawingml/2006/main">
              <a:ext uri="{FF2B5EF4-FFF2-40B4-BE49-F238E27FC236}">
                <a16:creationId xmlns:a16="http://schemas.microsoft.com/office/drawing/2014/main" id="{911F8CF8-7D58-4AEF-ABD8-D55BD534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361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עמידות לאורך מחזורי שוק שלמים</a:t>
            </a:r>
          </a:p>
        </p:txBody>
      </p:sp>
      <p:sp>
        <p:nvSpPr>
          <p:cNvPr id="24" name="s9-method-label">
            <a:extLst xmlns:a="http://schemas.openxmlformats.org/drawingml/2006/main">
              <a:ext uri="{FF2B5EF4-FFF2-40B4-BE49-F238E27FC236}">
                <a16:creationId xmlns:a16="http://schemas.microsoft.com/office/drawing/2014/main" id="{644BE4E7-8D4D-47F4-946D-C8AB469F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864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שיטת המדידה והמקורות</a:t>
            </a:r>
          </a:p>
        </p:txBody>
      </p:sp>
      <p:sp>
        <p:nvSpPr>
          <p:cNvPr id="25" name="s9-method-fill-panel">
            <a:extLst xmlns:a="http://schemas.openxmlformats.org/drawingml/2006/main">
              <a:ext uri="{FF2B5EF4-FFF2-40B4-BE49-F238E27FC236}">
                <a16:creationId xmlns:a16="http://schemas.microsoft.com/office/drawing/2014/main" id="{55ED486F-5982-4C2B-B3ED-4779C61F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314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9-method-fill-text">
            <a:extLst xmlns:a="http://schemas.openxmlformats.org/drawingml/2006/main">
              <a:ext uri="{FF2B5EF4-FFF2-40B4-BE49-F238E27FC236}">
                <a16:creationId xmlns:a16="http://schemas.microsoft.com/office/drawing/2014/main" id="{432E8992-18A9-40FC-8A7B-D524301C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8350"/>
            <a:ext cx="112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27" name="slide-10-draft-footer">
            <a:extLst xmlns:a="http://schemas.openxmlformats.org/drawingml/2006/main">
              <a:ext uri="{FF2B5EF4-FFF2-40B4-BE49-F238E27FC236}">
                <a16:creationId xmlns:a16="http://schemas.microsoft.com/office/drawing/2014/main" id="{711D0173-C176-42D6-8A0D-646B5685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53175"/>
            <a:ext cx="560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טיוטה פנימית | לא להפצה | משפטי: FILL</a:t>
            </a:r>
          </a:p>
        </p:txBody>
      </p:sp>
      <p:sp>
        <p:nvSpPr>
          <p:cNvPr id="28" name="slide-10-page">
            <a:extLst xmlns:a="http://schemas.openxmlformats.org/drawingml/2006/main">
              <a:ext uri="{FF2B5EF4-FFF2-40B4-BE49-F238E27FC236}">
                <a16:creationId xmlns:a16="http://schemas.microsoft.com/office/drawing/2014/main" id="{8AED86E4-D501-4CE4-9301-0779A5B4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253914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CCC80E70-25E5-45FE-9ED3-01BBE298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מודל הסיכון מתאר טווחים, לא תחזית</a:t>
            </a:r>
          </a:p>
        </p:txBody>
      </p:sp>
      <p:sp>
        <p:nvSpPr>
          <p:cNvPr id="2" name="slide-11-appendix">
            <a:extLst xmlns:a="http://schemas.openxmlformats.org/drawingml/2006/main">
              <a:ext uri="{FF2B5EF4-FFF2-40B4-BE49-F238E27FC236}">
                <a16:creationId xmlns:a16="http://schemas.microsoft.com/office/drawing/2014/main" id="{B34ED97C-BAD8-4513-A858-955C2AE9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23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נספח</a:t>
            </a:r>
          </a:p>
        </p:txBody>
      </p:sp>
      <p:sp>
        <p:nvSpPr>
          <p:cNvPr id="3" name="s10-intro">
            <a:extLst xmlns:a="http://schemas.openxmlformats.org/drawingml/2006/main">
              <a:ext uri="{FF2B5EF4-FFF2-40B4-BE49-F238E27FC236}">
                <a16:creationId xmlns:a16="http://schemas.microsoft.com/office/drawing/2014/main" id="{CDD13ED6-F683-4600-807C-D01495A1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219200"/>
            <a:ext cx="9505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המודל מסדר מחדש מקטעים של תשואות עבר כדי להראות מסלולים היסטוריים חלופיים — כולל רצפים לא נעימים.</a:t>
            </a:r>
          </a:p>
        </p:txBody>
      </p:sp>
      <p:sp>
        <p:nvSpPr>
          <p:cNvPr id="4" name="s10-does-panel">
            <a:extLst xmlns:a="http://schemas.openxmlformats.org/drawingml/2006/main">
              <a:ext uri="{FF2B5EF4-FFF2-40B4-BE49-F238E27FC236}">
                <a16:creationId xmlns:a16="http://schemas.microsoft.com/office/drawing/2014/main" id="{91B6589A-6D4B-4339-963C-4761204E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38350"/>
            <a:ext cx="55340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0-does-not-panel">
            <a:extLst xmlns:a="http://schemas.openxmlformats.org/drawingml/2006/main">
              <a:ext uri="{FF2B5EF4-FFF2-40B4-BE49-F238E27FC236}">
                <a16:creationId xmlns:a16="http://schemas.microsoft.com/office/drawing/2014/main" id="{A489D785-2CD2-49E8-A49E-816F8A22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55340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0-does-title">
            <a:extLst xmlns:a="http://schemas.openxmlformats.org/drawingml/2006/main">
              <a:ext uri="{FF2B5EF4-FFF2-40B4-BE49-F238E27FC236}">
                <a16:creationId xmlns:a16="http://schemas.microsoft.com/office/drawing/2014/main" id="{73F51DB9-A1A1-4A04-B3CD-81943E56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43150"/>
            <a:ext cx="48101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מה הוא עושה</a:t>
            </a:r>
          </a:p>
        </p:txBody>
      </p:sp>
      <p:sp>
        <p:nvSpPr>
          <p:cNvPr id="7" name="s10-does-not-title">
            <a:extLst xmlns:a="http://schemas.openxmlformats.org/drawingml/2006/main">
              <a:ext uri="{FF2B5EF4-FFF2-40B4-BE49-F238E27FC236}">
                <a16:creationId xmlns:a16="http://schemas.microsoft.com/office/drawing/2014/main" id="{ECB0CAF3-D81A-4942-A65B-24B7A9F9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43150"/>
            <a:ext cx="48101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מה הוא לא עושה</a:t>
            </a:r>
          </a:p>
        </p:txBody>
      </p:sp>
      <p:sp>
        <p:nvSpPr>
          <p:cNvPr id="8" name="s10-does-0-check">
            <a:extLst xmlns:a="http://schemas.openxmlformats.org/drawingml/2006/main">
              <a:ext uri="{FF2B5EF4-FFF2-40B4-BE49-F238E27FC236}">
                <a16:creationId xmlns:a16="http://schemas.microsoft.com/office/drawing/2014/main" id="{AC29FC1B-B7E4-4A47-AA37-AD51D1BB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9085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9" name="s10-does-0-text">
            <a:extLst xmlns:a="http://schemas.openxmlformats.org/drawingml/2006/main">
              <a:ext uri="{FF2B5EF4-FFF2-40B4-BE49-F238E27FC236}">
                <a16:creationId xmlns:a16="http://schemas.microsoft.com/office/drawing/2014/main" id="{74150EA4-9055-4CE6-A418-7D991850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9085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מראה חודשים ושנים חלשים אפשריים</a:t>
            </a:r>
          </a:p>
        </p:txBody>
      </p:sp>
      <p:sp>
        <p:nvSpPr>
          <p:cNvPr id="10" name="s10-does-not-0-check">
            <a:extLst xmlns:a="http://schemas.openxmlformats.org/drawingml/2006/main">
              <a:ext uri="{FF2B5EF4-FFF2-40B4-BE49-F238E27FC236}">
                <a16:creationId xmlns:a16="http://schemas.microsoft.com/office/drawing/2014/main" id="{70A9AA28-13C5-4DDB-8B7C-C0A5CA1F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99085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×</a:t>
            </a:r>
          </a:p>
        </p:txBody>
      </p:sp>
      <p:sp>
        <p:nvSpPr>
          <p:cNvPr id="11" name="s10-does-not-0-text">
            <a:extLst xmlns:a="http://schemas.openxmlformats.org/drawingml/2006/main">
              <a:ext uri="{FF2B5EF4-FFF2-40B4-BE49-F238E27FC236}">
                <a16:creationId xmlns:a16="http://schemas.microsoft.com/office/drawing/2014/main" id="{E85D105C-0EBE-456D-AA62-F602619B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אינו יודע לחזות משבר שלא הופיע בעבר</a:t>
            </a:r>
          </a:p>
        </p:txBody>
      </p:sp>
      <p:sp>
        <p:nvSpPr>
          <p:cNvPr id="12" name="s10-does-1-check">
            <a:extLst xmlns:a="http://schemas.openxmlformats.org/drawingml/2006/main">
              <a:ext uri="{FF2B5EF4-FFF2-40B4-BE49-F238E27FC236}">
                <a16:creationId xmlns:a16="http://schemas.microsoft.com/office/drawing/2014/main" id="{C4FDA500-0BD7-4451-A0C3-B116FCB4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3" name="s10-does-1-text">
            <a:extLst xmlns:a="http://schemas.openxmlformats.org/drawingml/2006/main">
              <a:ext uri="{FF2B5EF4-FFF2-40B4-BE49-F238E27FC236}">
                <a16:creationId xmlns:a16="http://schemas.microsoft.com/office/drawing/2014/main" id="{209C8CE8-BDFD-44C0-88B6-D43920EA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0520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בודק ירידות מהשיא וזמן מתחת לשיא</a:t>
            </a:r>
          </a:p>
        </p:txBody>
      </p:sp>
      <p:sp>
        <p:nvSpPr>
          <p:cNvPr id="14" name="s10-does-not-1-check">
            <a:extLst xmlns:a="http://schemas.openxmlformats.org/drawingml/2006/main">
              <a:ext uri="{FF2B5EF4-FFF2-40B4-BE49-F238E27FC236}">
                <a16:creationId xmlns:a16="http://schemas.microsoft.com/office/drawing/2014/main" id="{36CD0A6E-010F-46D2-9AEE-2FFA299C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50520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×</a:t>
            </a:r>
          </a:p>
        </p:txBody>
      </p:sp>
      <p:sp>
        <p:nvSpPr>
          <p:cNvPr id="15" name="s10-does-not-1-text">
            <a:extLst xmlns:a="http://schemas.openxmlformats.org/drawingml/2006/main">
              <a:ext uri="{FF2B5EF4-FFF2-40B4-BE49-F238E27FC236}">
                <a16:creationId xmlns:a16="http://schemas.microsoft.com/office/drawing/2014/main" id="{587600E8-2C63-4EE5-BB63-2E0BFD5F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אינו מבטל סיכון מודל או בחירת יתר</a:t>
            </a:r>
          </a:p>
        </p:txBody>
      </p:sp>
      <p:sp>
        <p:nvSpPr>
          <p:cNvPr id="16" name="s10-does-2-check">
            <a:extLst xmlns:a="http://schemas.openxmlformats.org/drawingml/2006/main">
              <a:ext uri="{FF2B5EF4-FFF2-40B4-BE49-F238E27FC236}">
                <a16:creationId xmlns:a16="http://schemas.microsoft.com/office/drawing/2014/main" id="{7D6E860A-A05D-4505-AD03-96CCA8A2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1955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7" name="s10-does-2-text">
            <a:extLst xmlns:a="http://schemas.openxmlformats.org/drawingml/2006/main">
              <a:ext uri="{FF2B5EF4-FFF2-40B4-BE49-F238E27FC236}">
                <a16:creationId xmlns:a16="http://schemas.microsoft.com/office/drawing/2014/main" id="{D5763B50-234A-4332-AD00-D0D7CA8E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1955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משווה הנחות עלויות ותרחישים</a:t>
            </a:r>
          </a:p>
        </p:txBody>
      </p:sp>
      <p:sp>
        <p:nvSpPr>
          <p:cNvPr id="18" name="s10-does-not-2-check">
            <a:extLst xmlns:a="http://schemas.openxmlformats.org/drawingml/2006/main">
              <a:ext uri="{FF2B5EF4-FFF2-40B4-BE49-F238E27FC236}">
                <a16:creationId xmlns:a16="http://schemas.microsoft.com/office/drawing/2014/main" id="{DD589F06-B255-4E17-BD1C-F0968F08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01955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×</a:t>
            </a:r>
          </a:p>
        </p:txBody>
      </p:sp>
      <p:sp>
        <p:nvSpPr>
          <p:cNvPr id="19" name="s10-does-not-2-text">
            <a:extLst xmlns:a="http://schemas.openxmlformats.org/drawingml/2006/main">
              <a:ext uri="{FF2B5EF4-FFF2-40B4-BE49-F238E27FC236}">
                <a16:creationId xmlns:a16="http://schemas.microsoft.com/office/drawing/2014/main" id="{5DE420ED-7557-4A47-A65B-CC829C64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אינו מבטיח שהתוצאה תישאר בטווח</a:t>
            </a:r>
          </a:p>
        </p:txBody>
      </p:sp>
      <p:sp>
        <p:nvSpPr>
          <p:cNvPr id="20" name="s10-does-3-check">
            <a:extLst xmlns:a="http://schemas.openxmlformats.org/drawingml/2006/main">
              <a:ext uri="{FF2B5EF4-FFF2-40B4-BE49-F238E27FC236}">
                <a16:creationId xmlns:a16="http://schemas.microsoft.com/office/drawing/2014/main" id="{A5F1127C-7151-44B3-8434-5C97C01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3390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1" name="s10-does-3-text">
            <a:extLst xmlns:a="http://schemas.openxmlformats.org/drawingml/2006/main">
              <a:ext uri="{FF2B5EF4-FFF2-40B4-BE49-F238E27FC236}">
                <a16:creationId xmlns:a16="http://schemas.microsoft.com/office/drawing/2014/main" id="{7200E7EC-078D-419F-BE8E-C75C73E3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3390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מציג טווחים במקום מספר יעד יחיד</a:t>
            </a:r>
          </a:p>
        </p:txBody>
      </p:sp>
      <p:sp>
        <p:nvSpPr>
          <p:cNvPr id="22" name="s10-does-not-3-check">
            <a:extLst xmlns:a="http://schemas.openxmlformats.org/drawingml/2006/main">
              <a:ext uri="{FF2B5EF4-FFF2-40B4-BE49-F238E27FC236}">
                <a16:creationId xmlns:a16="http://schemas.microsoft.com/office/drawing/2014/main" id="{BABCB815-CE60-44FB-A51F-5B30EF1F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53390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×</a:t>
            </a:r>
          </a:p>
        </p:txBody>
      </p:sp>
      <p:sp>
        <p:nvSpPr>
          <p:cNvPr id="23" name="s10-does-not-3-text">
            <a:extLst xmlns:a="http://schemas.openxmlformats.org/drawingml/2006/main">
              <a:ext uri="{FF2B5EF4-FFF2-40B4-BE49-F238E27FC236}">
                <a16:creationId xmlns:a16="http://schemas.microsoft.com/office/drawing/2014/main" id="{7A690554-D247-4CAD-8557-500B8FF4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אינו מחליף היסטוריה אמיתית בכסף אמיתי</a:t>
            </a:r>
          </a:p>
        </p:txBody>
      </p:sp>
      <p:sp>
        <p:nvSpPr>
          <p:cNvPr id="24" name="s10-fill-band">
            <a:extLst xmlns:a="http://schemas.openxmlformats.org/drawingml/2006/main">
              <a:ext uri="{FF2B5EF4-FFF2-40B4-BE49-F238E27FC236}">
                <a16:creationId xmlns:a16="http://schemas.microsoft.com/office/drawing/2014/main" id="{814C190E-612C-4B8C-B7BD-9F847E43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67350"/>
            <a:ext cx="11410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s10-fill-label">
            <a:extLst xmlns:a="http://schemas.openxmlformats.org/drawingml/2006/main">
              <a:ext uri="{FF2B5EF4-FFF2-40B4-BE49-F238E27FC236}">
                <a16:creationId xmlns:a16="http://schemas.microsoft.com/office/drawing/2014/main" id="{621A24FD-8C8A-4033-83B7-70F9F57F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38800"/>
            <a:ext cx="5695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התיק, התקופה, העלויות והעמלות במודל</a:t>
            </a:r>
          </a:p>
        </p:txBody>
      </p:sp>
      <p:sp>
        <p:nvSpPr>
          <p:cNvPr id="26" name="s10-fill-panel">
            <a:extLst xmlns:a="http://schemas.openxmlformats.org/drawingml/2006/main">
              <a:ext uri="{FF2B5EF4-FFF2-40B4-BE49-F238E27FC236}">
                <a16:creationId xmlns:a16="http://schemas.microsoft.com/office/drawing/2014/main" id="{251E107A-53FE-4341-8306-ED80B6F8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3144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10-fill-text">
            <a:extLst xmlns:a="http://schemas.openxmlformats.org/drawingml/2006/main">
              <a:ext uri="{FF2B5EF4-FFF2-40B4-BE49-F238E27FC236}">
                <a16:creationId xmlns:a16="http://schemas.microsoft.com/office/drawing/2014/main" id="{958010E0-A552-4D64-AAF3-3E4BD893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123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28" name="s10-current-note">
            <a:extLst xmlns:a="http://schemas.openxmlformats.org/drawingml/2006/main">
              <a:ext uri="{FF2B5EF4-FFF2-40B4-BE49-F238E27FC236}">
                <a16:creationId xmlns:a16="http://schemas.microsoft.com/office/drawing/2014/main" id="{CA4BFCD7-0768-48CA-81C0-CAF62BD1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172200"/>
            <a:ext cx="893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הערה: במודל הנוכחי חודש מחושב כ־21 ימי מסחר; התאמה לחודש קלנדרי: FILL</a:t>
            </a:r>
          </a:p>
        </p:txBody>
      </p:sp>
      <p:sp>
        <p:nvSpPr>
          <p:cNvPr id="29" name="slide-11-draft-footer">
            <a:extLst xmlns:a="http://schemas.openxmlformats.org/drawingml/2006/main">
              <a:ext uri="{FF2B5EF4-FFF2-40B4-BE49-F238E27FC236}">
                <a16:creationId xmlns:a16="http://schemas.microsoft.com/office/drawing/2014/main" id="{2D10851B-7696-4C89-99CB-5F9495BD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53175"/>
            <a:ext cx="560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טיוטה פנימית | לא להפצה | משפטי: FILL</a:t>
            </a:r>
          </a:p>
        </p:txBody>
      </p:sp>
      <p:sp>
        <p:nvSpPr>
          <p:cNvPr id="30" name="slide-11-page">
            <a:extLst xmlns:a="http://schemas.openxmlformats.org/drawingml/2006/main">
              <a:ext uri="{FF2B5EF4-FFF2-40B4-BE49-F238E27FC236}">
                <a16:creationId xmlns:a16="http://schemas.microsoft.com/office/drawing/2014/main" id="{86927E47-4031-4A23-8C20-39F155D8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839057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E5453191-B58B-414E-B414-7F2AC2CE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לפני הפצה נדרש אישור משפטי</a:t>
            </a:r>
          </a:p>
        </p:txBody>
      </p:sp>
      <p:sp>
        <p:nvSpPr>
          <p:cNvPr id="2" name="slide-12-appendix">
            <a:extLst xmlns:a="http://schemas.openxmlformats.org/drawingml/2006/main">
              <a:ext uri="{FF2B5EF4-FFF2-40B4-BE49-F238E27FC236}">
                <a16:creationId xmlns:a16="http://schemas.microsoft.com/office/drawing/2014/main" id="{5C95A1D4-2E90-4159-8B08-1D6AA374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23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נספח</a:t>
            </a:r>
          </a:p>
        </p:txBody>
      </p:sp>
      <p:sp>
        <p:nvSpPr>
          <p:cNvPr id="3" name="s11-intro">
            <a:extLst xmlns:a="http://schemas.openxmlformats.org/drawingml/2006/main">
              <a:ext uri="{FF2B5EF4-FFF2-40B4-BE49-F238E27FC236}">
                <a16:creationId xmlns:a16="http://schemas.microsoft.com/office/drawing/2014/main" id="{89BA89BC-A7B5-489E-9F7D-E68516A8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219200"/>
            <a:ext cx="8934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המצגת יכולה להיות כלי שיחה רק לאחר שהמבנה, הקהל והנוסח אושרו מקצועית.</a:t>
            </a:r>
          </a:p>
        </p:txBody>
      </p:sp>
      <p:sp>
        <p:nvSpPr>
          <p:cNvPr id="4" name="s11-field-0-label">
            <a:extLst xmlns:a="http://schemas.openxmlformats.org/drawingml/2006/main">
              <a:ext uri="{FF2B5EF4-FFF2-40B4-BE49-F238E27FC236}">
                <a16:creationId xmlns:a16="http://schemas.microsoft.com/office/drawing/2014/main" id="{7D6D2B6E-3698-40D2-BF2F-E542F93E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38350"/>
            <a:ext cx="5981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זהות הישות והמנהל</a:t>
            </a:r>
          </a:p>
        </p:txBody>
      </p:sp>
      <p:sp>
        <p:nvSpPr>
          <p:cNvPr id="5" name="s11-field-0-fill-panel">
            <a:extLst xmlns:a="http://schemas.openxmlformats.org/drawingml/2006/main">
              <a:ext uri="{FF2B5EF4-FFF2-40B4-BE49-F238E27FC236}">
                <a16:creationId xmlns:a16="http://schemas.microsoft.com/office/drawing/2014/main" id="{E2F68B0C-83CF-47A0-86B6-5D120288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314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1-field-0-fill-text">
            <a:extLst xmlns:a="http://schemas.openxmlformats.org/drawingml/2006/main">
              <a:ext uri="{FF2B5EF4-FFF2-40B4-BE49-F238E27FC236}">
                <a16:creationId xmlns:a16="http://schemas.microsoft.com/office/drawing/2014/main" id="{DA4B5076-E176-4B76-8DDF-15E0FFB8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112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35" name="s11-field-0-line"/>
          <p:cNvCxnSpPr/>
          <p:nvPr/>
        </p:nvCxnSpPr>
        <p:spPr>
          <a:xfrm xmlns:a="http://schemas.openxmlformats.org/drawingml/2006/main">
            <a:off x="2381250" y="2495550"/>
            <a:ext cx="90297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s11-field-1-label">
            <a:extLst xmlns:a="http://schemas.openxmlformats.org/drawingml/2006/main">
              <a:ext uri="{FF2B5EF4-FFF2-40B4-BE49-F238E27FC236}">
                <a16:creationId xmlns:a16="http://schemas.microsoft.com/office/drawing/2014/main" id="{0DCD9936-D2F1-431C-8AAF-6FB7C42D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95575"/>
            <a:ext cx="5981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מבנה משפטי ומבנה החשבון</a:t>
            </a:r>
          </a:p>
        </p:txBody>
      </p:sp>
      <p:sp>
        <p:nvSpPr>
          <p:cNvPr id="9" name="s11-field-1-fill-panel">
            <a:extLst xmlns:a="http://schemas.openxmlformats.org/drawingml/2006/main">
              <a:ext uri="{FF2B5EF4-FFF2-40B4-BE49-F238E27FC236}">
                <a16:creationId xmlns:a16="http://schemas.microsoft.com/office/drawing/2014/main" id="{3AC29AA8-E048-40BB-9398-5B34D784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1314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1-field-1-fill-text">
            <a:extLst xmlns:a="http://schemas.openxmlformats.org/drawingml/2006/main">
              <a:ext uri="{FF2B5EF4-FFF2-40B4-BE49-F238E27FC236}">
                <a16:creationId xmlns:a16="http://schemas.microsoft.com/office/drawing/2014/main" id="{F51103BB-C3DB-43B6-8034-5B2186A8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33675"/>
            <a:ext cx="112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39" name="s11-field-1-line"/>
          <p:cNvCxnSpPr/>
          <p:nvPr/>
        </p:nvCxnSpPr>
        <p:spPr>
          <a:xfrm xmlns:a="http://schemas.openxmlformats.org/drawingml/2006/main">
            <a:off x="2381250" y="3152775"/>
            <a:ext cx="90297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s11-field-2-label">
            <a:extLst xmlns:a="http://schemas.openxmlformats.org/drawingml/2006/main">
              <a:ext uri="{FF2B5EF4-FFF2-40B4-BE49-F238E27FC236}">
                <a16:creationId xmlns:a16="http://schemas.microsoft.com/office/drawing/2014/main" id="{88F32A88-7349-4F08-9F07-F8C185FD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52800"/>
            <a:ext cx="5981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רישוי, פטורים וקהל היעד</a:t>
            </a:r>
          </a:p>
        </p:txBody>
      </p:sp>
      <p:sp>
        <p:nvSpPr>
          <p:cNvPr id="13" name="s11-field-2-fill-panel">
            <a:extLst xmlns:a="http://schemas.openxmlformats.org/drawingml/2006/main">
              <a:ext uri="{FF2B5EF4-FFF2-40B4-BE49-F238E27FC236}">
                <a16:creationId xmlns:a16="http://schemas.microsoft.com/office/drawing/2014/main" id="{4EF75D6C-8B62-417E-801B-D451E6BE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1314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11-field-2-fill-text">
            <a:extLst xmlns:a="http://schemas.openxmlformats.org/drawingml/2006/main">
              <a:ext uri="{FF2B5EF4-FFF2-40B4-BE49-F238E27FC236}">
                <a16:creationId xmlns:a16="http://schemas.microsoft.com/office/drawing/2014/main" id="{33287EB6-465E-4165-995E-9A711918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112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43" name="s11-field-2-line"/>
          <p:cNvCxnSpPr/>
          <p:nvPr/>
        </p:nvCxnSpPr>
        <p:spPr>
          <a:xfrm xmlns:a="http://schemas.openxmlformats.org/drawingml/2006/main">
            <a:off x="2381250" y="3810000"/>
            <a:ext cx="90297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s11-field-3-label">
            <a:extLst xmlns:a="http://schemas.openxmlformats.org/drawingml/2006/main">
              <a:ext uri="{FF2B5EF4-FFF2-40B4-BE49-F238E27FC236}">
                <a16:creationId xmlns:a16="http://schemas.microsoft.com/office/drawing/2014/main" id="{ED149E69-23A9-4411-9BA2-2D173041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10025"/>
            <a:ext cx="5981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תנאי ההשקעה והמשיכה</a:t>
            </a:r>
          </a:p>
        </p:txBody>
      </p:sp>
      <p:sp>
        <p:nvSpPr>
          <p:cNvPr id="17" name="s11-field-3-fill-panel">
            <a:extLst xmlns:a="http://schemas.openxmlformats.org/drawingml/2006/main">
              <a:ext uri="{FF2B5EF4-FFF2-40B4-BE49-F238E27FC236}">
                <a16:creationId xmlns:a16="http://schemas.microsoft.com/office/drawing/2014/main" id="{199BAA54-EF54-4E59-A365-5DEC0DF5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1314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11-field-3-fill-text">
            <a:extLst xmlns:a="http://schemas.openxmlformats.org/drawingml/2006/main">
              <a:ext uri="{FF2B5EF4-FFF2-40B4-BE49-F238E27FC236}">
                <a16:creationId xmlns:a16="http://schemas.microsoft.com/office/drawing/2014/main" id="{04C3B2A9-8F4E-4048-A3C0-EC55A499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112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47" name="s11-field-3-line"/>
          <p:cNvCxnSpPr/>
          <p:nvPr/>
        </p:nvCxnSpPr>
        <p:spPr>
          <a:xfrm xmlns:a="http://schemas.openxmlformats.org/drawingml/2006/main">
            <a:off x="2381250" y="4467225"/>
            <a:ext cx="90297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s11-field-4-label">
            <a:extLst xmlns:a="http://schemas.openxmlformats.org/drawingml/2006/main">
              <a:ext uri="{FF2B5EF4-FFF2-40B4-BE49-F238E27FC236}">
                <a16:creationId xmlns:a16="http://schemas.microsoft.com/office/drawing/2014/main" id="{0D61E554-22B9-419C-9865-5CF5BDFA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5981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נוסח גילוי נאות שאושר משפטית</a:t>
            </a:r>
          </a:p>
        </p:txBody>
      </p:sp>
      <p:sp>
        <p:nvSpPr>
          <p:cNvPr id="21" name="s11-field-4-fill-panel">
            <a:extLst xmlns:a="http://schemas.openxmlformats.org/drawingml/2006/main">
              <a:ext uri="{FF2B5EF4-FFF2-40B4-BE49-F238E27FC236}">
                <a16:creationId xmlns:a16="http://schemas.microsoft.com/office/drawing/2014/main" id="{A670D293-FADB-445C-ADA7-5B4B561F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314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1-field-4-fill-text">
            <a:extLst xmlns:a="http://schemas.openxmlformats.org/drawingml/2006/main">
              <a:ext uri="{FF2B5EF4-FFF2-40B4-BE49-F238E27FC236}">
                <a16:creationId xmlns:a16="http://schemas.microsoft.com/office/drawing/2014/main" id="{AC66317F-DEFF-4AC2-A23A-5F6F218F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12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51" name="s11-field-4-line"/>
          <p:cNvCxnSpPr/>
          <p:nvPr/>
        </p:nvCxnSpPr>
        <p:spPr>
          <a:xfrm xmlns:a="http://schemas.openxmlformats.org/drawingml/2006/main">
            <a:off x="2381250" y="5124450"/>
            <a:ext cx="90297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4" name="s11-warning-panel">
            <a:extLst xmlns:a="http://schemas.openxmlformats.org/drawingml/2006/main">
              <a:ext uri="{FF2B5EF4-FFF2-40B4-BE49-F238E27FC236}">
                <a16:creationId xmlns:a16="http://schemas.microsoft.com/office/drawing/2014/main" id="{8703979C-8019-4AB0-9508-E49E1041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72100"/>
            <a:ext cx="11410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11-warning">
            <a:extLst xmlns:a="http://schemas.openxmlformats.org/drawingml/2006/main">
              <a:ext uri="{FF2B5EF4-FFF2-40B4-BE49-F238E27FC236}">
                <a16:creationId xmlns:a16="http://schemas.microsoft.com/office/drawing/2014/main" id="{D5E024D5-DF26-4512-8872-B718CA80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66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טיוטה פנימית. אין להפיץ או למסור נתוני תשואה ותנאים לפני אישור עורך דין מתאים.</a:t>
            </a:r>
          </a:p>
        </p:txBody>
      </p:sp>
      <p:sp>
        <p:nvSpPr>
          <p:cNvPr id="26" name="s11-risk">
            <a:extLst xmlns:a="http://schemas.openxmlformats.org/drawingml/2006/main">
              <a:ext uri="{FF2B5EF4-FFF2-40B4-BE49-F238E27FC236}">
                <a16:creationId xmlns:a16="http://schemas.microsoft.com/office/drawing/2014/main" id="{34A1EB6C-5656-480B-9924-EDEE0303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38850"/>
            <a:ext cx="981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השקעה כרוכה בסיכון להפסד, לרבות הפסד משמעותי. תוצאות עבר ובדיקות היסטוריות אינן מבטיחות תוצאות עתידיות.</a:t>
            </a:r>
          </a:p>
        </p:txBody>
      </p:sp>
      <p:sp>
        <p:nvSpPr>
          <p:cNvPr id="27" name="slide-12-draft-footer">
            <a:extLst xmlns:a="http://schemas.openxmlformats.org/drawingml/2006/main">
              <a:ext uri="{FF2B5EF4-FFF2-40B4-BE49-F238E27FC236}">
                <a16:creationId xmlns:a16="http://schemas.microsoft.com/office/drawing/2014/main" id="{06E45CB0-6871-4A0F-A9B2-BC62DD36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53175"/>
            <a:ext cx="560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טיוטה פנימית | לא להפצה | משפטי: FILL</a:t>
            </a:r>
          </a:p>
        </p:txBody>
      </p:sp>
      <p:sp>
        <p:nvSpPr>
          <p:cNvPr id="28" name="slide-12-page">
            <a:extLst xmlns:a="http://schemas.openxmlformats.org/drawingml/2006/main">
              <a:ext uri="{FF2B5EF4-FFF2-40B4-BE49-F238E27FC236}">
                <a16:creationId xmlns:a16="http://schemas.microsoft.com/office/drawing/2014/main" id="{5AA5C009-111A-493B-880E-AE2731FA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876750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2026-07-10T12:30:57.9620000Z</dcterms:created>
  <dcterms:modified xsi:type="dcterms:W3CDTF">2026-07-10T12:30:57.9620000Z</dcterms:modified>
</coreProperties>
</file>