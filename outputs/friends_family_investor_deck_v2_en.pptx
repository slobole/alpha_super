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a8647365cb452a" /><Relationship Type="http://schemas.openxmlformats.org/officeDocument/2006/relationships/extended-properties" Target="/docProps/app.xml" Id="Rc71aabd62dc1442c" /><Relationship Type="http://schemas.openxmlformats.org/officeDocument/2006/relationships/officeDocument" Target="/ppt/presentation.xml" Id="R5808c5c77ccb41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f4c27e3cff48aa"/>
  </p:sldMasterIdLst>
  <p:notesMasterIdLst>
    <p:notesMasterId xmlns:r="http://schemas.openxmlformats.org/officeDocument/2006/relationships" r:id="Rd8f359088d1c4b4b"/>
  </p:notesMasterIdLst>
  <p:sldIdLst>
    <p:sldId xmlns:r="http://schemas.openxmlformats.org/officeDocument/2006/relationships" id="256" r:id="R5c2754b683ec4bda"/>
    <p:sldId xmlns:r="http://schemas.openxmlformats.org/officeDocument/2006/relationships" id="257" r:id="R07e2976af22f4063"/>
    <p:sldId xmlns:r="http://schemas.openxmlformats.org/officeDocument/2006/relationships" id="258" r:id="Rf2d1093b804d4f59"/>
    <p:sldId xmlns:r="http://schemas.openxmlformats.org/officeDocument/2006/relationships" id="259" r:id="R707f08e6065149c1"/>
    <p:sldId xmlns:r="http://schemas.openxmlformats.org/officeDocument/2006/relationships" id="260" r:id="R66386193350c4e8e"/>
    <p:sldId xmlns:r="http://schemas.openxmlformats.org/officeDocument/2006/relationships" id="261" r:id="Rcacbeb57eb2b45f6"/>
    <p:sldId xmlns:r="http://schemas.openxmlformats.org/officeDocument/2006/relationships" id="262" r:id="R57129ecb3a6a4019"/>
    <p:sldId xmlns:r="http://schemas.openxmlformats.org/officeDocument/2006/relationships" id="263" r:id="R167a4fc9ed6943e9"/>
    <p:sldId xmlns:r="http://schemas.openxmlformats.org/officeDocument/2006/relationships" id="264" r:id="R84bb015e8618431c"/>
    <p:sldId xmlns:r="http://schemas.openxmlformats.org/officeDocument/2006/relationships" id="265" r:id="R9d46536301fe4393"/>
    <p:sldId xmlns:r="http://schemas.openxmlformats.org/officeDocument/2006/relationships" id="266" r:id="Rb371d869f0e34e55"/>
    <p:sldId xmlns:r="http://schemas.openxmlformats.org/officeDocument/2006/relationships" id="267" r:id="Rad4c3fb1e83b49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53f7ffb9b94b60" /><Relationship Type="http://schemas.openxmlformats.org/officeDocument/2006/relationships/slideMaster" Target="/ppt/slideMasters/slideMaster1.xml" Id="R43f4c27e3cff48aa" /><Relationship Type="http://schemas.openxmlformats.org/officeDocument/2006/relationships/notesMaster" Target="/ppt/notesMasters/notesMaster1.xml" Id="Rd8f359088d1c4b4b" /><Relationship Type="http://schemas.openxmlformats.org/officeDocument/2006/relationships/presProps" Target="/ppt/presProps.xml" Id="R21d3d8a73d2941ea" /><Relationship Type="http://schemas.openxmlformats.org/officeDocument/2006/relationships/tableStyles" Target="/ppt/tableStyles.xml" Id="R60c71b89964241af" /><Relationship Type="http://schemas.openxmlformats.org/officeDocument/2006/relationships/slide" Target="/ppt/slides/slide1.xml" Id="R5c2754b683ec4bda" /><Relationship Type="http://schemas.openxmlformats.org/officeDocument/2006/relationships/slide" Target="/ppt/slides/slide2.xml" Id="R07e2976af22f4063" /><Relationship Type="http://schemas.openxmlformats.org/officeDocument/2006/relationships/slide" Target="/ppt/slides/slide3.xml" Id="Rf2d1093b804d4f59" /><Relationship Type="http://schemas.openxmlformats.org/officeDocument/2006/relationships/slide" Target="/ppt/slides/slide4.xml" Id="R707f08e6065149c1" /><Relationship Type="http://schemas.openxmlformats.org/officeDocument/2006/relationships/slide" Target="/ppt/slides/slide5.xml" Id="R66386193350c4e8e" /><Relationship Type="http://schemas.openxmlformats.org/officeDocument/2006/relationships/slide" Target="/ppt/slides/slide6.xml" Id="Rcacbeb57eb2b45f6" /><Relationship Type="http://schemas.openxmlformats.org/officeDocument/2006/relationships/slide" Target="/ppt/slides/slide7.xml" Id="R57129ecb3a6a4019" /><Relationship Type="http://schemas.openxmlformats.org/officeDocument/2006/relationships/slide" Target="/ppt/slides/slide8.xml" Id="R167a4fc9ed6943e9" /><Relationship Type="http://schemas.openxmlformats.org/officeDocument/2006/relationships/slide" Target="/ppt/slides/slide9.xml" Id="R84bb015e8618431c" /><Relationship Type="http://schemas.openxmlformats.org/officeDocument/2006/relationships/slide" Target="/ppt/slides/slide10.xml" Id="R9d46536301fe4393" /><Relationship Type="http://schemas.openxmlformats.org/officeDocument/2006/relationships/slide" Target="/ppt/slides/slide11.xml" Id="Rb371d869f0e34e55" /><Relationship Type="http://schemas.openxmlformats.org/officeDocument/2006/relationships/slide" Target="/ppt/slides/slide12.xml" Id="Rad4c3fb1e83b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9d9851cb6b45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3da74c5614b48" /><Relationship Type="http://schemas.openxmlformats.org/officeDocument/2006/relationships/notesMaster" Target="/ppt/notesMasters/notesMaster1.xml" Id="R5f76778ba403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cb7624384489c" /><Relationship Type="http://schemas.openxmlformats.org/officeDocument/2006/relationships/notesMaster" Target="/ppt/notesMasters/notesMaster1.xml" Id="Rcb4991f698a84b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410ef26cfb466e" /><Relationship Type="http://schemas.openxmlformats.org/officeDocument/2006/relationships/notesMaster" Target="/ppt/notesMasters/notesMaster1.xml" Id="R6c05c688397144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d54de98af467d" /><Relationship Type="http://schemas.openxmlformats.org/officeDocument/2006/relationships/notesMaster" Target="/ppt/notesMasters/notesMaster1.xml" Id="R90f7adb5a90149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c526671c6e425f" /><Relationship Type="http://schemas.openxmlformats.org/officeDocument/2006/relationships/notesMaster" Target="/ppt/notesMasters/notesMaster1.xml" Id="Rbd37e73d59b841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5318a556b1453a" /><Relationship Type="http://schemas.openxmlformats.org/officeDocument/2006/relationships/notesMaster" Target="/ppt/notesMasters/notesMaster1.xml" Id="R5c593f3ec4664a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da8fe78d2e4fb0" /><Relationship Type="http://schemas.openxmlformats.org/officeDocument/2006/relationships/notesMaster" Target="/ppt/notesMasters/notesMaster1.xml" Id="R4b06ea739bf14c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e15429bc34d6d" /><Relationship Type="http://schemas.openxmlformats.org/officeDocument/2006/relationships/notesMaster" Target="/ppt/notesMasters/notesMaster1.xml" Id="R88ffb90c54614a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55fe11ba4d4a9d" /><Relationship Type="http://schemas.openxmlformats.org/officeDocument/2006/relationships/notesMaster" Target="/ppt/notesMasters/notesMaster1.xml" Id="R4a3c43449e3d4f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e19207490e4c02" /><Relationship Type="http://schemas.openxmlformats.org/officeDocument/2006/relationships/notesMaster" Target="/ppt/notesMasters/notesMaster1.xml" Id="Ra739c6b0193844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17ee3c73714ab3" /><Relationship Type="http://schemas.openxmlformats.org/officeDocument/2006/relationships/notesMaster" Target="/ppt/notesMasters/notesMaster1.xml" Id="R9c2a092690aa43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c2246405234d71" /><Relationship Type="http://schemas.openxmlformats.org/officeDocument/2006/relationships/notesMaster" Target="/ppt/notesMasters/notesMaster1.xml" Id="Rdb39d37a12dc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a8242619749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4ff1bd53a64a76" /><Relationship Type="http://schemas.openxmlformats.org/officeDocument/2006/relationships/slideLayout" Target="/ppt/slideLayouts/slideLayout1.xml" Id="R93d0c081513d4a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d0c081513d4a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bb26b13cb4fed" /><Relationship Type="http://schemas.openxmlformats.org/officeDocument/2006/relationships/notesSlide" Target="/ppt/notesSlides/notesSlide1.xml" Id="R27addc6ceffa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8ffa0e7a545ff" /><Relationship Type="http://schemas.openxmlformats.org/officeDocument/2006/relationships/notesSlide" Target="/ppt/notesSlides/notesSlide2.xml" Id="R8c1d8022398449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3092e499f4849" /><Relationship Type="http://schemas.openxmlformats.org/officeDocument/2006/relationships/notesSlide" Target="/ppt/notesSlides/notesSlide3.xml" Id="Ra0178f0b631b4a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2a02afd984bc0" /><Relationship Type="http://schemas.openxmlformats.org/officeDocument/2006/relationships/notesSlide" Target="/ppt/notesSlides/notesSlide4.xml" Id="R9963ff50c21e48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586102da24561" /><Relationship Type="http://schemas.openxmlformats.org/officeDocument/2006/relationships/notesSlide" Target="/ppt/notesSlides/notesSlide5.xml" Id="R0a9e2c30aa2c4e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8d17893b84e36" /><Relationship Type="http://schemas.openxmlformats.org/officeDocument/2006/relationships/notesSlide" Target="/ppt/notesSlides/notesSlide6.xml" Id="R2e1bc27811d84e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a3796aa6f4277" /><Relationship Type="http://schemas.openxmlformats.org/officeDocument/2006/relationships/notesSlide" Target="/ppt/notesSlides/notesSlide7.xml" Id="Rf7bb486e7b0c4c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ab83e104c4393" /><Relationship Type="http://schemas.openxmlformats.org/officeDocument/2006/relationships/notesSlide" Target="/ppt/notesSlides/notesSlide8.xml" Id="R3db07703617847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075eefb774fcb" /><Relationship Type="http://schemas.openxmlformats.org/officeDocument/2006/relationships/notesSlide" Target="/ppt/notesSlides/notesSlide9.xml" Id="R1583b2e0246b41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546e6295f453c" /><Relationship Type="http://schemas.openxmlformats.org/officeDocument/2006/relationships/notesSlide" Target="/ppt/notesSlides/notesSlide10.xml" Id="Rf529c826417044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9415d87a64935" /><Relationship Type="http://schemas.openxmlformats.org/officeDocument/2006/relationships/notesSlide" Target="/ppt/notesSlides/notesSlide11.xml" Id="Rb825923ac1be4e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6c9f03aa34d7b" /><Relationship Type="http://schemas.openxmlformats.org/officeDocument/2006/relationships/notesSlide" Target="/ppt/notesSlides/notesSlide12.xml" Id="Rd43203ffdda240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eyebrow">
            <a:extLst xmlns:a="http://schemas.openxmlformats.org/drawingml/2006/main">
              <a:ext uri="{FF2B5EF4-FFF2-40B4-BE49-F238E27FC236}">
                <a16:creationId xmlns:a16="http://schemas.microsoft.com/office/drawing/2014/main" id="{F655B4CD-E85C-4C9F-A5FB-AC358305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FRIENDS &amp; FAMILY</a:t>
            </a:r>
          </a:p>
        </p:txBody>
      </p:sp>
      <p:sp>
        <p:nvSpPr>
          <p:cNvPr id="2" name="s1-draft-label">
            <a:extLst xmlns:a="http://schemas.openxmlformats.org/drawingml/2006/main">
              <a:ext uri="{FF2B5EF4-FFF2-40B4-BE49-F238E27FC236}">
                <a16:creationId xmlns:a16="http://schemas.microsoft.com/office/drawing/2014/main" id="{57FE7B1A-4AD4-4DC8-8D08-BE1B9632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"/>
            <a:ext cx="161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</a:t>
            </a:r>
          </a:p>
        </p:txBody>
      </p:sp>
      <p:sp>
        <p:nvSpPr>
          <p:cNvPr id="3" name="s1-program-label">
            <a:extLst xmlns:a="http://schemas.openxmlformats.org/drawingml/2006/main">
              <a:ext uri="{FF2B5EF4-FFF2-40B4-BE49-F238E27FC236}">
                <a16:creationId xmlns:a16="http://schemas.microsoft.com/office/drawing/2014/main" id="{174FA077-B823-4E7E-854C-F79118E6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287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PROGRAM NAME</a:t>
            </a:r>
          </a:p>
        </p:txBody>
      </p:sp>
      <p:sp>
        <p:nvSpPr>
          <p:cNvPr id="4" name="s1-program-fill-panel">
            <a:extLst xmlns:a="http://schemas.openxmlformats.org/drawingml/2006/main">
              <a:ext uri="{FF2B5EF4-FFF2-40B4-BE49-F238E27FC236}">
                <a16:creationId xmlns:a16="http://schemas.microsoft.com/office/drawing/2014/main" id="{F9CD0E67-C3D4-4F92-999B-C505BE85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5255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-program-fill-text">
            <a:extLst xmlns:a="http://schemas.openxmlformats.org/drawingml/2006/main">
              <a:ext uri="{FF2B5EF4-FFF2-40B4-BE49-F238E27FC236}">
                <a16:creationId xmlns:a16="http://schemas.microsoft.com/office/drawing/2014/main" id="{31E91886-7947-4853-A2AD-12E891B1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39065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6" name="s1-headline">
            <a:extLst xmlns:a="http://schemas.openxmlformats.org/drawingml/2006/main">
              <a:ext uri="{FF2B5EF4-FFF2-40B4-BE49-F238E27FC236}">
                <a16:creationId xmlns:a16="http://schemas.microsoft.com/office/drawing/2014/main" id="{6FA94B1C-D24B-47BD-9F9D-EC95B7A9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904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 rules-based investment process
at an early, transparent stage</a:t>
            </a:r>
          </a:p>
        </p:txBody>
      </p:sp>
      <p:cxnSp>
        <p:nvCxnSpPr>
          <p:cNvPr id="18" name="s1-accent-rule"/>
          <p:cNvCxnSpPr/>
          <p:nvPr/>
        </p:nvCxnSpPr>
        <p:spPr>
          <a:xfrm xmlns:a="http://schemas.openxmlformats.org/drawingml/2006/main">
            <a:off x="7105650" y="4600575"/>
            <a:ext cx="43243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787D0829-2E69-4B54-9640-4F6663E7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6381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Rules tested in advance. Several distinct approaches. Risk shown clearly.</a:t>
            </a:r>
          </a:p>
        </p:txBody>
      </p:sp>
      <p:sp>
        <p:nvSpPr>
          <p:cNvPr id="9" name="s1-goal-label">
            <a:extLst xmlns:a="http://schemas.openxmlformats.org/drawingml/2006/main">
              <a:ext uri="{FF2B5EF4-FFF2-40B4-BE49-F238E27FC236}">
                <a16:creationId xmlns:a16="http://schemas.microsoft.com/office/drawing/2014/main" id="{14833395-3A32-4112-9DBC-D93D0BB2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00750"/>
            <a:ext cx="2857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PURPOSE OF THE INITIAL PHASE</a:t>
            </a:r>
          </a:p>
        </p:txBody>
      </p:sp>
      <p:sp>
        <p:nvSpPr>
          <p:cNvPr id="10" name="s1-goal-fill-panel">
            <a:extLst xmlns:a="http://schemas.openxmlformats.org/drawingml/2006/main">
              <a:ext uri="{FF2B5EF4-FFF2-40B4-BE49-F238E27FC236}">
                <a16:creationId xmlns:a16="http://schemas.microsoft.com/office/drawing/2014/main" id="{D8F9BD79-9BB5-4678-9D15-CB570140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674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-goal-fill-text">
            <a:extLst xmlns:a="http://schemas.openxmlformats.org/drawingml/2006/main">
              <a:ext uri="{FF2B5EF4-FFF2-40B4-BE49-F238E27FC236}">
                <a16:creationId xmlns:a16="http://schemas.microsoft.com/office/drawing/2014/main" id="{AEBF7280-447B-4EC9-A152-21562CDE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055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</p:spTree>
    <p:extLst>
      <p:ext uri="{BB962C8B-B14F-4D97-AF65-F5344CB8AC3E}">
        <p14:creationId xmlns:p14="http://schemas.microsoft.com/office/powerpoint/2010/main" val="1765280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DA52057-7FD1-415E-855E-D85DA075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The portfolio is not built around one prediction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F551C75B-10E3-4E44-BDCE-A8CFC7B3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19200"/>
            <a:ext cx="883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The system is designed to combine separate strategy sleeves, each with its own rules and role. The final portfolio mix still requires completion.</a:t>
            </a:r>
          </a:p>
        </p:txBody>
      </p:sp>
      <p:cxnSp>
        <p:nvCxnSpPr>
          <p:cNvPr id="27" name="s2-divider-1"/>
          <p:cNvCxnSpPr/>
          <p:nvPr/>
        </p:nvCxnSpPr>
        <p:spPr>
          <a:xfrm xmlns:a="http://schemas.openxmlformats.org/drawingml/2006/main">
            <a:off x="4105275" y="2209800"/>
            <a:ext cx="286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s2-divider-2"/>
          <p:cNvCxnSpPr/>
          <p:nvPr/>
        </p:nvCxnSpPr>
        <p:spPr>
          <a:xfrm xmlns:a="http://schemas.openxmlformats.org/drawingml/2006/main">
            <a:off x="8020050" y="2209800"/>
            <a:ext cx="286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s2-01-index">
            <a:extLst xmlns:a="http://schemas.openxmlformats.org/drawingml/2006/main">
              <a:ext uri="{FF2B5EF4-FFF2-40B4-BE49-F238E27FC236}">
                <a16:creationId xmlns:a16="http://schemas.microsoft.com/office/drawing/2014/main" id="{1D1F1CDE-E3CF-433E-A051-61D7DF67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s2-01-title">
            <a:extLst xmlns:a="http://schemas.openxmlformats.org/drawingml/2006/main">
              <a:ext uri="{FF2B5EF4-FFF2-40B4-BE49-F238E27FC236}">
                <a16:creationId xmlns:a16="http://schemas.microsoft.com/office/drawing/2014/main" id="{D1B876CD-62D9-4CCC-B7A9-0139F528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Momentum</a:t>
            </a:r>
          </a:p>
        </p:txBody>
      </p:sp>
      <p:sp>
        <p:nvSpPr>
          <p:cNvPr id="7" name="s2-01-body">
            <a:extLst xmlns:a="http://schemas.openxmlformats.org/drawingml/2006/main">
              <a:ext uri="{FF2B5EF4-FFF2-40B4-BE49-F238E27FC236}">
                <a16:creationId xmlns:a16="http://schemas.microsoft.com/office/drawing/2014/main" id="{28E0AF21-BD5E-4AE7-AAA1-1C84FCEE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Seeks relative strength that develops over time, under explicit selection and risk rules.</a:t>
            </a:r>
          </a:p>
        </p:txBody>
      </p:sp>
      <p:sp>
        <p:nvSpPr>
          <p:cNvPr id="8" name="s2-01-fill-panel">
            <a:extLst xmlns:a="http://schemas.openxmlformats.org/drawingml/2006/main">
              <a:ext uri="{FF2B5EF4-FFF2-40B4-BE49-F238E27FC236}">
                <a16:creationId xmlns:a16="http://schemas.microsoft.com/office/drawing/2014/main" id="{916BA0C0-83CA-4FC2-BE8A-05D9AB5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01-fill-text">
            <a:extLst xmlns:a="http://schemas.openxmlformats.org/drawingml/2006/main">
              <a:ext uri="{FF2B5EF4-FFF2-40B4-BE49-F238E27FC236}">
                <a16:creationId xmlns:a16="http://schemas.microsoft.com/office/drawing/2014/main" id="{9AB8B251-50D1-4DCF-AE87-D7C259B9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0" name="s2-01-fill-label">
            <a:extLst xmlns:a="http://schemas.openxmlformats.org/drawingml/2006/main">
              <a:ext uri="{FF2B5EF4-FFF2-40B4-BE49-F238E27FC236}">
                <a16:creationId xmlns:a16="http://schemas.microsoft.com/office/drawing/2014/main" id="{7D005A0E-9BF1-42C3-AD9D-887ECFBE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FINAL STRATEGY AND WEIGHT</a:t>
            </a:r>
          </a:p>
        </p:txBody>
      </p:sp>
      <p:sp>
        <p:nvSpPr>
          <p:cNvPr id="11" name="s2-02-index">
            <a:extLst xmlns:a="http://schemas.openxmlformats.org/drawingml/2006/main">
              <a:ext uri="{FF2B5EF4-FFF2-40B4-BE49-F238E27FC236}">
                <a16:creationId xmlns:a16="http://schemas.microsoft.com/office/drawing/2014/main" id="{D781A960-03F1-43C0-8D4A-1C7CCE19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s2-02-title">
            <a:extLst xmlns:a="http://schemas.openxmlformats.org/drawingml/2006/main">
              <a:ext uri="{FF2B5EF4-FFF2-40B4-BE49-F238E27FC236}">
                <a16:creationId xmlns:a16="http://schemas.microsoft.com/office/drawing/2014/main" id="{0D2F7B5B-1231-42D4-A3E1-42AE4E4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Mean reversion</a:t>
            </a:r>
          </a:p>
        </p:txBody>
      </p:sp>
      <p:sp>
        <p:nvSpPr>
          <p:cNvPr id="13" name="s2-02-body">
            <a:extLst xmlns:a="http://schemas.openxmlformats.org/drawingml/2006/main">
              <a:ext uri="{FF2B5EF4-FFF2-40B4-BE49-F238E27FC236}">
                <a16:creationId xmlns:a16="http://schemas.microsoft.com/office/drawing/2014/main" id="{5495CBD0-BCB3-4487-872A-F09F2EFE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Seeks short-lived extreme moves without assuming that every decline must reverse.</a:t>
            </a:r>
          </a:p>
        </p:txBody>
      </p:sp>
      <p:sp>
        <p:nvSpPr>
          <p:cNvPr id="14" name="s2-02-fill-panel">
            <a:extLst xmlns:a="http://schemas.openxmlformats.org/drawingml/2006/main">
              <a:ext uri="{FF2B5EF4-FFF2-40B4-BE49-F238E27FC236}">
                <a16:creationId xmlns:a16="http://schemas.microsoft.com/office/drawing/2014/main" id="{276584F7-E15D-4B99-BC29-447F4E4B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02-fill-text">
            <a:extLst xmlns:a="http://schemas.openxmlformats.org/drawingml/2006/main">
              <a:ext uri="{FF2B5EF4-FFF2-40B4-BE49-F238E27FC236}">
                <a16:creationId xmlns:a16="http://schemas.microsoft.com/office/drawing/2014/main" id="{F4FF5114-58FE-4AA1-9009-C7C16E7D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6" name="s2-02-fill-label">
            <a:extLst xmlns:a="http://schemas.openxmlformats.org/drawingml/2006/main">
              <a:ext uri="{FF2B5EF4-FFF2-40B4-BE49-F238E27FC236}">
                <a16:creationId xmlns:a16="http://schemas.microsoft.com/office/drawing/2014/main" id="{AB7BFC63-E559-4866-A066-6CB99D17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FINAL STRATEGY AND WEIGHT</a:t>
            </a:r>
          </a:p>
        </p:txBody>
      </p:sp>
      <p:sp>
        <p:nvSpPr>
          <p:cNvPr id="17" name="s2-03-index">
            <a:extLst xmlns:a="http://schemas.openxmlformats.org/drawingml/2006/main">
              <a:ext uri="{FF2B5EF4-FFF2-40B4-BE49-F238E27FC236}">
                <a16:creationId xmlns:a16="http://schemas.microsoft.com/office/drawing/2014/main" id="{4E5C9BFB-F9F1-47A4-A8CA-94E33ED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s2-03-title">
            <a:extLst xmlns:a="http://schemas.openxmlformats.org/drawingml/2006/main">
              <a:ext uri="{FF2B5EF4-FFF2-40B4-BE49-F238E27FC236}">
                <a16:creationId xmlns:a16="http://schemas.microsoft.com/office/drawing/2014/main" id="{DA64C8C3-BB0E-478A-A010-7310EB2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Tactical allocation</a:t>
            </a:r>
          </a:p>
        </p:txBody>
      </p:sp>
      <p:sp>
        <p:nvSpPr>
          <p:cNvPr id="19" name="s2-03-body">
            <a:extLst xmlns:a="http://schemas.openxmlformats.org/drawingml/2006/main">
              <a:ext uri="{FF2B5EF4-FFF2-40B4-BE49-F238E27FC236}">
                <a16:creationId xmlns:a16="http://schemas.microsoft.com/office/drawing/2014/main" id="{E3CC6226-76EA-4984-ACA4-5D2401BE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Changes exposure across assets using fixed rules and defined market conditions.</a:t>
            </a:r>
          </a:p>
        </p:txBody>
      </p:sp>
      <p:sp>
        <p:nvSpPr>
          <p:cNvPr id="20" name="s2-03-fill-panel">
            <a:extLst xmlns:a="http://schemas.openxmlformats.org/drawingml/2006/main">
              <a:ext uri="{FF2B5EF4-FFF2-40B4-BE49-F238E27FC236}">
                <a16:creationId xmlns:a16="http://schemas.microsoft.com/office/drawing/2014/main" id="{036BEC5F-7F73-4125-AAD3-200A89B4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03-fill-text">
            <a:extLst xmlns:a="http://schemas.openxmlformats.org/drawingml/2006/main">
              <a:ext uri="{FF2B5EF4-FFF2-40B4-BE49-F238E27FC236}">
                <a16:creationId xmlns:a16="http://schemas.microsoft.com/office/drawing/2014/main" id="{8B4D1EBD-CFC5-4899-8830-603C562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2" name="s2-03-fill-label">
            <a:extLst xmlns:a="http://schemas.openxmlformats.org/drawingml/2006/main">
              <a:ext uri="{FF2B5EF4-FFF2-40B4-BE49-F238E27FC236}">
                <a16:creationId xmlns:a16="http://schemas.microsoft.com/office/drawing/2014/main" id="{CA48BD1D-FF43-4C73-8255-B194BFD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FINAL STRATEGY AND WEIGHT</a:t>
            </a:r>
          </a:p>
        </p:txBody>
      </p:sp>
      <p:sp>
        <p:nvSpPr>
          <p:cNvPr id="23" name="slide-2-draft-footer">
            <a:extLst xmlns:a="http://schemas.openxmlformats.org/drawingml/2006/main">
              <a:ext uri="{FF2B5EF4-FFF2-40B4-BE49-F238E27FC236}">
                <a16:creationId xmlns:a16="http://schemas.microsoft.com/office/drawing/2014/main" id="{EC19A51A-6B5C-4BFB-B84B-A2C91C39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4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7F32B043-C373-46D5-8EEE-A49CBB2B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4581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3D78E00-D7EB-47BD-AE98-4F9121A4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Built to expand market by market</a:t>
            </a:r>
          </a:p>
        </p:txBody>
      </p:sp>
      <p:sp>
        <p:nvSpPr>
          <p:cNvPr id="2" name="s-market-intro">
            <a:extLst xmlns:a="http://schemas.openxmlformats.org/drawingml/2006/main">
              <a:ext uri="{FF2B5EF4-FFF2-40B4-BE49-F238E27FC236}">
                <a16:creationId xmlns:a16="http://schemas.microsoft.com/office/drawing/2014/main" id="{9F746EC4-78C1-47A4-97C6-84D6F354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00150"/>
            <a:ext cx="893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The goal is to broaden the opportunity set over time. Today the platform is U.S.-focused; each new market must pass its own data, cost, liquidity and execution checks.</a:t>
            </a:r>
          </a:p>
        </p:txBody>
      </p:sp>
      <p:sp>
        <p:nvSpPr>
          <p:cNvPr id="3" name="s-market-01-panel">
            <a:extLst xmlns:a="http://schemas.openxmlformats.org/drawingml/2006/main">
              <a:ext uri="{FF2B5EF4-FFF2-40B4-BE49-F238E27FC236}">
                <a16:creationId xmlns:a16="http://schemas.microsoft.com/office/drawing/2014/main" id="{AAAB9B9C-4D95-4BF6-B232-0EDE1306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-market-01-number">
            <a:extLst xmlns:a="http://schemas.openxmlformats.org/drawingml/2006/main">
              <a:ext uri="{FF2B5EF4-FFF2-40B4-BE49-F238E27FC236}">
                <a16:creationId xmlns:a16="http://schemas.microsoft.com/office/drawing/2014/main" id="{EB4D7299-B6B3-48B1-9EC9-1D60188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145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s-market-01-stage">
            <a:extLst xmlns:a="http://schemas.openxmlformats.org/drawingml/2006/main">
              <a:ext uri="{FF2B5EF4-FFF2-40B4-BE49-F238E27FC236}">
                <a16:creationId xmlns:a16="http://schemas.microsoft.com/office/drawing/2014/main" id="{408D3518-E6C1-417A-8DBA-1939C521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TODAY</a:t>
            </a:r>
          </a:p>
        </p:txBody>
      </p:sp>
      <p:sp>
        <p:nvSpPr>
          <p:cNvPr id="6" name="s-market-01-title">
            <a:extLst xmlns:a="http://schemas.openxmlformats.org/drawingml/2006/main">
              <a:ext uri="{FF2B5EF4-FFF2-40B4-BE49-F238E27FC236}">
                <a16:creationId xmlns:a16="http://schemas.microsoft.com/office/drawing/2014/main" id="{7198C9D2-0022-4FFD-BD3E-6798A614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United States</a:t>
            </a:r>
          </a:p>
        </p:txBody>
      </p:sp>
      <p:sp>
        <p:nvSpPr>
          <p:cNvPr id="7" name="s-market-01-body">
            <a:extLst xmlns:a="http://schemas.openxmlformats.org/drawingml/2006/main">
              <a:ext uri="{FF2B5EF4-FFF2-40B4-BE49-F238E27FC236}">
                <a16:creationId xmlns:a16="http://schemas.microsoft.com/office/drawing/2014/main" id="{0DD203B9-62B7-4211-A43D-101B3740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9950"/>
            <a:ext cx="2914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Current research and investment activity focus on U.S. markets.</a:t>
            </a:r>
          </a:p>
        </p:txBody>
      </p:sp>
      <p:sp>
        <p:nvSpPr>
          <p:cNvPr id="8" name="s-market-01-note">
            <a:extLst xmlns:a="http://schemas.openxmlformats.org/drawingml/2006/main">
              <a:ext uri="{FF2B5EF4-FFF2-40B4-BE49-F238E27FC236}">
                <a16:creationId xmlns:a16="http://schemas.microsoft.com/office/drawing/2014/main" id="{625F7B34-760E-43E4-BD40-A5D7182B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Current market foundation</a:t>
            </a:r>
          </a:p>
        </p:txBody>
      </p:sp>
      <p:sp>
        <p:nvSpPr>
          <p:cNvPr id="9" name="s-market-02-panel">
            <a:extLst xmlns:a="http://schemas.openxmlformats.org/drawingml/2006/main">
              <a:ext uri="{FF2B5EF4-FFF2-40B4-BE49-F238E27FC236}">
                <a16:creationId xmlns:a16="http://schemas.microsoft.com/office/drawing/2014/main" id="{9E5435B2-BF73-4FC8-A041-44C8CD3A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8595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-market-02-number">
            <a:extLst xmlns:a="http://schemas.openxmlformats.org/drawingml/2006/main">
              <a:ext uri="{FF2B5EF4-FFF2-40B4-BE49-F238E27FC236}">
                <a16:creationId xmlns:a16="http://schemas.microsoft.com/office/drawing/2014/main" id="{97BFB663-4C08-4E8A-8F9B-A722039F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145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s-market-02-stage">
            <a:extLst xmlns:a="http://schemas.openxmlformats.org/drawingml/2006/main">
              <a:ext uri="{FF2B5EF4-FFF2-40B4-BE49-F238E27FC236}">
                <a16:creationId xmlns:a16="http://schemas.microsoft.com/office/drawing/2014/main" id="{3EC5F9DE-0B9A-4762-9290-606B603B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526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NEXT</a:t>
            </a:r>
          </a:p>
        </p:txBody>
      </p:sp>
      <p:sp>
        <p:nvSpPr>
          <p:cNvPr id="12" name="s-market-02-title">
            <a:extLst xmlns:a="http://schemas.openxmlformats.org/drawingml/2006/main">
              <a:ext uri="{FF2B5EF4-FFF2-40B4-BE49-F238E27FC236}">
                <a16:creationId xmlns:a16="http://schemas.microsoft.com/office/drawing/2014/main" id="{B7FA5311-7BCA-4008-8954-70DB61FB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2415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Canada &amp; Australia</a:t>
            </a:r>
          </a:p>
        </p:txBody>
      </p:sp>
      <p:sp>
        <p:nvSpPr>
          <p:cNvPr id="13" name="s-market-02-body">
            <a:extLst xmlns:a="http://schemas.openxmlformats.org/drawingml/2006/main">
              <a:ext uri="{FF2B5EF4-FFF2-40B4-BE49-F238E27FC236}">
                <a16:creationId xmlns:a16="http://schemas.microsoft.com/office/drawing/2014/main" id="{7E6D10BB-985B-431B-9CFA-7CF9501B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9950"/>
            <a:ext cx="2914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7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Suitable market data is available. Strategies, costs, currencies and execution must still be validated before capital is deployed.</a:t>
            </a:r>
          </a:p>
        </p:txBody>
      </p:sp>
      <p:sp>
        <p:nvSpPr>
          <p:cNvPr id="14" name="s-market-02-note">
            <a:extLst xmlns:a="http://schemas.openxmlformats.org/drawingml/2006/main">
              <a:ext uri="{FF2B5EF4-FFF2-40B4-BE49-F238E27FC236}">
                <a16:creationId xmlns:a16="http://schemas.microsoft.com/office/drawing/2014/main" id="{1B4F60ED-340D-48CB-8E35-B2ABAE75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672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Data access exists; deployment is future work</a:t>
            </a:r>
          </a:p>
        </p:txBody>
      </p:sp>
      <p:sp>
        <p:nvSpPr>
          <p:cNvPr id="15" name="s-market-03-panel">
            <a:extLst xmlns:a="http://schemas.openxmlformats.org/drawingml/2006/main">
              <a:ext uri="{FF2B5EF4-FFF2-40B4-BE49-F238E27FC236}">
                <a16:creationId xmlns:a16="http://schemas.microsoft.com/office/drawing/2014/main" id="{40F0E0C8-BA9B-4A75-A6D2-413B86CC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-market-03-number">
            <a:extLst xmlns:a="http://schemas.openxmlformats.org/drawingml/2006/main">
              <a:ext uri="{FF2B5EF4-FFF2-40B4-BE49-F238E27FC236}">
                <a16:creationId xmlns:a16="http://schemas.microsoft.com/office/drawing/2014/main" id="{7FCFF888-ED19-4470-A2A2-396E6CB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1145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s-market-03-stage">
            <a:extLst xmlns:a="http://schemas.openxmlformats.org/drawingml/2006/main">
              <a:ext uri="{FF2B5EF4-FFF2-40B4-BE49-F238E27FC236}">
                <a16:creationId xmlns:a16="http://schemas.microsoft.com/office/drawing/2014/main" id="{6918A6CB-45E2-4968-8E8F-BEA4BD28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STRATEGIC RESEARCH TARGET</a:t>
            </a:r>
          </a:p>
        </p:txBody>
      </p:sp>
      <p:sp>
        <p:nvSpPr>
          <p:cNvPr id="18" name="s-market-03-title">
            <a:extLst xmlns:a="http://schemas.openxmlformats.org/drawingml/2006/main">
              <a:ext uri="{FF2B5EF4-FFF2-40B4-BE49-F238E27FC236}">
                <a16:creationId xmlns:a16="http://schemas.microsoft.com/office/drawing/2014/main" id="{3428A5A1-215D-46B8-BDCC-B618E8D1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Israel</a:t>
            </a:r>
          </a:p>
        </p:txBody>
      </p:sp>
      <p:sp>
        <p:nvSpPr>
          <p:cNvPr id="19" name="s-market-03-body">
            <a:extLst xmlns:a="http://schemas.openxmlformats.org/drawingml/2006/main">
              <a:ext uri="{FF2B5EF4-FFF2-40B4-BE49-F238E27FC236}">
                <a16:creationId xmlns:a16="http://schemas.microsoft.com/office/drawing/2014/main" id="{CF9543B9-B149-4D5C-8837-F8CC893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2914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 dedicated research database is being built for the Israeli market. It is not yet a live-ready dataset or execution path.</a:t>
            </a:r>
          </a:p>
        </p:txBody>
      </p:sp>
      <p:sp>
        <p:nvSpPr>
          <p:cNvPr id="20" name="s-market-03-note">
            <a:extLst xmlns:a="http://schemas.openxmlformats.org/drawingml/2006/main">
              <a:ext uri="{FF2B5EF4-FFF2-40B4-BE49-F238E27FC236}">
                <a16:creationId xmlns:a16="http://schemas.microsoft.com/office/drawing/2014/main" id="{6C131BC7-954E-4987-A596-6984044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Research data infrastructure under construction</a:t>
            </a:r>
          </a:p>
        </p:txBody>
      </p:sp>
      <p:sp>
        <p:nvSpPr>
          <p:cNvPr id="21" name="s-market-honesty-panel">
            <a:extLst xmlns:a="http://schemas.openxmlformats.org/drawingml/2006/main">
              <a:ext uri="{FF2B5EF4-FFF2-40B4-BE49-F238E27FC236}">
                <a16:creationId xmlns:a16="http://schemas.microsoft.com/office/drawing/2014/main" id="{29782699-8CE1-44CC-97CD-0C96F053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-market-honesty">
            <a:extLst xmlns:a="http://schemas.openxmlformats.org/drawingml/2006/main">
              <a:ext uri="{FF2B5EF4-FFF2-40B4-BE49-F238E27FC236}">
                <a16:creationId xmlns:a16="http://schemas.microsoft.com/office/drawing/2014/main" id="{B897E598-BC3F-43F9-AC7E-2E40C0D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This is a research and infrastructure roadmap—not current geographic portfolio exposure.</a:t>
            </a:r>
          </a:p>
        </p:txBody>
      </p:sp>
      <p:sp>
        <p:nvSpPr>
          <p:cNvPr id="23" name="slide-3-draft-footer">
            <a:extLst xmlns:a="http://schemas.openxmlformats.org/drawingml/2006/main">
              <a:ext uri="{FF2B5EF4-FFF2-40B4-BE49-F238E27FC236}">
                <a16:creationId xmlns:a16="http://schemas.microsoft.com/office/drawing/2014/main" id="{12C0962D-129E-4905-92E5-A8EF1CE6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4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6F608372-008F-4740-AA6B-F578777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3298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300DC62-8DEC-40FC-9440-BF609318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Trust starts with the person in charge</a:t>
            </a:r>
          </a:p>
        </p:txBody>
      </p:sp>
      <p:sp>
        <p:nvSpPr>
          <p:cNvPr id="2" name="s3-photo-placeholder">
            <a:extLst xmlns:a="http://schemas.openxmlformats.org/drawingml/2006/main">
              <a:ext uri="{FF2B5EF4-FFF2-40B4-BE49-F238E27FC236}">
                <a16:creationId xmlns:a16="http://schemas.microsoft.com/office/drawing/2014/main" id="{A16BE7D8-54C7-45D2-83D1-C313AFF9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47625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3-photo-fill">
            <a:extLst xmlns:a="http://schemas.openxmlformats.org/drawingml/2006/main">
              <a:ext uri="{FF2B5EF4-FFF2-40B4-BE49-F238E27FC236}">
                <a16:creationId xmlns:a16="http://schemas.microsoft.com/office/drawing/2014/main" id="{F5DE86B9-6E11-42DF-ABA6-B46A67EF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4" name="s3-photo-label">
            <a:extLst xmlns:a="http://schemas.openxmlformats.org/drawingml/2006/main">
              <a:ext uri="{FF2B5EF4-FFF2-40B4-BE49-F238E27FC236}">
                <a16:creationId xmlns:a16="http://schemas.microsoft.com/office/drawing/2014/main" id="{F52511B1-457C-4AA8-9ECB-75A1FE3A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FOUNDER PHOTO</a:t>
            </a:r>
          </a:p>
        </p:txBody>
      </p:sp>
      <p:sp>
        <p:nvSpPr>
          <p:cNvPr id="5" name="s3-row-0-label">
            <a:extLst xmlns:a="http://schemas.openxmlformats.org/drawingml/2006/main">
              <a:ext uri="{FF2B5EF4-FFF2-40B4-BE49-F238E27FC236}">
                <a16:creationId xmlns:a16="http://schemas.microsoft.com/office/drawing/2014/main" id="{8948FE19-A83D-4A46-A2E7-2D6207BE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FOUNDER NAME AND ROLE</a:t>
            </a:r>
          </a:p>
        </p:txBody>
      </p:sp>
      <p:sp>
        <p:nvSpPr>
          <p:cNvPr id="6" name="s3-row-0-fill-panel">
            <a:extLst xmlns:a="http://schemas.openxmlformats.org/drawingml/2006/main">
              <a:ext uri="{FF2B5EF4-FFF2-40B4-BE49-F238E27FC236}">
                <a16:creationId xmlns:a16="http://schemas.microsoft.com/office/drawing/2014/main" id="{69CC01D9-48F7-495F-8235-757B9E53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1930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row-0-fill-text">
            <a:extLst xmlns:a="http://schemas.openxmlformats.org/drawingml/2006/main">
              <a:ext uri="{FF2B5EF4-FFF2-40B4-BE49-F238E27FC236}">
                <a16:creationId xmlns:a16="http://schemas.microsoft.com/office/drawing/2014/main" id="{A27247CF-3E53-4954-B4A7-97C905F5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5740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2" name="s3-row-0-rule"/>
          <p:cNvCxnSpPr/>
          <p:nvPr/>
        </p:nvCxnSpPr>
        <p:spPr>
          <a:xfrm xmlns:a="http://schemas.openxmlformats.org/drawingml/2006/main">
            <a:off x="6429375" y="243840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s3-row-1-label">
            <a:extLst xmlns:a="http://schemas.openxmlformats.org/drawingml/2006/main">
              <a:ext uri="{FF2B5EF4-FFF2-40B4-BE49-F238E27FC236}">
                <a16:creationId xmlns:a16="http://schemas.microsoft.com/office/drawing/2014/main" id="{CE0B354F-9FA6-498A-993C-0D65B222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RELEVANT BACKGROUND AND EXPERIENCE</a:t>
            </a:r>
          </a:p>
        </p:txBody>
      </p:sp>
      <p:sp>
        <p:nvSpPr>
          <p:cNvPr id="10" name="s3-row-1-fill-panel">
            <a:extLst xmlns:a="http://schemas.openxmlformats.org/drawingml/2006/main">
              <a:ext uri="{FF2B5EF4-FFF2-40B4-BE49-F238E27FC236}">
                <a16:creationId xmlns:a16="http://schemas.microsoft.com/office/drawing/2014/main" id="{02C88891-425A-4549-9C79-CCFACFC8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row-1-fill-text">
            <a:extLst xmlns:a="http://schemas.openxmlformats.org/drawingml/2006/main">
              <a:ext uri="{FF2B5EF4-FFF2-40B4-BE49-F238E27FC236}">
                <a16:creationId xmlns:a16="http://schemas.microsoft.com/office/drawing/2014/main" id="{A9506BB2-02B7-42FF-9F6A-DBF6A2CB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146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6" name="s3-row-1-rule"/>
          <p:cNvCxnSpPr/>
          <p:nvPr/>
        </p:nvCxnSpPr>
        <p:spPr>
          <a:xfrm xmlns:a="http://schemas.openxmlformats.org/drawingml/2006/main">
            <a:off x="6429375" y="329565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s3-row-2-label">
            <a:extLst xmlns:a="http://schemas.openxmlformats.org/drawingml/2006/main">
              <a:ext uri="{FF2B5EF4-FFF2-40B4-BE49-F238E27FC236}">
                <a16:creationId xmlns:a16="http://schemas.microsoft.com/office/drawing/2014/main" id="{F05B2961-6DFA-4C54-A478-FF43F14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PERSONAL CAPITAL INVESTED ALONGSIDE PARTNERS</a:t>
            </a:r>
          </a:p>
        </p:txBody>
      </p:sp>
      <p:sp>
        <p:nvSpPr>
          <p:cNvPr id="14" name="s3-row-2-fill-panel">
            <a:extLst xmlns:a="http://schemas.openxmlformats.org/drawingml/2006/main">
              <a:ext uri="{FF2B5EF4-FFF2-40B4-BE49-F238E27FC236}">
                <a16:creationId xmlns:a16="http://schemas.microsoft.com/office/drawing/2014/main" id="{03101D47-DA27-49D8-905B-4847BB5B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3380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row-2-fill-text">
            <a:extLst xmlns:a="http://schemas.openxmlformats.org/drawingml/2006/main">
              <a:ext uri="{FF2B5EF4-FFF2-40B4-BE49-F238E27FC236}">
                <a16:creationId xmlns:a16="http://schemas.microsoft.com/office/drawing/2014/main" id="{AA0D83D6-A99F-498B-B0E0-CCC45F87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7190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0" name="s3-row-2-rule"/>
          <p:cNvCxnSpPr/>
          <p:nvPr/>
        </p:nvCxnSpPr>
        <p:spPr>
          <a:xfrm xmlns:a="http://schemas.openxmlformats.org/drawingml/2006/main">
            <a:off x="6429375" y="415290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3-row-3-label">
            <a:extLst xmlns:a="http://schemas.openxmlformats.org/drawingml/2006/main">
              <a:ext uri="{FF2B5EF4-FFF2-40B4-BE49-F238E27FC236}">
                <a16:creationId xmlns:a16="http://schemas.microsoft.com/office/drawing/2014/main" id="{4F3B9857-9F87-4E8C-8F2B-43F24F7C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REAL-MONEY ACCOUNT OPERATING SINCE</a:t>
            </a:r>
          </a:p>
        </p:txBody>
      </p:sp>
      <p:sp>
        <p:nvSpPr>
          <p:cNvPr id="18" name="s3-row-3-fill-panel">
            <a:extLst xmlns:a="http://schemas.openxmlformats.org/drawingml/2006/main">
              <a:ext uri="{FF2B5EF4-FFF2-40B4-BE49-F238E27FC236}">
                <a16:creationId xmlns:a16="http://schemas.microsoft.com/office/drawing/2014/main" id="{CFAFBB40-A180-4B50-BA50-243F6E06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910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row-3-fill-text">
            <a:extLst xmlns:a="http://schemas.openxmlformats.org/drawingml/2006/main">
              <a:ext uri="{FF2B5EF4-FFF2-40B4-BE49-F238E27FC236}">
                <a16:creationId xmlns:a16="http://schemas.microsoft.com/office/drawing/2014/main" id="{EA4C505A-C8B1-48A7-A936-031BD519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291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4" name="s3-row-3-rule"/>
          <p:cNvCxnSpPr/>
          <p:nvPr/>
        </p:nvCxnSpPr>
        <p:spPr>
          <a:xfrm xmlns:a="http://schemas.openxmlformats.org/drawingml/2006/main">
            <a:off x="6429375" y="501015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s3-commitment-panel">
            <a:extLst xmlns:a="http://schemas.openxmlformats.org/drawingml/2006/main">
              <a:ext uri="{FF2B5EF4-FFF2-40B4-BE49-F238E27FC236}">
                <a16:creationId xmlns:a16="http://schemas.microsoft.com/office/drawing/2014/main" id="{BEE5EAC8-F6AD-468E-9459-BFE105A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55340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3-commitment">
            <a:extLst xmlns:a="http://schemas.openxmlformats.org/drawingml/2006/main">
              <a:ext uri="{FF2B5EF4-FFF2-40B4-BE49-F238E27FC236}">
                <a16:creationId xmlns:a16="http://schemas.microsoft.com/office/drawing/2014/main" id="{337477CA-0F12-4D17-80A4-18972023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51149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The commitment: explain what was done, what worked, what did not—and what changed.</a:t>
            </a:r>
          </a:p>
        </p:txBody>
      </p:sp>
      <p:sp>
        <p:nvSpPr>
          <p:cNvPr id="23" name="slide-4-draft-footer">
            <a:extLst xmlns:a="http://schemas.openxmlformats.org/drawingml/2006/main">
              <a:ext uri="{FF2B5EF4-FFF2-40B4-BE49-F238E27FC236}">
                <a16:creationId xmlns:a16="http://schemas.microsoft.com/office/drawing/2014/main" id="{4DEF6688-A133-490C-9D6A-5C03F82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4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1F33693A-B463-4CDE-B7CB-80118889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2799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CD694CF-44C4-40C5-8753-A89BE733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An edge is repeatable—not a prediction</a:t>
            </a:r>
          </a:p>
        </p:txBody>
      </p:sp>
      <p:cxnSp>
        <p:nvCxnSpPr>
          <p:cNvPr id="21" name="s4-center-rule"/>
          <p:cNvCxnSpPr/>
          <p:nvPr/>
        </p:nvCxnSpPr>
        <p:spPr>
          <a:xfrm xmlns:a="http://schemas.openxmlformats.org/drawingml/2006/main">
            <a:off x="6096000" y="1666875"/>
            <a:ext cx="286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4-principle-label">
            <a:extLst xmlns:a="http://schemas.openxmlformats.org/drawingml/2006/main">
              <a:ext uri="{FF2B5EF4-FFF2-40B4-BE49-F238E27FC236}">
                <a16:creationId xmlns:a16="http://schemas.microsoft.com/office/drawing/2014/main" id="{326B5A33-FD7F-40A3-A2D9-1DF9341F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4876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THE IDEA</a:t>
            </a:r>
          </a:p>
        </p:txBody>
      </p:sp>
      <p:sp>
        <p:nvSpPr>
          <p:cNvPr id="4" name="s4-principle-main">
            <a:extLst xmlns:a="http://schemas.openxmlformats.org/drawingml/2006/main">
              <a:ext uri="{FF2B5EF4-FFF2-40B4-BE49-F238E27FC236}">
                <a16:creationId xmlns:a16="http://schemas.microsoft.com/office/drawing/2014/main" id="{CCD2D9D4-71E0-4FA7-B953-53EA891F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8768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Assets that have shown relative strength can sometimes continue to lead for a period. This behavior is called momentum.</a:t>
            </a:r>
          </a:p>
        </p:txBody>
      </p:sp>
      <p:sp>
        <p:nvSpPr>
          <p:cNvPr id="5" name="s4-principle-caveat">
            <a:extLst xmlns:a="http://schemas.openxmlformats.org/drawingml/2006/main">
              <a:ext uri="{FF2B5EF4-FFF2-40B4-BE49-F238E27FC236}">
                <a16:creationId xmlns:a16="http://schemas.microsoft.com/office/drawing/2014/main" id="{B86CA3C4-E171-48E3-8C49-159018C2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876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It is not a law, and it does not work in every market period.</a:t>
            </a:r>
          </a:p>
        </p:txBody>
      </p:sp>
      <p:sp>
        <p:nvSpPr>
          <p:cNvPr id="6" name="s4-test-label">
            <a:extLst xmlns:a="http://schemas.openxmlformats.org/drawingml/2006/main">
              <a:ext uri="{FF2B5EF4-FFF2-40B4-BE49-F238E27FC236}">
                <a16:creationId xmlns:a16="http://schemas.microsoft.com/office/drawing/2014/main" id="{23A6CB08-E1D3-4438-8437-3C6A6315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76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HOW WE TEST IT</a:t>
            </a:r>
          </a:p>
        </p:txBody>
      </p:sp>
      <p:sp>
        <p:nvSpPr>
          <p:cNvPr id="7" name="s4-test-0-check">
            <a:extLst xmlns:a="http://schemas.openxmlformats.org/drawingml/2006/main">
              <a:ext uri="{FF2B5EF4-FFF2-40B4-BE49-F238E27FC236}">
                <a16:creationId xmlns:a16="http://schemas.microsoft.com/office/drawing/2014/main" id="{EAF055F0-ED89-478F-B73E-B62ECC51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s4-test-0-text">
            <a:extLst xmlns:a="http://schemas.openxmlformats.org/drawingml/2006/main">
              <a:ext uri="{FF2B5EF4-FFF2-40B4-BE49-F238E27FC236}">
                <a16:creationId xmlns:a16="http://schemas.microsoft.com/office/drawing/2014/main" id="{FDF99477-A9DD-4DC3-B5A0-01511F8E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When the behavior appeared—and when it failed</a:t>
            </a:r>
          </a:p>
        </p:txBody>
      </p:sp>
      <p:sp>
        <p:nvSpPr>
          <p:cNvPr id="9" name="s4-test-1-check">
            <a:extLst xmlns:a="http://schemas.openxmlformats.org/drawingml/2006/main">
              <a:ext uri="{FF2B5EF4-FFF2-40B4-BE49-F238E27FC236}">
                <a16:creationId xmlns:a16="http://schemas.microsoft.com/office/drawing/2014/main" id="{79D7A55A-4349-4C12-A944-C699AC9D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0" name="s4-test-1-text">
            <a:extLst xmlns:a="http://schemas.openxmlformats.org/drawingml/2006/main">
              <a:ext uri="{FF2B5EF4-FFF2-40B4-BE49-F238E27FC236}">
                <a16:creationId xmlns:a16="http://schemas.microsoft.com/office/drawing/2014/main" id="{80237E7B-0EE7-4185-A08F-84ACFAB1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Whether it survives realistic trading costs</a:t>
            </a:r>
          </a:p>
        </p:txBody>
      </p:sp>
      <p:sp>
        <p:nvSpPr>
          <p:cNvPr id="11" name="s4-test-2-check">
            <a:extLst xmlns:a="http://schemas.openxmlformats.org/drawingml/2006/main">
              <a:ext uri="{FF2B5EF4-FFF2-40B4-BE49-F238E27FC236}">
                <a16:creationId xmlns:a16="http://schemas.microsoft.com/office/drawing/2014/main" id="{2F17B23B-F410-45B4-9229-62AAB8AB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s4-test-2-text">
            <a:extLst xmlns:a="http://schemas.openxmlformats.org/drawingml/2006/main">
              <a:ext uri="{FF2B5EF4-FFF2-40B4-BE49-F238E27FC236}">
                <a16:creationId xmlns:a16="http://schemas.microsoft.com/office/drawing/2014/main" id="{E2BFFD33-E306-4E79-9C72-B3327AD7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Whether one unusual period drives the result</a:t>
            </a:r>
          </a:p>
        </p:txBody>
      </p:sp>
      <p:sp>
        <p:nvSpPr>
          <p:cNvPr id="13" name="s4-test-3-check">
            <a:extLst xmlns:a="http://schemas.openxmlformats.org/drawingml/2006/main">
              <a:ext uri="{FF2B5EF4-FFF2-40B4-BE49-F238E27FC236}">
                <a16:creationId xmlns:a16="http://schemas.microsoft.com/office/drawing/2014/main" id="{4F432232-BBDE-41B7-81F9-4C98FFD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4" name="s4-test-3-text">
            <a:extLst xmlns:a="http://schemas.openxmlformats.org/drawingml/2006/main">
              <a:ext uri="{FF2B5EF4-FFF2-40B4-BE49-F238E27FC236}">
                <a16:creationId xmlns:a16="http://schemas.microsoft.com/office/drawing/2014/main" id="{AAAC5F7A-5839-483C-A90F-76E21247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Whether it adds value inside the full portfolio</a:t>
            </a:r>
          </a:p>
        </p:txBody>
      </p:sp>
      <p:sp>
        <p:nvSpPr>
          <p:cNvPr id="15" name="s4-bottom-callout">
            <a:extLst xmlns:a="http://schemas.openxmlformats.org/drawingml/2006/main">
              <a:ext uri="{FF2B5EF4-FFF2-40B4-BE49-F238E27FC236}">
                <a16:creationId xmlns:a16="http://schemas.microsoft.com/office/drawing/2014/main" id="{952C77F6-6054-4967-9214-BA06715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11410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bottom-text">
            <a:extLst xmlns:a="http://schemas.openxmlformats.org/drawingml/2006/main">
              <a:ext uri="{FF2B5EF4-FFF2-40B4-BE49-F238E27FC236}">
                <a16:creationId xmlns:a16="http://schemas.microsoft.com/office/drawing/2014/main" id="{9F091151-3F24-47A8-BCC4-93233CF1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We do not chase what went up. We apply a consistent rule—only after testing it.</a:t>
            </a:r>
          </a:p>
        </p:txBody>
      </p:sp>
      <p:sp>
        <p:nvSpPr>
          <p:cNvPr id="17" name="s4-source">
            <a:extLst xmlns:a="http://schemas.openxmlformats.org/drawingml/2006/main">
              <a:ext uri="{FF2B5EF4-FFF2-40B4-BE49-F238E27FC236}">
                <a16:creationId xmlns:a16="http://schemas.microsoft.com/office/drawing/2014/main" id="{4B90493F-A99F-4F08-A97D-09EBEE3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15050"/>
            <a:ext cx="569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RESEARCH / INCUBATION EXAMPLE | ACADEMIC SOURCE: FILL</a:t>
            </a:r>
          </a:p>
        </p:txBody>
      </p:sp>
      <p:sp>
        <p:nvSpPr>
          <p:cNvPr id="18" name="slide-5-draft-footer">
            <a:extLst xmlns:a="http://schemas.openxmlformats.org/drawingml/2006/main">
              <a:ext uri="{FF2B5EF4-FFF2-40B4-BE49-F238E27FC236}">
                <a16:creationId xmlns:a16="http://schemas.microsoft.com/office/drawing/2014/main" id="{BDF97DCC-59AD-4FE1-8CDB-E5E45178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19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92E1B01D-9D5F-469F-8866-B0C58A5E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63987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DBBB32B-61AE-4618-B482-1197B338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We fund ideas only after trying to break them</a:t>
            </a:r>
          </a:p>
        </p:txBody>
      </p:sp>
      <p:cxnSp>
        <p:nvCxnSpPr>
          <p:cNvPr id="25" name="s5-timeline-line"/>
          <p:cNvCxnSpPr/>
          <p:nvPr/>
        </p:nvCxnSpPr>
        <p:spPr>
          <a:xfrm xmlns:a="http://schemas.openxmlformats.org/drawingml/2006/main">
            <a:off x="857250" y="4953000"/>
            <a:ext cx="10477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216"/>
            </a:solidFill>
            <a:prstDash val="solid"/>
          </a:ln>
        </p:spPr>
      </p:cxnSp>
      <p:sp>
        <p:nvSpPr>
          <p:cNvPr id="3" name="s5-dot-1">
            <a:extLst xmlns:a="http://schemas.openxmlformats.org/drawingml/2006/main">
              <a:ext uri="{FF2B5EF4-FFF2-40B4-BE49-F238E27FC236}">
                <a16:creationId xmlns:a16="http://schemas.microsoft.com/office/drawing/2014/main" id="{67A3096B-BCEA-4E35-BE2D-5D0CA52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5-dot-2">
            <a:extLst xmlns:a="http://schemas.openxmlformats.org/drawingml/2006/main">
              <a:ext uri="{FF2B5EF4-FFF2-40B4-BE49-F238E27FC236}">
                <a16:creationId xmlns:a16="http://schemas.microsoft.com/office/drawing/2014/main" id="{11C0409F-D76A-454C-870C-D9561EA5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5-dot-3">
            <a:extLst xmlns:a="http://schemas.openxmlformats.org/drawingml/2006/main">
              <a:ext uri="{FF2B5EF4-FFF2-40B4-BE49-F238E27FC236}">
                <a16:creationId xmlns:a16="http://schemas.microsoft.com/office/drawing/2014/main" id="{C65E3D6C-1E34-4CDC-A97C-6C67D290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stage-1-panel">
            <a:extLst xmlns:a="http://schemas.openxmlformats.org/drawingml/2006/main">
              <a:ext uri="{FF2B5EF4-FFF2-40B4-BE49-F238E27FC236}">
                <a16:creationId xmlns:a16="http://schemas.microsoft.com/office/drawing/2014/main" id="{17C5859E-883D-4905-80F5-F9ADCA30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stage-1-number">
            <a:extLst xmlns:a="http://schemas.openxmlformats.org/drawingml/2006/main">
              <a:ext uri="{FF2B5EF4-FFF2-40B4-BE49-F238E27FC236}">
                <a16:creationId xmlns:a16="http://schemas.microsoft.com/office/drawing/2014/main" id="{1C789735-925D-4374-BE25-8A5FFD3D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s5-stage-1-title">
            <a:extLst xmlns:a="http://schemas.openxmlformats.org/drawingml/2006/main">
              <a:ext uri="{FF2B5EF4-FFF2-40B4-BE49-F238E27FC236}">
                <a16:creationId xmlns:a16="http://schemas.microsoft.com/office/drawing/2014/main" id="{6989B3A0-42DC-4412-96DB-C8EDCD90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Define the hypothesis</a:t>
            </a:r>
          </a:p>
        </p:txBody>
      </p:sp>
      <p:sp>
        <p:nvSpPr>
          <p:cNvPr id="9" name="s5-stage-1-body">
            <a:extLst xmlns:a="http://schemas.openxmlformats.org/drawingml/2006/main">
              <a:ext uri="{FF2B5EF4-FFF2-40B4-BE49-F238E27FC236}">
                <a16:creationId xmlns:a16="http://schemas.microsoft.com/office/drawing/2014/main" id="{49937C02-3851-4350-9BB7-B720F22C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What should work, why it may work, and exactly when the decision is made.</a:t>
            </a:r>
          </a:p>
        </p:txBody>
      </p:sp>
      <p:sp>
        <p:nvSpPr>
          <p:cNvPr id="10" name="s5-stage-1-label">
            <a:extLst xmlns:a="http://schemas.openxmlformats.org/drawingml/2006/main">
              <a:ext uri="{FF2B5EF4-FFF2-40B4-BE49-F238E27FC236}">
                <a16:creationId xmlns:a16="http://schemas.microsoft.com/office/drawing/2014/main" id="{52C12141-BB49-4072-B3D4-5848B295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STAGE 1</a:t>
            </a:r>
          </a:p>
        </p:txBody>
      </p:sp>
      <p:sp>
        <p:nvSpPr>
          <p:cNvPr id="11" name="s5-stage-2-panel">
            <a:extLst xmlns:a="http://schemas.openxmlformats.org/drawingml/2006/main">
              <a:ext uri="{FF2B5EF4-FFF2-40B4-BE49-F238E27FC236}">
                <a16:creationId xmlns:a16="http://schemas.microsoft.com/office/drawing/2014/main" id="{8E5EC40E-B10D-4817-B438-829602F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stage-2-number">
            <a:extLst xmlns:a="http://schemas.openxmlformats.org/drawingml/2006/main">
              <a:ext uri="{FF2B5EF4-FFF2-40B4-BE49-F238E27FC236}">
                <a16:creationId xmlns:a16="http://schemas.microsoft.com/office/drawing/2014/main" id="{3AC78BED-8DF2-476E-9F0E-AD97D1E5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5-stage-2-title">
            <a:extLst xmlns:a="http://schemas.openxmlformats.org/drawingml/2006/main">
              <a:ext uri="{FF2B5EF4-FFF2-40B4-BE49-F238E27FC236}">
                <a16:creationId xmlns:a16="http://schemas.microsoft.com/office/drawing/2014/main" id="{AE5036D9-5952-42C5-985B-BAE4B0B0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Try to disprove it</a:t>
            </a:r>
          </a:p>
        </p:txBody>
      </p:sp>
      <p:sp>
        <p:nvSpPr>
          <p:cNvPr id="14" name="s5-stage-2-body">
            <a:extLst xmlns:a="http://schemas.openxmlformats.org/drawingml/2006/main">
              <a:ext uri="{FF2B5EF4-FFF2-40B4-BE49-F238E27FC236}">
                <a16:creationId xmlns:a16="http://schemas.microsoft.com/office/drawing/2014/main" id="{51718EBE-A902-4E98-B2EB-6FF6585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Different periods, realistic costs, difficult markets and dependence on unusual events.</a:t>
            </a:r>
          </a:p>
        </p:txBody>
      </p:sp>
      <p:sp>
        <p:nvSpPr>
          <p:cNvPr id="15" name="s5-stage-2-label">
            <a:extLst xmlns:a="http://schemas.openxmlformats.org/drawingml/2006/main">
              <a:ext uri="{FF2B5EF4-FFF2-40B4-BE49-F238E27FC236}">
                <a16:creationId xmlns:a16="http://schemas.microsoft.com/office/drawing/2014/main" id="{6EB2CE5F-B5F2-44FD-9147-A8899B69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STAGE 2</a:t>
            </a:r>
          </a:p>
        </p:txBody>
      </p:sp>
      <p:sp>
        <p:nvSpPr>
          <p:cNvPr id="16" name="s5-stage-3-panel">
            <a:extLst xmlns:a="http://schemas.openxmlformats.org/drawingml/2006/main">
              <a:ext uri="{FF2B5EF4-FFF2-40B4-BE49-F238E27FC236}">
                <a16:creationId xmlns:a16="http://schemas.microsoft.com/office/drawing/2014/main" id="{BA6821B4-701A-4C34-A525-F4BDF74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5-stage-3-number">
            <a:extLst xmlns:a="http://schemas.openxmlformats.org/drawingml/2006/main">
              <a:ext uri="{FF2B5EF4-FFF2-40B4-BE49-F238E27FC236}">
                <a16:creationId xmlns:a16="http://schemas.microsoft.com/office/drawing/2014/main" id="{0D8B5F3F-FB1D-4120-8D1A-C0495A1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s5-stage-3-title">
            <a:extLst xmlns:a="http://schemas.openxmlformats.org/drawingml/2006/main">
              <a:ext uri="{FF2B5EF4-FFF2-40B4-BE49-F238E27FC236}">
                <a16:creationId xmlns:a16="http://schemas.microsoft.com/office/drawing/2014/main" id="{61E666F1-B5D3-4B35-B2BB-3C50E74C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Start small</a:t>
            </a:r>
          </a:p>
        </p:txBody>
      </p:sp>
      <p:sp>
        <p:nvSpPr>
          <p:cNvPr id="19" name="s5-stage-3-body">
            <a:extLst xmlns:a="http://schemas.openxmlformats.org/drawingml/2006/main">
              <a:ext uri="{FF2B5EF4-FFF2-40B4-BE49-F238E27FC236}">
                <a16:creationId xmlns:a16="http://schemas.microsoft.com/office/drawing/2014/main" id="{2D54133E-4CD1-43FD-A3D2-639C059D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Operational rehearsal, limited trading and monitoring—then scale or stop.</a:t>
            </a:r>
          </a:p>
        </p:txBody>
      </p:sp>
      <p:sp>
        <p:nvSpPr>
          <p:cNvPr id="20" name="s5-stage-3-label">
            <a:extLst xmlns:a="http://schemas.openxmlformats.org/drawingml/2006/main">
              <a:ext uri="{FF2B5EF4-FFF2-40B4-BE49-F238E27FC236}">
                <a16:creationId xmlns:a16="http://schemas.microsoft.com/office/drawing/2014/main" id="{67A2A4CE-A4DD-4A2A-8E78-1490BBA8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STAGE 3</a:t>
            </a:r>
          </a:p>
        </p:txBody>
      </p:sp>
      <p:sp>
        <p:nvSpPr>
          <p:cNvPr id="21" name="s5-rejected-example">
            <a:extLst xmlns:a="http://schemas.openxmlformats.org/drawingml/2006/main">
              <a:ext uri="{FF2B5EF4-FFF2-40B4-BE49-F238E27FC236}">
                <a16:creationId xmlns:a16="http://schemas.microsoft.com/office/drawing/2014/main" id="{7342595F-32BC-49B6-AD07-0E3FFCD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70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Example: an opening-gap idea looked strong before costs. After realistic costs and tests across periods, the result was not stable—so it was not promoted to investment.</a:t>
            </a:r>
          </a:p>
        </p:txBody>
      </p:sp>
      <p:sp>
        <p:nvSpPr>
          <p:cNvPr id="22" name="slide-6-draft-footer">
            <a:extLst xmlns:a="http://schemas.openxmlformats.org/drawingml/2006/main">
              <a:ext uri="{FF2B5EF4-FFF2-40B4-BE49-F238E27FC236}">
                <a16:creationId xmlns:a16="http://schemas.microsoft.com/office/drawing/2014/main" id="{09674989-598E-450D-9223-B3A50465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3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8DBE841E-94CD-490B-97AA-B3F36AE0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0068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66D9888-1069-4EC4-9AE2-FF50990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Every result is labeled by what it actually proves</a:t>
            </a:r>
          </a:p>
        </p:txBody>
      </p:sp>
      <p:sp>
        <p:nvSpPr>
          <p:cNvPr id="2" name="s6-intro">
            <a:extLst xmlns:a="http://schemas.openxmlformats.org/drawingml/2006/main">
              <a:ext uri="{FF2B5EF4-FFF2-40B4-BE49-F238E27FC236}">
                <a16:creationId xmlns:a16="http://schemas.microsoft.com/office/drawing/2014/main" id="{DA62542B-987A-4B56-9E58-015C62F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9124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Simulation, forward rehearsal and real-money performance are kept separate. A modeled return is never presented as money earned in an account.</a:t>
            </a:r>
          </a:p>
        </p:txBody>
      </p:sp>
      <p:sp>
        <p:nvSpPr>
          <p:cNvPr id="3" name="s6-evidence-0-panel">
            <a:extLst xmlns:a="http://schemas.openxmlformats.org/drawingml/2006/main">
              <a:ext uri="{FF2B5EF4-FFF2-40B4-BE49-F238E27FC236}">
                <a16:creationId xmlns:a16="http://schemas.microsoft.com/office/drawing/2014/main" id="{232FCD5C-E9C4-40F0-A67E-1208E229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6-evidence-0-title">
            <a:extLst xmlns:a="http://schemas.openxmlformats.org/drawingml/2006/main">
              <a:ext uri="{FF2B5EF4-FFF2-40B4-BE49-F238E27FC236}">
                <a16:creationId xmlns:a16="http://schemas.microsoft.com/office/drawing/2014/main" id="{39922410-00E7-4C30-8C04-1A825011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Real money</a:t>
            </a:r>
          </a:p>
        </p:txBody>
      </p:sp>
      <p:sp>
        <p:nvSpPr>
          <p:cNvPr id="5" name="s6-evidence-0-subtitle">
            <a:extLst xmlns:a="http://schemas.openxmlformats.org/drawingml/2006/main">
              <a:ext uri="{FF2B5EF4-FFF2-40B4-BE49-F238E27FC236}">
                <a16:creationId xmlns:a16="http://schemas.microsoft.com/office/drawing/2014/main" id="{E0746593-A619-4F25-98A4-B621931D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LIVE</a:t>
            </a:r>
          </a:p>
        </p:txBody>
      </p:sp>
      <p:sp>
        <p:nvSpPr>
          <p:cNvPr id="6" name="s6-evidence-0-fill-panel">
            <a:extLst xmlns:a="http://schemas.openxmlformats.org/drawingml/2006/main">
              <a:ext uri="{FF2B5EF4-FFF2-40B4-BE49-F238E27FC236}">
                <a16:creationId xmlns:a16="http://schemas.microsoft.com/office/drawing/2014/main" id="{0882EB75-E430-4F99-A7E2-9F67BE9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evidence-0-fill-text">
            <a:extLst xmlns:a="http://schemas.openxmlformats.org/drawingml/2006/main">
              <a:ext uri="{FF2B5EF4-FFF2-40B4-BE49-F238E27FC236}">
                <a16:creationId xmlns:a16="http://schemas.microsoft.com/office/drawing/2014/main" id="{9DE2565C-D8E0-42D8-8D3D-AF250FA6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8" name="s6-evidence-0-body">
            <a:extLst xmlns:a="http://schemas.openxmlformats.org/drawingml/2006/main">
              <a:ext uri="{FF2B5EF4-FFF2-40B4-BE49-F238E27FC236}">
                <a16:creationId xmlns:a16="http://schemas.microsoft.com/office/drawing/2014/main" id="{453AB216-F31A-468C-A018-B986F05A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Actual account performance. Dates, capital flows, fees and the measurement basis must be shown.</a:t>
            </a:r>
          </a:p>
        </p:txBody>
      </p:sp>
      <p:sp>
        <p:nvSpPr>
          <p:cNvPr id="9" name="s6-evidence-1-panel">
            <a:extLst xmlns:a="http://schemas.openxmlformats.org/drawingml/2006/main">
              <a:ext uri="{FF2B5EF4-FFF2-40B4-BE49-F238E27FC236}">
                <a16:creationId xmlns:a16="http://schemas.microsoft.com/office/drawing/2014/main" id="{8F7B2DB0-966F-49E3-B8DE-74C31BE4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evidence-1-title">
            <a:extLst xmlns:a="http://schemas.openxmlformats.org/drawingml/2006/main">
              <a:ext uri="{FF2B5EF4-FFF2-40B4-BE49-F238E27FC236}">
                <a16:creationId xmlns:a16="http://schemas.microsoft.com/office/drawing/2014/main" id="{771E31EA-C5A8-48C5-A808-41E652F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Forward rehearsal</a:t>
            </a:r>
          </a:p>
        </p:txBody>
      </p:sp>
      <p:sp>
        <p:nvSpPr>
          <p:cNvPr id="11" name="s6-evidence-1-subtitle">
            <a:extLst xmlns:a="http://schemas.openxmlformats.org/drawingml/2006/main">
              <a:ext uri="{FF2B5EF4-FFF2-40B4-BE49-F238E27FC236}">
                <a16:creationId xmlns:a16="http://schemas.microsoft.com/office/drawing/2014/main" id="{13CA4C88-E1D4-4191-A712-AB89B3B2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INCUBATION / PAPER</a:t>
            </a:r>
          </a:p>
        </p:txBody>
      </p:sp>
      <p:sp>
        <p:nvSpPr>
          <p:cNvPr id="12" name="s6-evidence-1-fill-panel">
            <a:extLst xmlns:a="http://schemas.openxmlformats.org/drawingml/2006/main">
              <a:ext uri="{FF2B5EF4-FFF2-40B4-BE49-F238E27FC236}">
                <a16:creationId xmlns:a16="http://schemas.microsoft.com/office/drawing/2014/main" id="{D9968216-0A9B-42F1-B328-D99200B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6-evidence-1-fill-text">
            <a:extLst xmlns:a="http://schemas.openxmlformats.org/drawingml/2006/main">
              <a:ext uri="{FF2B5EF4-FFF2-40B4-BE49-F238E27FC236}">
                <a16:creationId xmlns:a16="http://schemas.microsoft.com/office/drawing/2014/main" id="{6ECF4016-0246-4541-837A-9315FAD9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4" name="s6-evidence-1-body">
            <a:extLst xmlns:a="http://schemas.openxmlformats.org/drawingml/2006/main">
              <a:ext uri="{FF2B5EF4-FFF2-40B4-BE49-F238E27FC236}">
                <a16:creationId xmlns:a16="http://schemas.microsoft.com/office/drawing/2014/main" id="{717250EF-4FA5-46B4-87E3-4936E28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Tests signals, timing and broker plumbing. It is not a return earned with real money.</a:t>
            </a:r>
          </a:p>
        </p:txBody>
      </p:sp>
      <p:sp>
        <p:nvSpPr>
          <p:cNvPr id="15" name="s6-evidence-2-panel">
            <a:extLst xmlns:a="http://schemas.openxmlformats.org/drawingml/2006/main">
              <a:ext uri="{FF2B5EF4-FFF2-40B4-BE49-F238E27FC236}">
                <a16:creationId xmlns:a16="http://schemas.microsoft.com/office/drawing/2014/main" id="{D99B254D-7751-4F1E-A2DA-6735C1A7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evidence-2-title">
            <a:extLst xmlns:a="http://schemas.openxmlformats.org/drawingml/2006/main">
              <a:ext uri="{FF2B5EF4-FFF2-40B4-BE49-F238E27FC236}">
                <a16:creationId xmlns:a16="http://schemas.microsoft.com/office/drawing/2014/main" id="{40B969CE-A242-4594-A8B4-C0819E28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Historical simulation</a:t>
            </a:r>
          </a:p>
        </p:txBody>
      </p:sp>
      <p:sp>
        <p:nvSpPr>
          <p:cNvPr id="17" name="s6-evidence-2-subtitle">
            <a:extLst xmlns:a="http://schemas.openxmlformats.org/drawingml/2006/main">
              <a:ext uri="{FF2B5EF4-FFF2-40B4-BE49-F238E27FC236}">
                <a16:creationId xmlns:a16="http://schemas.microsoft.com/office/drawing/2014/main" id="{A31CF648-0AFB-44AE-94BA-5E397652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BACKTEST</a:t>
            </a:r>
          </a:p>
        </p:txBody>
      </p:sp>
      <p:sp>
        <p:nvSpPr>
          <p:cNvPr id="18" name="s6-evidence-2-fill-panel">
            <a:extLst xmlns:a="http://schemas.openxmlformats.org/drawingml/2006/main">
              <a:ext uri="{FF2B5EF4-FFF2-40B4-BE49-F238E27FC236}">
                <a16:creationId xmlns:a16="http://schemas.microsoft.com/office/drawing/2014/main" id="{32CADE03-C787-4680-9BFE-F1F9932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evidence-2-fill-text">
            <a:extLst xmlns:a="http://schemas.openxmlformats.org/drawingml/2006/main">
              <a:ext uri="{FF2B5EF4-FFF2-40B4-BE49-F238E27FC236}">
                <a16:creationId xmlns:a16="http://schemas.microsoft.com/office/drawing/2014/main" id="{7A9E378D-8793-4A7C-817F-9205F62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0" name="s6-evidence-2-body">
            <a:extLst xmlns:a="http://schemas.openxmlformats.org/drawingml/2006/main">
              <a:ext uri="{FF2B5EF4-FFF2-40B4-BE49-F238E27FC236}">
                <a16:creationId xmlns:a16="http://schemas.microsoft.com/office/drawing/2014/main" id="{47ABB3E8-DDE5-4424-A335-6A45E0CB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What might have happened under defined historical assumptions. A hypothetical result only.</a:t>
            </a:r>
          </a:p>
        </p:txBody>
      </p:sp>
      <p:sp>
        <p:nvSpPr>
          <p:cNvPr id="21" name="s6-status-note">
            <a:extLst xmlns:a="http://schemas.openxmlformats.org/drawingml/2006/main">
              <a:ext uri="{FF2B5EF4-FFF2-40B4-BE49-F238E27FC236}">
                <a16:creationId xmlns:a16="http://schemas.microsoft.com/office/drawing/2014/main" id="{3A96F399-661E-4186-8A30-F92C1EC5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CURRENT EVIDENCE STAGE BY PORTFOLIO SLEEVE</a:t>
            </a:r>
          </a:p>
        </p:txBody>
      </p:sp>
      <p:sp>
        <p:nvSpPr>
          <p:cNvPr id="22" name="s6-status-fill-panel">
            <a:extLst xmlns:a="http://schemas.openxmlformats.org/drawingml/2006/main">
              <a:ext uri="{FF2B5EF4-FFF2-40B4-BE49-F238E27FC236}">
                <a16:creationId xmlns:a16="http://schemas.microsoft.com/office/drawing/2014/main" id="{2ADD35FD-A4FC-4163-A8F1-9A46306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531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6-status-fill-text">
            <a:extLst xmlns:a="http://schemas.openxmlformats.org/drawingml/2006/main">
              <a:ext uri="{FF2B5EF4-FFF2-40B4-BE49-F238E27FC236}">
                <a16:creationId xmlns:a16="http://schemas.microsoft.com/office/drawing/2014/main" id="{FB9DEC9E-25E7-4D63-9F3B-1F5DC0A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791200"/>
            <a:ext cx="112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4" name="slide-7-draft-footer">
            <a:extLst xmlns:a="http://schemas.openxmlformats.org/drawingml/2006/main">
              <a:ext uri="{FF2B5EF4-FFF2-40B4-BE49-F238E27FC236}">
                <a16:creationId xmlns:a16="http://schemas.microsoft.com/office/drawing/2014/main" id="{DB8F7CC0-13C1-408C-84B0-E0CBD48E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5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09C2741D-0D33-4C73-8E74-12401569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86654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48066CB-C05A-4192-B0E5-01A9879E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 good process can still include difficult periods</a:t>
            </a:r>
          </a:p>
        </p:txBody>
      </p:sp>
      <p:sp>
        <p:nvSpPr>
          <p:cNvPr id="2" name="s7-intro-panel">
            <a:extLst xmlns:a="http://schemas.openxmlformats.org/drawingml/2006/main">
              <a:ext uri="{FF2B5EF4-FFF2-40B4-BE49-F238E27FC236}">
                <a16:creationId xmlns:a16="http://schemas.microsoft.com/office/drawing/2014/main" id="{6790F95A-FE8D-4151-89E9-9CB42EFA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71875" cy="4191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7-intro-title">
            <a:extLst xmlns:a="http://schemas.openxmlformats.org/drawingml/2006/main">
              <a:ext uri="{FF2B5EF4-FFF2-40B4-BE49-F238E27FC236}">
                <a16:creationId xmlns:a16="http://schemas.microsoft.com/office/drawing/2014/main" id="{246153A0-D60F-46EE-8637-0A247985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9051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Before investing, we show ranges—not one target number.</a:t>
            </a:r>
          </a:p>
        </p:txBody>
      </p:sp>
      <p:sp>
        <p:nvSpPr>
          <p:cNvPr id="4" name="s7-intro-body">
            <a:extLst xmlns:a="http://schemas.openxmlformats.org/drawingml/2006/main">
              <a:ext uri="{FF2B5EF4-FFF2-40B4-BE49-F238E27FC236}">
                <a16:creationId xmlns:a16="http://schemas.microsoft.com/office/drawing/2014/main" id="{F01B00D4-FE0F-4C15-9CC7-EFB2CA54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2905125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An investor should understand in advance what a weak month, a drawdown or a long recovery may feel like.</a:t>
            </a:r>
          </a:p>
        </p:txBody>
      </p:sp>
      <p:sp>
        <p:nvSpPr>
          <p:cNvPr id="5" name="s7-intro-caveat">
            <a:extLst xmlns:a="http://schemas.openxmlformats.org/drawingml/2006/main">
              <a:ext uri="{FF2B5EF4-FFF2-40B4-BE49-F238E27FC236}">
                <a16:creationId xmlns:a16="http://schemas.microsoft.com/office/drawing/2014/main" id="{8D0AC424-E24F-41F7-A045-E94D85C8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9051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The numbers describe scenarios conditioned on history and assumptions. They are not forecasts or promises.</a:t>
            </a:r>
          </a:p>
        </p:txBody>
      </p:sp>
      <p:cxnSp>
        <p:nvCxnSpPr>
          <p:cNvPr id="33" name="s7-row-0-line"/>
          <p:cNvCxnSpPr/>
          <p:nvPr/>
        </p:nvCxnSpPr>
        <p:spPr>
          <a:xfrm xmlns:a="http://schemas.openxmlformats.org/drawingml/2006/main">
            <a:off x="390525" y="2600325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s7-row-0-label">
            <a:extLst xmlns:a="http://schemas.openxmlformats.org/drawingml/2006/main">
              <a:ext uri="{FF2B5EF4-FFF2-40B4-BE49-F238E27FC236}">
                <a16:creationId xmlns:a16="http://schemas.microsoft.com/office/drawing/2014/main" id="{15878D45-A08C-46BF-BA71-7084FA7D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Typical modeled monthly range</a:t>
            </a:r>
          </a:p>
        </p:txBody>
      </p:sp>
      <p:sp>
        <p:nvSpPr>
          <p:cNvPr id="8" name="s7-row-0-detail">
            <a:extLst xmlns:a="http://schemas.openxmlformats.org/drawingml/2006/main">
              <a:ext uri="{FF2B5EF4-FFF2-40B4-BE49-F238E27FC236}">
                <a16:creationId xmlns:a16="http://schemas.microsoft.com/office/drawing/2014/main" id="{BF47E2E7-42FE-47EF-8BCD-4D1F7EFC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Central range after costs</a:t>
            </a:r>
          </a:p>
        </p:txBody>
      </p:sp>
      <p:sp>
        <p:nvSpPr>
          <p:cNvPr id="9" name="s7-row-0-fill-panel">
            <a:extLst xmlns:a="http://schemas.openxmlformats.org/drawingml/2006/main">
              <a:ext uri="{FF2B5EF4-FFF2-40B4-BE49-F238E27FC236}">
                <a16:creationId xmlns:a16="http://schemas.microsoft.com/office/drawing/2014/main" id="{5F5D2D2E-B033-4090-8CF3-EEBEDF53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14525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row-0-fill-text">
            <a:extLst xmlns:a="http://schemas.openxmlformats.org/drawingml/2006/main">
              <a:ext uri="{FF2B5EF4-FFF2-40B4-BE49-F238E27FC236}">
                <a16:creationId xmlns:a16="http://schemas.microsoft.com/office/drawing/2014/main" id="{B688DFF4-5893-41C8-ADA3-32FFC59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8" name="s7-row-1-line"/>
          <p:cNvCxnSpPr/>
          <p:nvPr/>
        </p:nvCxnSpPr>
        <p:spPr>
          <a:xfrm xmlns:a="http://schemas.openxmlformats.org/drawingml/2006/main">
            <a:off x="390525" y="3619500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7-row-1-label">
            <a:extLst xmlns:a="http://schemas.openxmlformats.org/drawingml/2006/main">
              <a:ext uri="{FF2B5EF4-FFF2-40B4-BE49-F238E27FC236}">
                <a16:creationId xmlns:a16="http://schemas.microsoft.com/office/drawing/2014/main" id="{5F1AC7B6-8EAD-428D-9201-1F5B99E1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Modeled frequency of a losing month</a:t>
            </a:r>
          </a:p>
        </p:txBody>
      </p:sp>
      <p:sp>
        <p:nvSpPr>
          <p:cNvPr id="13" name="s7-row-1-detail">
            <a:extLst xmlns:a="http://schemas.openxmlformats.org/drawingml/2006/main">
              <a:ext uri="{FF2B5EF4-FFF2-40B4-BE49-F238E27FC236}">
                <a16:creationId xmlns:a16="http://schemas.microsoft.com/office/drawing/2014/main" id="{BC709945-ADBC-4243-8CCD-4C9EB27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Not a promise about any specific month</a:t>
            </a:r>
          </a:p>
        </p:txBody>
      </p:sp>
      <p:sp>
        <p:nvSpPr>
          <p:cNvPr id="14" name="s7-row-1-fill-panel">
            <a:extLst xmlns:a="http://schemas.openxmlformats.org/drawingml/2006/main">
              <a:ext uri="{FF2B5EF4-FFF2-40B4-BE49-F238E27FC236}">
                <a16:creationId xmlns:a16="http://schemas.microsoft.com/office/drawing/2014/main" id="{C0F6530B-832B-4DF6-9B0F-D1E6AA5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row-1-fill-text">
            <a:extLst xmlns:a="http://schemas.openxmlformats.org/drawingml/2006/main">
              <a:ext uri="{FF2B5EF4-FFF2-40B4-BE49-F238E27FC236}">
                <a16:creationId xmlns:a16="http://schemas.microsoft.com/office/drawing/2014/main" id="{5F63E01E-26AE-48EC-92B8-1D6911C0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3" name="s7-row-2-line"/>
          <p:cNvCxnSpPr/>
          <p:nvPr/>
        </p:nvCxnSpPr>
        <p:spPr>
          <a:xfrm xmlns:a="http://schemas.openxmlformats.org/drawingml/2006/main">
            <a:off x="390525" y="4638675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7-row-2-label">
            <a:extLst xmlns:a="http://schemas.openxmlformats.org/drawingml/2006/main">
              <a:ext uri="{FF2B5EF4-FFF2-40B4-BE49-F238E27FC236}">
                <a16:creationId xmlns:a16="http://schemas.microsoft.com/office/drawing/2014/main" id="{DF419750-C4D1-472E-AA69-A91D70F3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Difficult modeled 12-month outcome</a:t>
            </a:r>
          </a:p>
        </p:txBody>
      </p:sp>
      <p:sp>
        <p:nvSpPr>
          <p:cNvPr id="18" name="s7-row-2-detail">
            <a:extLst xmlns:a="http://schemas.openxmlformats.org/drawingml/2006/main">
              <a:ext uri="{FF2B5EF4-FFF2-40B4-BE49-F238E27FC236}">
                <a16:creationId xmlns:a16="http://schemas.microsoft.com/office/drawing/2014/main" id="{5ECFC9CA-A8A3-41CF-9F05-58289D2D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Unusual, but possible</a:t>
            </a:r>
          </a:p>
        </p:txBody>
      </p:sp>
      <p:sp>
        <p:nvSpPr>
          <p:cNvPr id="19" name="s7-row-2-fill-panel">
            <a:extLst xmlns:a="http://schemas.openxmlformats.org/drawingml/2006/main">
              <a:ext uri="{FF2B5EF4-FFF2-40B4-BE49-F238E27FC236}">
                <a16:creationId xmlns:a16="http://schemas.microsoft.com/office/drawing/2014/main" id="{B2105967-BF08-4CAF-93B8-3FFFF0BB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row-2-fill-text">
            <a:extLst xmlns:a="http://schemas.openxmlformats.org/drawingml/2006/main">
              <a:ext uri="{FF2B5EF4-FFF2-40B4-BE49-F238E27FC236}">
                <a16:creationId xmlns:a16="http://schemas.microsoft.com/office/drawing/2014/main" id="{2C95CFF9-25DD-4B77-A6E6-BEA66223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90975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8" name="s7-row-3-line"/>
          <p:cNvCxnSpPr/>
          <p:nvPr/>
        </p:nvCxnSpPr>
        <p:spPr>
          <a:xfrm xmlns:a="http://schemas.openxmlformats.org/drawingml/2006/main">
            <a:off x="390525" y="5657850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s7-row-3-label">
            <a:extLst xmlns:a="http://schemas.openxmlformats.org/drawingml/2006/main">
              <a:ext uri="{FF2B5EF4-FFF2-40B4-BE49-F238E27FC236}">
                <a16:creationId xmlns:a16="http://schemas.microsoft.com/office/drawing/2014/main" id="{B6224003-6CAE-4DAE-95BF-BC1653BA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Drawdown and recovery range</a:t>
            </a:r>
          </a:p>
        </p:txBody>
      </p:sp>
      <p:sp>
        <p:nvSpPr>
          <p:cNvPr id="23" name="s7-row-3-detail">
            <a:extLst xmlns:a="http://schemas.openxmlformats.org/drawingml/2006/main">
              <a:ext uri="{FF2B5EF4-FFF2-40B4-BE49-F238E27FC236}">
                <a16:creationId xmlns:a16="http://schemas.microsoft.com/office/drawing/2014/main" id="{02D66898-D63F-44B5-9229-05799DB4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Depth and time below the prior peak</a:t>
            </a:r>
          </a:p>
        </p:txBody>
      </p:sp>
      <p:sp>
        <p:nvSpPr>
          <p:cNvPr id="24" name="s7-row-3-fill-panel">
            <a:extLst xmlns:a="http://schemas.openxmlformats.org/drawingml/2006/main">
              <a:ext uri="{FF2B5EF4-FFF2-40B4-BE49-F238E27FC236}">
                <a16:creationId xmlns:a16="http://schemas.microsoft.com/office/drawing/2014/main" id="{CFCA7617-27BE-4DFF-9422-30A2A7E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7-row-3-fill-text">
            <a:extLst xmlns:a="http://schemas.openxmlformats.org/drawingml/2006/main">
              <a:ext uri="{FF2B5EF4-FFF2-40B4-BE49-F238E27FC236}">
                <a16:creationId xmlns:a16="http://schemas.microsoft.com/office/drawing/2014/main" id="{E4DE6478-AF5D-4B9C-928B-7EB50DF4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6" name="slide-8-draft-footer">
            <a:extLst xmlns:a="http://schemas.openxmlformats.org/drawingml/2006/main">
              <a:ext uri="{FF2B5EF4-FFF2-40B4-BE49-F238E27FC236}">
                <a16:creationId xmlns:a16="http://schemas.microsoft.com/office/drawing/2014/main" id="{2005F279-F71B-4245-B2F3-A0084406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7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CF700AB8-5DDA-49B2-A1DF-DD67657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589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1C1C409-1066-4C0B-B466-AFB6FE98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What it means to join the initial phase</a:t>
            </a:r>
          </a:p>
        </p:txBody>
      </p:sp>
      <p:sp>
        <p:nvSpPr>
          <p:cNvPr id="2" name="s8-summary-panel">
            <a:extLst xmlns:a="http://schemas.openxmlformats.org/drawingml/2006/main">
              <a:ext uri="{FF2B5EF4-FFF2-40B4-BE49-F238E27FC236}">
                <a16:creationId xmlns:a16="http://schemas.microsoft.com/office/drawing/2014/main" id="{DA83D4EB-9F08-40F0-9A5A-DACA1B9A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55340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8-stage-tag">
            <a:extLst xmlns:a="http://schemas.openxmlformats.org/drawingml/2006/main">
              <a:ext uri="{FF2B5EF4-FFF2-40B4-BE49-F238E27FC236}">
                <a16:creationId xmlns:a16="http://schemas.microsoft.com/office/drawing/2014/main" id="{E3EC9BA3-3648-47E8-B0B2-9E46209A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300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FRIENDS &amp; FAMILY</a:t>
            </a:r>
          </a:p>
        </p:txBody>
      </p:sp>
      <p:sp>
        <p:nvSpPr>
          <p:cNvPr id="4" name="s8-summary-title">
            <a:extLst xmlns:a="http://schemas.openxmlformats.org/drawingml/2006/main">
              <a:ext uri="{FF2B5EF4-FFF2-40B4-BE49-F238E27FC236}">
                <a16:creationId xmlns:a16="http://schemas.microsoft.com/office/drawing/2014/main" id="{2C1D0BBF-79DD-4339-929B-EE8BF5DA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8482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This is an early stage</a:t>
            </a:r>
          </a:p>
        </p:txBody>
      </p:sp>
      <p:sp>
        <p:nvSpPr>
          <p:cNvPr id="5" name="s8-summary-body">
            <a:extLst xmlns:a="http://schemas.openxmlformats.org/drawingml/2006/main">
              <a:ext uri="{FF2B5EF4-FFF2-40B4-BE49-F238E27FC236}">
                <a16:creationId xmlns:a16="http://schemas.microsoft.com/office/drawing/2014/main" id="{C83A3127-7B87-4C5D-8872-455B7CA4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4848225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The purpose is to gain real operating experience and build a transparent record—without presenting the program as more mature than it is.</a:t>
            </a:r>
          </a:p>
        </p:txBody>
      </p:sp>
      <p:sp>
        <p:nvSpPr>
          <p:cNvPr id="6" name="s8-summary-caveat">
            <a:extLst xmlns:a="http://schemas.openxmlformats.org/drawingml/2006/main">
              <a:ext uri="{FF2B5EF4-FFF2-40B4-BE49-F238E27FC236}">
                <a16:creationId xmlns:a16="http://schemas.microsoft.com/office/drawing/2014/main" id="{5C8415AE-60B3-412F-85B5-1C61540A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48482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Before joining, each investor will review the process, risks, terms and personal fit.</a:t>
            </a:r>
          </a:p>
        </p:txBody>
      </p:sp>
      <p:sp>
        <p:nvSpPr>
          <p:cNvPr id="7" name="s8-item-0-check">
            <a:extLst xmlns:a="http://schemas.openxmlformats.org/drawingml/2006/main">
              <a:ext uri="{FF2B5EF4-FFF2-40B4-BE49-F238E27FC236}">
                <a16:creationId xmlns:a16="http://schemas.microsoft.com/office/drawing/2014/main" id="{5AC17B51-9BC4-4218-ABFA-9B43EB98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s8-item-0-label">
            <a:extLst xmlns:a="http://schemas.openxmlformats.org/drawingml/2006/main">
              <a:ext uri="{FF2B5EF4-FFF2-40B4-BE49-F238E27FC236}">
                <a16:creationId xmlns:a16="http://schemas.microsoft.com/office/drawing/2014/main" id="{3406A86C-5087-4310-85C6-B34EB04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Account structure and custody</a:t>
            </a:r>
          </a:p>
        </p:txBody>
      </p:sp>
      <p:sp>
        <p:nvSpPr>
          <p:cNvPr id="9" name="s8-item-0-fill-panel">
            <a:extLst xmlns:a="http://schemas.openxmlformats.org/drawingml/2006/main">
              <a:ext uri="{FF2B5EF4-FFF2-40B4-BE49-F238E27FC236}">
                <a16:creationId xmlns:a16="http://schemas.microsoft.com/office/drawing/2014/main" id="{8FCB9B51-2804-4064-8820-3721D03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item-0-fill-text">
            <a:extLst xmlns:a="http://schemas.openxmlformats.org/drawingml/2006/main">
              <a:ext uri="{FF2B5EF4-FFF2-40B4-BE49-F238E27FC236}">
                <a16:creationId xmlns:a16="http://schemas.microsoft.com/office/drawing/2014/main" id="{7C8DBAC1-4134-4528-86CC-3D0445D6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1" name="s8-item-1-check">
            <a:extLst xmlns:a="http://schemas.openxmlformats.org/drawingml/2006/main">
              <a:ext uri="{FF2B5EF4-FFF2-40B4-BE49-F238E27FC236}">
                <a16:creationId xmlns:a16="http://schemas.microsoft.com/office/drawing/2014/main" id="{9FF4F067-4C77-4190-8E32-0B205A81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s8-item-1-label">
            <a:extLst xmlns:a="http://schemas.openxmlformats.org/drawingml/2006/main">
              <a:ext uri="{FF2B5EF4-FFF2-40B4-BE49-F238E27FC236}">
                <a16:creationId xmlns:a16="http://schemas.microsoft.com/office/drawing/2014/main" id="{63AE0FED-0CD2-4F1A-8C90-CD31CBDC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Minimum investment</a:t>
            </a:r>
          </a:p>
        </p:txBody>
      </p:sp>
      <p:sp>
        <p:nvSpPr>
          <p:cNvPr id="13" name="s8-item-1-fill-panel">
            <a:extLst xmlns:a="http://schemas.openxmlformats.org/drawingml/2006/main">
              <a:ext uri="{FF2B5EF4-FFF2-40B4-BE49-F238E27FC236}">
                <a16:creationId xmlns:a16="http://schemas.microsoft.com/office/drawing/2014/main" id="{D515201A-4FBA-4DC0-8270-325712CC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8-item-1-fill-text">
            <a:extLst xmlns:a="http://schemas.openxmlformats.org/drawingml/2006/main">
              <a:ext uri="{FF2B5EF4-FFF2-40B4-BE49-F238E27FC236}">
                <a16:creationId xmlns:a16="http://schemas.microsoft.com/office/drawing/2014/main" id="{3B865AF9-BBA0-41FD-90A7-DD9E5176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5" name="s8-item-2-check">
            <a:extLst xmlns:a="http://schemas.openxmlformats.org/drawingml/2006/main">
              <a:ext uri="{FF2B5EF4-FFF2-40B4-BE49-F238E27FC236}">
                <a16:creationId xmlns:a16="http://schemas.microsoft.com/office/drawing/2014/main" id="{4BFBCDFC-67EB-4A7E-93EE-02428362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s8-item-2-label">
            <a:extLst xmlns:a="http://schemas.openxmlformats.org/drawingml/2006/main">
              <a:ext uri="{FF2B5EF4-FFF2-40B4-BE49-F238E27FC236}">
                <a16:creationId xmlns:a16="http://schemas.microsoft.com/office/drawing/2014/main" id="{133024F3-2A19-4224-BE6C-1903A22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Liquidity and withdrawals</a:t>
            </a:r>
          </a:p>
        </p:txBody>
      </p:sp>
      <p:sp>
        <p:nvSpPr>
          <p:cNvPr id="17" name="s8-item-2-fill-panel">
            <a:extLst xmlns:a="http://schemas.openxmlformats.org/drawingml/2006/main">
              <a:ext uri="{FF2B5EF4-FFF2-40B4-BE49-F238E27FC236}">
                <a16:creationId xmlns:a16="http://schemas.microsoft.com/office/drawing/2014/main" id="{34F16119-7969-426C-BB54-2F6CE6CE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8-item-2-fill-text">
            <a:extLst xmlns:a="http://schemas.openxmlformats.org/drawingml/2006/main">
              <a:ext uri="{FF2B5EF4-FFF2-40B4-BE49-F238E27FC236}">
                <a16:creationId xmlns:a16="http://schemas.microsoft.com/office/drawing/2014/main" id="{56C8C444-C93A-471C-988F-B4F0B82C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9" name="s8-item-3-check">
            <a:extLst xmlns:a="http://schemas.openxmlformats.org/drawingml/2006/main">
              <a:ext uri="{FF2B5EF4-FFF2-40B4-BE49-F238E27FC236}">
                <a16:creationId xmlns:a16="http://schemas.microsoft.com/office/drawing/2014/main" id="{12B595BA-8931-4D1C-B49D-B15EDDCA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s8-item-3-label">
            <a:extLst xmlns:a="http://schemas.openxmlformats.org/drawingml/2006/main">
              <a:ext uri="{FF2B5EF4-FFF2-40B4-BE49-F238E27FC236}">
                <a16:creationId xmlns:a16="http://schemas.microsoft.com/office/drawing/2014/main" id="{7831BFAB-0E01-4C63-A8A4-EFD5CF9E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Fees and management costs</a:t>
            </a:r>
          </a:p>
        </p:txBody>
      </p:sp>
      <p:sp>
        <p:nvSpPr>
          <p:cNvPr id="21" name="s8-item-3-fill-panel">
            <a:extLst xmlns:a="http://schemas.openxmlformats.org/drawingml/2006/main">
              <a:ext uri="{FF2B5EF4-FFF2-40B4-BE49-F238E27FC236}">
                <a16:creationId xmlns:a16="http://schemas.microsoft.com/office/drawing/2014/main" id="{69F14955-7593-4E8B-863F-33FD6213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8-item-3-fill-text">
            <a:extLst xmlns:a="http://schemas.openxmlformats.org/drawingml/2006/main">
              <a:ext uri="{FF2B5EF4-FFF2-40B4-BE49-F238E27FC236}">
                <a16:creationId xmlns:a16="http://schemas.microsoft.com/office/drawing/2014/main" id="{FE8ABFA6-2DAD-410C-AC16-1B1C1F2C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3" name="s8-item-4-check">
            <a:extLst xmlns:a="http://schemas.openxmlformats.org/drawingml/2006/main">
              <a:ext uri="{FF2B5EF4-FFF2-40B4-BE49-F238E27FC236}">
                <a16:creationId xmlns:a16="http://schemas.microsoft.com/office/drawing/2014/main" id="{2F539E88-79CB-47F3-8571-18884A3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4" name="s8-item-4-label">
            <a:extLst xmlns:a="http://schemas.openxmlformats.org/drawingml/2006/main">
              <a:ext uri="{FF2B5EF4-FFF2-40B4-BE49-F238E27FC236}">
                <a16:creationId xmlns:a16="http://schemas.microsoft.com/office/drawing/2014/main" id="{459D068B-3BB3-439E-B33E-3CFD7D7A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Reporting and frequency</a:t>
            </a:r>
          </a:p>
        </p:txBody>
      </p:sp>
      <p:sp>
        <p:nvSpPr>
          <p:cNvPr id="25" name="s8-item-4-fill-panel">
            <a:extLst xmlns:a="http://schemas.openxmlformats.org/drawingml/2006/main">
              <a:ext uri="{FF2B5EF4-FFF2-40B4-BE49-F238E27FC236}">
                <a16:creationId xmlns:a16="http://schemas.microsoft.com/office/drawing/2014/main" id="{78DE4A87-CEB5-445D-B1B8-A4B4795A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8-item-4-fill-text">
            <a:extLst xmlns:a="http://schemas.openxmlformats.org/drawingml/2006/main">
              <a:ext uri="{FF2B5EF4-FFF2-40B4-BE49-F238E27FC236}">
                <a16:creationId xmlns:a16="http://schemas.microsoft.com/office/drawing/2014/main" id="{67F86EF6-26BC-432A-8A85-91DE5365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7" name="s8-next-step-panel">
            <a:extLst xmlns:a="http://schemas.openxmlformats.org/drawingml/2006/main">
              <a:ext uri="{FF2B5EF4-FFF2-40B4-BE49-F238E27FC236}">
                <a16:creationId xmlns:a16="http://schemas.microsoft.com/office/drawing/2014/main" id="{71C10E8F-FC3B-48C0-83FA-8976166A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11410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8-next-step-label">
            <a:extLst xmlns:a="http://schemas.openxmlformats.org/drawingml/2006/main">
              <a:ext uri="{FF2B5EF4-FFF2-40B4-BE49-F238E27FC236}">
                <a16:creationId xmlns:a16="http://schemas.microsoft.com/office/drawing/2014/main" id="{D7D68AD6-001B-4C65-9B4D-AD93EEE0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NEXT STEP</a:t>
            </a:r>
          </a:p>
        </p:txBody>
      </p:sp>
      <p:sp>
        <p:nvSpPr>
          <p:cNvPr id="29" name="s8-next-step-fill-panel">
            <a:extLst xmlns:a="http://schemas.openxmlformats.org/drawingml/2006/main">
              <a:ext uri="{FF2B5EF4-FFF2-40B4-BE49-F238E27FC236}">
                <a16:creationId xmlns:a16="http://schemas.microsoft.com/office/drawing/2014/main" id="{A1E020F7-0887-44D4-8D65-D187764C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72150"/>
            <a:ext cx="1314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8-next-step-fill-text">
            <a:extLst xmlns:a="http://schemas.openxmlformats.org/drawingml/2006/main">
              <a:ext uri="{FF2B5EF4-FFF2-40B4-BE49-F238E27FC236}">
                <a16:creationId xmlns:a16="http://schemas.microsoft.com/office/drawing/2014/main" id="{F87A2007-28A7-4867-B7F3-196F208B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31" name="s8-next-step-text">
            <a:extLst xmlns:a="http://schemas.openxmlformats.org/drawingml/2006/main">
              <a:ext uri="{FF2B5EF4-FFF2-40B4-BE49-F238E27FC236}">
                <a16:creationId xmlns:a16="http://schemas.microsoft.com/office/drawing/2014/main" id="{2A9253EF-B075-4376-B552-9B7D7D12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685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Follow-up meeting, documents and suitability review</a:t>
            </a:r>
          </a:p>
        </p:txBody>
      </p:sp>
      <p:sp>
        <p:nvSpPr>
          <p:cNvPr id="32" name="slide-9-draft-footer">
            <a:extLst xmlns:a="http://schemas.openxmlformats.org/drawingml/2006/main">
              <a:ext uri="{FF2B5EF4-FFF2-40B4-BE49-F238E27FC236}">
                <a16:creationId xmlns:a16="http://schemas.microsoft.com/office/drawing/2014/main" id="{CBF8243D-1DD8-4161-A4CE-1B5A8BCE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33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902E64EB-687F-4B5C-8397-A927769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59563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B76B06C-E07D-40B7-977B-33BCBD3D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9525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What each evidence layer proves</a:t>
            </a:r>
          </a:p>
        </p:txBody>
      </p:sp>
      <p:sp>
        <p:nvSpPr>
          <p:cNvPr id="2" name="slide-10-appendix">
            <a:extLst xmlns:a="http://schemas.openxmlformats.org/drawingml/2006/main">
              <a:ext uri="{FF2B5EF4-FFF2-40B4-BE49-F238E27FC236}">
                <a16:creationId xmlns:a16="http://schemas.microsoft.com/office/drawing/2014/main" id="{E723FD66-5BF1-4A33-A413-53DC4DB9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APPENDIX</a:t>
            </a:r>
          </a:p>
        </p:txBody>
      </p:sp>
      <p:sp>
        <p:nvSpPr>
          <p:cNvPr id="3" name="s9-intro">
            <a:extLst xmlns:a="http://schemas.openxmlformats.org/drawingml/2006/main">
              <a:ext uri="{FF2B5EF4-FFF2-40B4-BE49-F238E27FC236}">
                <a16:creationId xmlns:a16="http://schemas.microsoft.com/office/drawing/2014/main" id="{7DAE4214-3CC2-4D02-ACFE-F314EBBF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00150"/>
            <a:ext cx="893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Every number in the final deck should show the evidence type, period, costs and measurement source.</a:t>
            </a:r>
          </a:p>
        </p:txBody>
      </p:sp>
      <p:sp>
        <p:nvSpPr>
          <p:cNvPr id="4" name="s9-header-panel">
            <a:extLst xmlns:a="http://schemas.openxmlformats.org/drawingml/2006/main">
              <a:ext uri="{FF2B5EF4-FFF2-40B4-BE49-F238E27FC236}">
                <a16:creationId xmlns:a16="http://schemas.microsoft.com/office/drawing/2014/main" id="{1E4D4933-3D61-4F0E-A00E-BFD9E530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109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-header-layer">
            <a:extLst xmlns:a="http://schemas.openxmlformats.org/drawingml/2006/main">
              <a:ext uri="{FF2B5EF4-FFF2-40B4-BE49-F238E27FC236}">
                <a16:creationId xmlns:a16="http://schemas.microsoft.com/office/drawing/2014/main" id="{2BA9D9B9-8494-4932-BF99-4ADA5FD7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EVIDENCE LAYER</a:t>
            </a:r>
          </a:p>
        </p:txBody>
      </p:sp>
      <p:sp>
        <p:nvSpPr>
          <p:cNvPr id="6" name="s9-header-proves">
            <a:extLst xmlns:a="http://schemas.openxmlformats.org/drawingml/2006/main">
              <a:ext uri="{FF2B5EF4-FFF2-40B4-BE49-F238E27FC236}">
                <a16:creationId xmlns:a16="http://schemas.microsoft.com/office/drawing/2014/main" id="{9E6D2DDF-DC31-43A4-AAE5-6CD992C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2405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WHAT IT PROVES</a:t>
            </a:r>
          </a:p>
        </p:txBody>
      </p:sp>
      <p:sp>
        <p:nvSpPr>
          <p:cNvPr id="7" name="s9-header-not-proves">
            <a:extLst xmlns:a="http://schemas.openxmlformats.org/drawingml/2006/main">
              <a:ext uri="{FF2B5EF4-FFF2-40B4-BE49-F238E27FC236}">
                <a16:creationId xmlns:a16="http://schemas.microsoft.com/office/drawing/2014/main" id="{2403B401-1FE7-43AC-9E78-AC0D3D8F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905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WHAT IT DOES NOT PROVE</a:t>
            </a:r>
          </a:p>
        </p:txBody>
      </p:sp>
      <p:sp>
        <p:nvSpPr>
          <p:cNvPr id="8" name="s9-row-0-panel">
            <a:extLst xmlns:a="http://schemas.openxmlformats.org/drawingml/2006/main">
              <a:ext uri="{FF2B5EF4-FFF2-40B4-BE49-F238E27FC236}">
                <a16:creationId xmlns:a16="http://schemas.microsoft.com/office/drawing/2014/main" id="{E34E97C4-3B34-4FF3-9DF2-7C01048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9" name="s9-row-0-layer">
            <a:extLst xmlns:a="http://schemas.openxmlformats.org/drawingml/2006/main">
              <a:ext uri="{FF2B5EF4-FFF2-40B4-BE49-F238E27FC236}">
                <a16:creationId xmlns:a16="http://schemas.microsoft.com/office/drawing/2014/main" id="{5B967E11-E4B8-4C8A-B951-3134C08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Historical simulation</a:t>
            </a:r>
          </a:p>
        </p:txBody>
      </p:sp>
      <p:sp>
        <p:nvSpPr>
          <p:cNvPr id="10" name="s9-row-0-proves">
            <a:extLst xmlns:a="http://schemas.openxmlformats.org/drawingml/2006/main">
              <a:ext uri="{FF2B5EF4-FFF2-40B4-BE49-F238E27FC236}">
                <a16:creationId xmlns:a16="http://schemas.microsoft.com/office/drawing/2014/main" id="{82F551D5-0BE2-4FF3-A79F-FDD60CA9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409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Whether the idea was plausible in the past</a:t>
            </a:r>
          </a:p>
        </p:txBody>
      </p:sp>
      <p:sp>
        <p:nvSpPr>
          <p:cNvPr id="11" name="s9-row-0-not-proves">
            <a:extLst xmlns:a="http://schemas.openxmlformats.org/drawingml/2006/main">
              <a:ext uri="{FF2B5EF4-FFF2-40B4-BE49-F238E27FC236}">
                <a16:creationId xmlns:a16="http://schemas.microsoft.com/office/drawing/2014/main" id="{85649BBD-51DD-4C46-AC33-8374DCA7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Future performance</a:t>
            </a:r>
          </a:p>
        </p:txBody>
      </p:sp>
      <p:sp>
        <p:nvSpPr>
          <p:cNvPr id="12" name="s9-row-1-panel">
            <a:extLst xmlns:a="http://schemas.openxmlformats.org/drawingml/2006/main">
              <a:ext uri="{FF2B5EF4-FFF2-40B4-BE49-F238E27FC236}">
                <a16:creationId xmlns:a16="http://schemas.microsoft.com/office/drawing/2014/main" id="{AB95EAFC-35B9-41DD-B2BE-C8C1B1B4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9087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3" name="s9-row-1-layer">
            <a:extLst xmlns:a="http://schemas.openxmlformats.org/drawingml/2006/main">
              <a:ext uri="{FF2B5EF4-FFF2-40B4-BE49-F238E27FC236}">
                <a16:creationId xmlns:a16="http://schemas.microsoft.com/office/drawing/2014/main" id="{F7B750C5-7FB4-4580-BA43-AA8EC20B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Incubation</a:t>
            </a:r>
          </a:p>
        </p:txBody>
      </p:sp>
      <p:sp>
        <p:nvSpPr>
          <p:cNvPr id="14" name="s9-row-1-proves">
            <a:extLst xmlns:a="http://schemas.openxmlformats.org/drawingml/2006/main">
              <a:ext uri="{FF2B5EF4-FFF2-40B4-BE49-F238E27FC236}">
                <a16:creationId xmlns:a16="http://schemas.microsoft.com/office/drawing/2014/main" id="{7BEB61CA-3F86-4DA6-9B4D-A2CDD4A0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09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Whether the process works forward in time</a:t>
            </a:r>
          </a:p>
        </p:txBody>
      </p:sp>
      <p:sp>
        <p:nvSpPr>
          <p:cNvPr id="15" name="s9-row-1-not-proves">
            <a:extLst xmlns:a="http://schemas.openxmlformats.org/drawingml/2006/main">
              <a:ext uri="{FF2B5EF4-FFF2-40B4-BE49-F238E27FC236}">
                <a16:creationId xmlns:a16="http://schemas.microsoft.com/office/drawing/2014/main" id="{58FC04A0-7F57-44B5-BB8C-ADCB81A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A real-money return</a:t>
            </a:r>
          </a:p>
        </p:txBody>
      </p:sp>
      <p:sp>
        <p:nvSpPr>
          <p:cNvPr id="16" name="s9-row-2-panel">
            <a:extLst xmlns:a="http://schemas.openxmlformats.org/drawingml/2006/main">
              <a:ext uri="{FF2B5EF4-FFF2-40B4-BE49-F238E27FC236}">
                <a16:creationId xmlns:a16="http://schemas.microsoft.com/office/drawing/2014/main" id="{6C802D4F-0DC5-455D-AACC-5257D980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7" name="s9-row-2-layer">
            <a:extLst xmlns:a="http://schemas.openxmlformats.org/drawingml/2006/main">
              <a:ext uri="{FF2B5EF4-FFF2-40B4-BE49-F238E27FC236}">
                <a16:creationId xmlns:a16="http://schemas.microsoft.com/office/drawing/2014/main" id="{16B213B3-66DA-47CC-9AC6-F1CA57D0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Paper / limited trading</a:t>
            </a:r>
          </a:p>
        </p:txBody>
      </p:sp>
      <p:sp>
        <p:nvSpPr>
          <p:cNvPr id="18" name="s9-row-2-proves">
            <a:extLst xmlns:a="http://schemas.openxmlformats.org/drawingml/2006/main">
              <a:ext uri="{FF2B5EF4-FFF2-40B4-BE49-F238E27FC236}">
                <a16:creationId xmlns:a16="http://schemas.microsoft.com/office/drawing/2014/main" id="{58B1EAC7-DB3B-4733-9E89-1C775C31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10050"/>
            <a:ext cx="409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Whether broker and operating plumbing work</a:t>
            </a:r>
          </a:p>
        </p:txBody>
      </p:sp>
      <p:sp>
        <p:nvSpPr>
          <p:cNvPr id="19" name="s9-row-2-not-proves">
            <a:extLst xmlns:a="http://schemas.openxmlformats.org/drawingml/2006/main">
              <a:ext uri="{FF2B5EF4-FFF2-40B4-BE49-F238E27FC236}">
                <a16:creationId xmlns:a16="http://schemas.microsoft.com/office/drawing/2014/main" id="{E719E952-6D80-4878-8A1E-CDBBB7CB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Long-term real fill quality</a:t>
            </a:r>
          </a:p>
        </p:txBody>
      </p:sp>
      <p:sp>
        <p:nvSpPr>
          <p:cNvPr id="20" name="s9-row-3-panel">
            <a:extLst xmlns:a="http://schemas.openxmlformats.org/drawingml/2006/main">
              <a:ext uri="{FF2B5EF4-FFF2-40B4-BE49-F238E27FC236}">
                <a16:creationId xmlns:a16="http://schemas.microsoft.com/office/drawing/2014/main" id="{B72AAB42-EC36-4726-9805-B79B6666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0537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1" name="s9-row-3-layer">
            <a:extLst xmlns:a="http://schemas.openxmlformats.org/drawingml/2006/main">
              <a:ext uri="{FF2B5EF4-FFF2-40B4-BE49-F238E27FC236}">
                <a16:creationId xmlns:a16="http://schemas.microsoft.com/office/drawing/2014/main" id="{2F667962-FAF2-427D-A6C8-86FA7DF0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Live</a:t>
            </a:r>
          </a:p>
        </p:txBody>
      </p:sp>
      <p:sp>
        <p:nvSpPr>
          <p:cNvPr id="22" name="s9-row-3-proves">
            <a:extLst xmlns:a="http://schemas.openxmlformats.org/drawingml/2006/main">
              <a:ext uri="{FF2B5EF4-FFF2-40B4-BE49-F238E27FC236}">
                <a16:creationId xmlns:a16="http://schemas.microsoft.com/office/drawing/2014/main" id="{C1CA33AC-0BF8-49DC-9952-E78252F2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67300"/>
            <a:ext cx="409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What actually happened in the account</a:t>
            </a:r>
          </a:p>
        </p:txBody>
      </p:sp>
      <p:sp>
        <p:nvSpPr>
          <p:cNvPr id="23" name="s9-row-3-not-proves">
            <a:extLst xmlns:a="http://schemas.openxmlformats.org/drawingml/2006/main">
              <a:ext uri="{FF2B5EF4-FFF2-40B4-BE49-F238E27FC236}">
                <a16:creationId xmlns:a16="http://schemas.microsoft.com/office/drawing/2014/main" id="{42BA1E11-FFBB-4E7D-BD21-D5D93CD9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6730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Durability across full market cycles</a:t>
            </a:r>
          </a:p>
        </p:txBody>
      </p:sp>
      <p:sp>
        <p:nvSpPr>
          <p:cNvPr id="24" name="s9-method-label">
            <a:extLst xmlns:a="http://schemas.openxmlformats.org/drawingml/2006/main">
              <a:ext uri="{FF2B5EF4-FFF2-40B4-BE49-F238E27FC236}">
                <a16:creationId xmlns:a16="http://schemas.microsoft.com/office/drawing/2014/main" id="{1B1A4A91-2F78-4854-8862-CA6CCA74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MEASUREMENT METHOD AND SOURCES</a:t>
            </a:r>
          </a:p>
        </p:txBody>
      </p:sp>
      <p:sp>
        <p:nvSpPr>
          <p:cNvPr id="25" name="s9-method-fill-panel">
            <a:extLst xmlns:a="http://schemas.openxmlformats.org/drawingml/2006/main">
              <a:ext uri="{FF2B5EF4-FFF2-40B4-BE49-F238E27FC236}">
                <a16:creationId xmlns:a16="http://schemas.microsoft.com/office/drawing/2014/main" id="{F15A354E-89A6-44A0-9B3B-5ECD92B4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10250"/>
            <a:ext cx="1314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9-method-fill-text">
            <a:extLst xmlns:a="http://schemas.openxmlformats.org/drawingml/2006/main">
              <a:ext uri="{FF2B5EF4-FFF2-40B4-BE49-F238E27FC236}">
                <a16:creationId xmlns:a16="http://schemas.microsoft.com/office/drawing/2014/main" id="{B6C6967B-2A74-4BEB-B121-7AF914E9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7" name="slide-10-draft-footer">
            <a:extLst xmlns:a="http://schemas.openxmlformats.org/drawingml/2006/main">
              <a:ext uri="{FF2B5EF4-FFF2-40B4-BE49-F238E27FC236}">
                <a16:creationId xmlns:a16="http://schemas.microsoft.com/office/drawing/2014/main" id="{0CD3E950-0725-4B7E-81EE-A0A6EB38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8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9FBFBF3A-D0BF-4810-954B-B38BA703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0130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1DAD28A3-69D2-4294-902D-F6B0AF1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9525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Risk scenarios show ranges—not forecasts</a:t>
            </a:r>
          </a:p>
        </p:txBody>
      </p:sp>
      <p:sp>
        <p:nvSpPr>
          <p:cNvPr id="2" name="slide-11-appendix">
            <a:extLst xmlns:a="http://schemas.openxmlformats.org/drawingml/2006/main">
              <a:ext uri="{FF2B5EF4-FFF2-40B4-BE49-F238E27FC236}">
                <a16:creationId xmlns:a16="http://schemas.microsoft.com/office/drawing/2014/main" id="{35BAB1F4-9F16-4FC7-8B0D-7878F0F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APPENDIX</a:t>
            </a:r>
          </a:p>
        </p:txBody>
      </p:sp>
      <p:sp>
        <p:nvSpPr>
          <p:cNvPr id="3" name="s10-intro">
            <a:extLst xmlns:a="http://schemas.openxmlformats.org/drawingml/2006/main">
              <a:ext uri="{FF2B5EF4-FFF2-40B4-BE49-F238E27FC236}">
                <a16:creationId xmlns:a16="http://schemas.microsoft.com/office/drawing/2014/main" id="{7B1334B6-0298-460F-BDE7-63EEE8AA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19200"/>
            <a:ext cx="9505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The model rearranges blocks of historical daily returns to show alternative historical paths—including unpleasant sequences.</a:t>
            </a:r>
          </a:p>
        </p:txBody>
      </p:sp>
      <p:sp>
        <p:nvSpPr>
          <p:cNvPr id="4" name="s10-does-panel">
            <a:extLst xmlns:a="http://schemas.openxmlformats.org/drawingml/2006/main">
              <a:ext uri="{FF2B5EF4-FFF2-40B4-BE49-F238E27FC236}">
                <a16:creationId xmlns:a16="http://schemas.microsoft.com/office/drawing/2014/main" id="{FE4CC746-13B7-4A6A-B6ED-1982B7F2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5534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does-not-panel">
            <a:extLst xmlns:a="http://schemas.openxmlformats.org/drawingml/2006/main">
              <a:ext uri="{FF2B5EF4-FFF2-40B4-BE49-F238E27FC236}">
                <a16:creationId xmlns:a16="http://schemas.microsoft.com/office/drawing/2014/main" id="{A4741DB7-7005-4E12-973D-8A83219B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5534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0-does-title">
            <a:extLst xmlns:a="http://schemas.openxmlformats.org/drawingml/2006/main">
              <a:ext uri="{FF2B5EF4-FFF2-40B4-BE49-F238E27FC236}">
                <a16:creationId xmlns:a16="http://schemas.microsoft.com/office/drawing/2014/main" id="{6A581DCF-27BE-4A6C-A1A2-06FC68A7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4810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WHAT IT DOES</a:t>
            </a:r>
          </a:p>
        </p:txBody>
      </p:sp>
      <p:sp>
        <p:nvSpPr>
          <p:cNvPr id="7" name="s10-does-not-title">
            <a:extLst xmlns:a="http://schemas.openxmlformats.org/drawingml/2006/main">
              <a:ext uri="{FF2B5EF4-FFF2-40B4-BE49-F238E27FC236}">
                <a16:creationId xmlns:a16="http://schemas.microsoft.com/office/drawing/2014/main" id="{3808EA80-A648-49FA-94B0-48487EE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810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WHAT IT DOES NOT DO</a:t>
            </a:r>
          </a:p>
        </p:txBody>
      </p:sp>
      <p:sp>
        <p:nvSpPr>
          <p:cNvPr id="8" name="s10-does-0-check">
            <a:extLst xmlns:a="http://schemas.openxmlformats.org/drawingml/2006/main">
              <a:ext uri="{FF2B5EF4-FFF2-40B4-BE49-F238E27FC236}">
                <a16:creationId xmlns:a16="http://schemas.microsoft.com/office/drawing/2014/main" id="{18D3F8A4-543E-4646-81CA-44868A87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s10-does-0-text">
            <a:extLst xmlns:a="http://schemas.openxmlformats.org/drawingml/2006/main">
              <a:ext uri="{FF2B5EF4-FFF2-40B4-BE49-F238E27FC236}">
                <a16:creationId xmlns:a16="http://schemas.microsoft.com/office/drawing/2014/main" id="{955B29C7-295E-4BCA-86C1-29949FB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Shows plausible weak months and years</a:t>
            </a:r>
          </a:p>
        </p:txBody>
      </p:sp>
      <p:sp>
        <p:nvSpPr>
          <p:cNvPr id="10" name="s10-does-not-0-check">
            <a:extLst xmlns:a="http://schemas.openxmlformats.org/drawingml/2006/main">
              <a:ext uri="{FF2B5EF4-FFF2-40B4-BE49-F238E27FC236}">
                <a16:creationId xmlns:a16="http://schemas.microsoft.com/office/drawing/2014/main" id="{25AC0ED5-7E5C-44F0-A8DA-8E44C597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908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1" name="s10-does-not-0-text">
            <a:extLst xmlns:a="http://schemas.openxmlformats.org/drawingml/2006/main">
              <a:ext uri="{FF2B5EF4-FFF2-40B4-BE49-F238E27FC236}">
                <a16:creationId xmlns:a16="http://schemas.microsoft.com/office/drawing/2014/main" id="{FE146D01-39C9-4014-A75B-9B2E7573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908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Cannot predict a crisis absent from history</a:t>
            </a:r>
          </a:p>
        </p:txBody>
      </p:sp>
      <p:sp>
        <p:nvSpPr>
          <p:cNvPr id="12" name="s10-does-1-check">
            <a:extLst xmlns:a="http://schemas.openxmlformats.org/drawingml/2006/main">
              <a:ext uri="{FF2B5EF4-FFF2-40B4-BE49-F238E27FC236}">
                <a16:creationId xmlns:a16="http://schemas.microsoft.com/office/drawing/2014/main" id="{9F7CE37E-865F-4B0B-80A5-87519BD9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3" name="s10-does-1-text">
            <a:extLst xmlns:a="http://schemas.openxmlformats.org/drawingml/2006/main">
              <a:ext uri="{FF2B5EF4-FFF2-40B4-BE49-F238E27FC236}">
                <a16:creationId xmlns:a16="http://schemas.microsoft.com/office/drawing/2014/main" id="{08CDB218-2713-4AB6-99DE-A1B55435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Tests drawdowns and time below the prior peak</a:t>
            </a:r>
          </a:p>
        </p:txBody>
      </p:sp>
      <p:sp>
        <p:nvSpPr>
          <p:cNvPr id="14" name="s10-does-not-1-check">
            <a:extLst xmlns:a="http://schemas.openxmlformats.org/drawingml/2006/main">
              <a:ext uri="{FF2B5EF4-FFF2-40B4-BE49-F238E27FC236}">
                <a16:creationId xmlns:a16="http://schemas.microsoft.com/office/drawing/2014/main" id="{0B118677-601D-436D-B925-A8D65514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052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5" name="s10-does-not-1-text">
            <a:extLst xmlns:a="http://schemas.openxmlformats.org/drawingml/2006/main">
              <a:ext uri="{FF2B5EF4-FFF2-40B4-BE49-F238E27FC236}">
                <a16:creationId xmlns:a16="http://schemas.microsoft.com/office/drawing/2014/main" id="{81E0CCCF-043E-4C38-BC68-7985E4D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052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Does not remove model or selection risk</a:t>
            </a:r>
          </a:p>
        </p:txBody>
      </p:sp>
      <p:sp>
        <p:nvSpPr>
          <p:cNvPr id="16" name="s10-does-2-check">
            <a:extLst xmlns:a="http://schemas.openxmlformats.org/drawingml/2006/main">
              <a:ext uri="{FF2B5EF4-FFF2-40B4-BE49-F238E27FC236}">
                <a16:creationId xmlns:a16="http://schemas.microsoft.com/office/drawing/2014/main" id="{8079311A-705E-4C98-A804-7168A5A4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7" name="s10-does-2-text">
            <a:extLst xmlns:a="http://schemas.openxmlformats.org/drawingml/2006/main">
              <a:ext uri="{FF2B5EF4-FFF2-40B4-BE49-F238E27FC236}">
                <a16:creationId xmlns:a16="http://schemas.microsoft.com/office/drawing/2014/main" id="{C5E22740-B0B0-4B41-83DD-0E80172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Compares cost assumptions and scenarios</a:t>
            </a:r>
          </a:p>
        </p:txBody>
      </p:sp>
      <p:sp>
        <p:nvSpPr>
          <p:cNvPr id="18" name="s10-does-not-2-check">
            <a:extLst xmlns:a="http://schemas.openxmlformats.org/drawingml/2006/main">
              <a:ext uri="{FF2B5EF4-FFF2-40B4-BE49-F238E27FC236}">
                <a16:creationId xmlns:a16="http://schemas.microsoft.com/office/drawing/2014/main" id="{50ED3F40-A945-4AEE-A8A9-58EF6FFE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195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9" name="s10-does-not-2-text">
            <a:extLst xmlns:a="http://schemas.openxmlformats.org/drawingml/2006/main">
              <a:ext uri="{FF2B5EF4-FFF2-40B4-BE49-F238E27FC236}">
                <a16:creationId xmlns:a16="http://schemas.microsoft.com/office/drawing/2014/main" id="{D687E324-79CE-4355-A511-29F6F97A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195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Cannot guarantee results stay inside the range</a:t>
            </a:r>
          </a:p>
        </p:txBody>
      </p:sp>
      <p:sp>
        <p:nvSpPr>
          <p:cNvPr id="20" name="s10-does-3-check">
            <a:extLst xmlns:a="http://schemas.openxmlformats.org/drawingml/2006/main">
              <a:ext uri="{FF2B5EF4-FFF2-40B4-BE49-F238E27FC236}">
                <a16:creationId xmlns:a16="http://schemas.microsoft.com/office/drawing/2014/main" id="{67754866-546D-4939-ADBD-AF8D53F2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1" name="s10-does-3-text">
            <a:extLst xmlns:a="http://schemas.openxmlformats.org/drawingml/2006/main">
              <a:ext uri="{FF2B5EF4-FFF2-40B4-BE49-F238E27FC236}">
                <a16:creationId xmlns:a16="http://schemas.microsoft.com/office/drawing/2014/main" id="{F96DD1E3-D064-4E40-AEE3-46348407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Shows ranges instead of one target number</a:t>
            </a:r>
          </a:p>
        </p:txBody>
      </p:sp>
      <p:sp>
        <p:nvSpPr>
          <p:cNvPr id="22" name="s10-does-not-3-check">
            <a:extLst xmlns:a="http://schemas.openxmlformats.org/drawingml/2006/main">
              <a:ext uri="{FF2B5EF4-FFF2-40B4-BE49-F238E27FC236}">
                <a16:creationId xmlns:a16="http://schemas.microsoft.com/office/drawing/2014/main" id="{3F909562-5AB6-4985-B0FD-75CA8E52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339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23" name="s10-does-not-3-text">
            <a:extLst xmlns:a="http://schemas.openxmlformats.org/drawingml/2006/main">
              <a:ext uri="{FF2B5EF4-FFF2-40B4-BE49-F238E27FC236}">
                <a16:creationId xmlns:a16="http://schemas.microsoft.com/office/drawing/2014/main" id="{1C0B94B2-F553-4EC9-BB22-A0E1BE0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33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Does not replace a real-money track record</a:t>
            </a:r>
          </a:p>
        </p:txBody>
      </p:sp>
      <p:sp>
        <p:nvSpPr>
          <p:cNvPr id="24" name="s10-fill-band">
            <a:extLst xmlns:a="http://schemas.openxmlformats.org/drawingml/2006/main">
              <a:ext uri="{FF2B5EF4-FFF2-40B4-BE49-F238E27FC236}">
                <a16:creationId xmlns:a16="http://schemas.microsoft.com/office/drawing/2014/main" id="{C4941E37-90C5-4CD2-A8FA-3DBD47B0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10-fill-label">
            <a:extLst xmlns:a="http://schemas.openxmlformats.org/drawingml/2006/main">
              <a:ext uri="{FF2B5EF4-FFF2-40B4-BE49-F238E27FC236}">
                <a16:creationId xmlns:a16="http://schemas.microsoft.com/office/drawing/2014/main" id="{79E55979-F8EB-4EAD-BB79-B3BFE2B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PORTFOLIO, PERIOD, COSTS AND FEES USED IN THE MODEL</a:t>
            </a:r>
          </a:p>
        </p:txBody>
      </p:sp>
      <p:sp>
        <p:nvSpPr>
          <p:cNvPr id="26" name="s10-fill-panel">
            <a:extLst xmlns:a="http://schemas.openxmlformats.org/drawingml/2006/main">
              <a:ext uri="{FF2B5EF4-FFF2-40B4-BE49-F238E27FC236}">
                <a16:creationId xmlns:a16="http://schemas.microsoft.com/office/drawing/2014/main" id="{18A8A59C-D477-462A-BD9E-E2B93D0F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00700"/>
            <a:ext cx="1314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10-fill-text">
            <a:extLst xmlns:a="http://schemas.openxmlformats.org/drawingml/2006/main">
              <a:ext uri="{FF2B5EF4-FFF2-40B4-BE49-F238E27FC236}">
                <a16:creationId xmlns:a16="http://schemas.microsoft.com/office/drawing/2014/main" id="{62DCFF0E-3A82-4F17-AE5A-C6B943A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38800"/>
            <a:ext cx="1123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8" name="s10-current-note">
            <a:extLst xmlns:a="http://schemas.openxmlformats.org/drawingml/2006/main">
              <a:ext uri="{FF2B5EF4-FFF2-40B4-BE49-F238E27FC236}">
                <a16:creationId xmlns:a16="http://schemas.microsoft.com/office/drawing/2014/main" id="{41709779-26B6-48B8-9A44-E8409750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10648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Current implementation uses 21 trading days as a month; calendar-month adjustment: FILL</a:t>
            </a:r>
          </a:p>
        </p:txBody>
      </p:sp>
      <p:sp>
        <p:nvSpPr>
          <p:cNvPr id="29" name="slide-11-draft-footer">
            <a:extLst xmlns:a="http://schemas.openxmlformats.org/drawingml/2006/main">
              <a:ext uri="{FF2B5EF4-FFF2-40B4-BE49-F238E27FC236}">
                <a16:creationId xmlns:a16="http://schemas.microsoft.com/office/drawing/2014/main" id="{E3E1B439-075B-4A0A-9506-FF37CBA9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30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A858341E-4043-4D3B-844D-2C46A1C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8036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468B5AA0-599C-47AD-B288-7FA10531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9525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Legal review is required before distribution</a:t>
            </a:r>
          </a:p>
        </p:txBody>
      </p:sp>
      <p:sp>
        <p:nvSpPr>
          <p:cNvPr id="2" name="slide-12-appendix">
            <a:extLst xmlns:a="http://schemas.openxmlformats.org/drawingml/2006/main">
              <a:ext uri="{FF2B5EF4-FFF2-40B4-BE49-F238E27FC236}">
                <a16:creationId xmlns:a16="http://schemas.microsoft.com/office/drawing/2014/main" id="{83A4FE0E-702D-4029-97F4-7D3434AF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APPENDIX</a:t>
            </a:r>
          </a:p>
        </p:txBody>
      </p:sp>
      <p:sp>
        <p:nvSpPr>
          <p:cNvPr id="3" name="s11-intro">
            <a:extLst xmlns:a="http://schemas.openxmlformats.org/drawingml/2006/main">
              <a:ext uri="{FF2B5EF4-FFF2-40B4-BE49-F238E27FC236}">
                <a16:creationId xmlns:a16="http://schemas.microsoft.com/office/drawing/2014/main" id="{6D73CA64-48C9-4F68-9DEE-319E48D8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19200"/>
            <a:ext cx="8934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This deck can be used as an investor discussion tool only after the structure, audience and language receive professional review.</a:t>
            </a:r>
          </a:p>
        </p:txBody>
      </p:sp>
      <p:sp>
        <p:nvSpPr>
          <p:cNvPr id="4" name="s11-field-0-label">
            <a:extLst xmlns:a="http://schemas.openxmlformats.org/drawingml/2006/main">
              <a:ext uri="{FF2B5EF4-FFF2-40B4-BE49-F238E27FC236}">
                <a16:creationId xmlns:a16="http://schemas.microsoft.com/office/drawing/2014/main" id="{2293F729-D686-4FCD-BA7E-36927A26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IDENTITY OF THE ENTITY AND MANAGER</a:t>
            </a:r>
          </a:p>
        </p:txBody>
      </p:sp>
      <p:sp>
        <p:nvSpPr>
          <p:cNvPr id="5" name="s11-field-0-fill-panel">
            <a:extLst xmlns:a="http://schemas.openxmlformats.org/drawingml/2006/main">
              <a:ext uri="{FF2B5EF4-FFF2-40B4-BE49-F238E27FC236}">
                <a16:creationId xmlns:a16="http://schemas.microsoft.com/office/drawing/2014/main" id="{52A823CB-3061-40BB-8904-C5A7D5B9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3835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1-field-0-fill-text">
            <a:extLst xmlns:a="http://schemas.openxmlformats.org/drawingml/2006/main">
              <a:ext uri="{FF2B5EF4-FFF2-40B4-BE49-F238E27FC236}">
                <a16:creationId xmlns:a16="http://schemas.microsoft.com/office/drawing/2014/main" id="{4E8265B9-687E-44AD-A70D-B0690DE2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764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5" name="s11-field-0-line"/>
          <p:cNvCxnSpPr/>
          <p:nvPr/>
        </p:nvCxnSpPr>
        <p:spPr>
          <a:xfrm xmlns:a="http://schemas.openxmlformats.org/drawingml/2006/main">
            <a:off x="762000" y="2495550"/>
            <a:ext cx="10648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11-field-1-label">
            <a:extLst xmlns:a="http://schemas.openxmlformats.org/drawingml/2006/main">
              <a:ext uri="{FF2B5EF4-FFF2-40B4-BE49-F238E27FC236}">
                <a16:creationId xmlns:a16="http://schemas.microsoft.com/office/drawing/2014/main" id="{15F75100-1204-4671-A631-F5C55412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LEGAL AND ACCOUNT STRUCTURE</a:t>
            </a:r>
          </a:p>
        </p:txBody>
      </p:sp>
      <p:sp>
        <p:nvSpPr>
          <p:cNvPr id="9" name="s11-field-1-fill-panel">
            <a:extLst xmlns:a="http://schemas.openxmlformats.org/drawingml/2006/main">
              <a:ext uri="{FF2B5EF4-FFF2-40B4-BE49-F238E27FC236}">
                <a16:creationId xmlns:a16="http://schemas.microsoft.com/office/drawing/2014/main" id="{0D1747AD-5B08-45B9-BB88-FDF4F03F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95575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1-field-1-fill-text">
            <a:extLst xmlns:a="http://schemas.openxmlformats.org/drawingml/2006/main">
              <a:ext uri="{FF2B5EF4-FFF2-40B4-BE49-F238E27FC236}">
                <a16:creationId xmlns:a16="http://schemas.microsoft.com/office/drawing/2014/main" id="{48C661EE-9D2C-4E2E-AE8E-54EE561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33675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9" name="s11-field-1-line"/>
          <p:cNvCxnSpPr/>
          <p:nvPr/>
        </p:nvCxnSpPr>
        <p:spPr>
          <a:xfrm xmlns:a="http://schemas.openxmlformats.org/drawingml/2006/main">
            <a:off x="762000" y="3152775"/>
            <a:ext cx="10648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11-field-2-label">
            <a:extLst xmlns:a="http://schemas.openxmlformats.org/drawingml/2006/main">
              <a:ext uri="{FF2B5EF4-FFF2-40B4-BE49-F238E27FC236}">
                <a16:creationId xmlns:a16="http://schemas.microsoft.com/office/drawing/2014/main" id="{5C7B6829-63B2-4FAB-B3C8-DA7A54B6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LICENSING, EXEMPTIONS AND TARGET INVESTORS</a:t>
            </a:r>
          </a:p>
        </p:txBody>
      </p:sp>
      <p:sp>
        <p:nvSpPr>
          <p:cNvPr id="13" name="s11-field-2-fill-panel">
            <a:extLst xmlns:a="http://schemas.openxmlformats.org/drawingml/2006/main">
              <a:ext uri="{FF2B5EF4-FFF2-40B4-BE49-F238E27FC236}">
                <a16:creationId xmlns:a16="http://schemas.microsoft.com/office/drawing/2014/main" id="{B26A13BF-599F-4901-841D-4369387F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1-field-2-fill-text">
            <a:extLst xmlns:a="http://schemas.openxmlformats.org/drawingml/2006/main">
              <a:ext uri="{FF2B5EF4-FFF2-40B4-BE49-F238E27FC236}">
                <a16:creationId xmlns:a16="http://schemas.microsoft.com/office/drawing/2014/main" id="{9EF2DCCB-5B5D-4024-BD83-2CADBFEC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9090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3" name="s11-field-2-line"/>
          <p:cNvCxnSpPr/>
          <p:nvPr/>
        </p:nvCxnSpPr>
        <p:spPr>
          <a:xfrm xmlns:a="http://schemas.openxmlformats.org/drawingml/2006/main">
            <a:off x="762000" y="3810000"/>
            <a:ext cx="10648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s11-field-3-label">
            <a:extLst xmlns:a="http://schemas.openxmlformats.org/drawingml/2006/main">
              <a:ext uri="{FF2B5EF4-FFF2-40B4-BE49-F238E27FC236}">
                <a16:creationId xmlns:a16="http://schemas.microsoft.com/office/drawing/2014/main" id="{5090E5F0-1D70-442C-9D14-6C121C0E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INVESTMENT AND WITHDRAWAL TERMS</a:t>
            </a:r>
          </a:p>
        </p:txBody>
      </p:sp>
      <p:sp>
        <p:nvSpPr>
          <p:cNvPr id="17" name="s11-field-3-fill-panel">
            <a:extLst xmlns:a="http://schemas.openxmlformats.org/drawingml/2006/main">
              <a:ext uri="{FF2B5EF4-FFF2-40B4-BE49-F238E27FC236}">
                <a16:creationId xmlns:a16="http://schemas.microsoft.com/office/drawing/2014/main" id="{69BC7F7D-63ED-41DE-A086-EB05F02A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0025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1-field-3-fill-text">
            <a:extLst xmlns:a="http://schemas.openxmlformats.org/drawingml/2006/main">
              <a:ext uri="{FF2B5EF4-FFF2-40B4-BE49-F238E27FC236}">
                <a16:creationId xmlns:a16="http://schemas.microsoft.com/office/drawing/2014/main" id="{7426C2C1-A48F-43E0-9EF3-CFCBCF8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48125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7" name="s11-field-3-line"/>
          <p:cNvCxnSpPr/>
          <p:nvPr/>
        </p:nvCxnSpPr>
        <p:spPr>
          <a:xfrm xmlns:a="http://schemas.openxmlformats.org/drawingml/2006/main">
            <a:off x="762000" y="4467225"/>
            <a:ext cx="10648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s11-field-4-label">
            <a:extLst xmlns:a="http://schemas.openxmlformats.org/drawingml/2006/main">
              <a:ext uri="{FF2B5EF4-FFF2-40B4-BE49-F238E27FC236}">
                <a16:creationId xmlns:a16="http://schemas.microsoft.com/office/drawing/2014/main" id="{735F5DDA-C5CA-4AB9-8580-04677D1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LEGAL COUNSEL-APPROVED DISCLOSURE LANGUAGE</a:t>
            </a:r>
          </a:p>
        </p:txBody>
      </p:sp>
      <p:sp>
        <p:nvSpPr>
          <p:cNvPr id="21" name="s11-field-4-fill-panel">
            <a:extLst xmlns:a="http://schemas.openxmlformats.org/drawingml/2006/main">
              <a:ext uri="{FF2B5EF4-FFF2-40B4-BE49-F238E27FC236}">
                <a16:creationId xmlns:a16="http://schemas.microsoft.com/office/drawing/2014/main" id="{20E86F89-723E-48F8-AF36-94A05445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1-field-4-fill-text">
            <a:extLst xmlns:a="http://schemas.openxmlformats.org/drawingml/2006/main">
              <a:ext uri="{FF2B5EF4-FFF2-40B4-BE49-F238E27FC236}">
                <a16:creationId xmlns:a16="http://schemas.microsoft.com/office/drawing/2014/main" id="{9B56C432-0471-4B23-94C1-647DA7F7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053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51" name="s11-field-4-line"/>
          <p:cNvCxnSpPr/>
          <p:nvPr/>
        </p:nvCxnSpPr>
        <p:spPr>
          <a:xfrm xmlns:a="http://schemas.openxmlformats.org/drawingml/2006/main">
            <a:off x="762000" y="5124450"/>
            <a:ext cx="10648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s11-warning-panel">
            <a:extLst xmlns:a="http://schemas.openxmlformats.org/drawingml/2006/main">
              <a:ext uri="{FF2B5EF4-FFF2-40B4-BE49-F238E27FC236}">
                <a16:creationId xmlns:a16="http://schemas.microsoft.com/office/drawing/2014/main" id="{150576FB-7642-48D9-AAFF-4BC4EA6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72100"/>
            <a:ext cx="11410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11-warning">
            <a:extLst xmlns:a="http://schemas.openxmlformats.org/drawingml/2006/main">
              <a:ext uri="{FF2B5EF4-FFF2-40B4-BE49-F238E27FC236}">
                <a16:creationId xmlns:a16="http://schemas.microsoft.com/office/drawing/2014/main" id="{4D127CB1-FDAF-46BB-8E35-E90CD69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Internal draft. Do not distribute or present performance and terms before review by suitable legal counsel.</a:t>
            </a:r>
          </a:p>
        </p:txBody>
      </p:sp>
      <p:sp>
        <p:nvSpPr>
          <p:cNvPr id="26" name="s11-risk">
            <a:extLst xmlns:a="http://schemas.openxmlformats.org/drawingml/2006/main">
              <a:ext uri="{FF2B5EF4-FFF2-40B4-BE49-F238E27FC236}">
                <a16:creationId xmlns:a16="http://schemas.microsoft.com/office/drawing/2014/main" id="{74B21962-1156-4402-AF9A-2E1A087F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38850"/>
            <a:ext cx="981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Investing involves risk of loss, including substantial loss. Historical results and simulations do not guarantee future performance.</a:t>
            </a:r>
          </a:p>
        </p:txBody>
      </p:sp>
      <p:sp>
        <p:nvSpPr>
          <p:cNvPr id="27" name="slide-12-draft-footer">
            <a:extLst xmlns:a="http://schemas.openxmlformats.org/drawingml/2006/main">
              <a:ext uri="{FF2B5EF4-FFF2-40B4-BE49-F238E27FC236}">
                <a16:creationId xmlns:a16="http://schemas.microsoft.com/office/drawing/2014/main" id="{E98E4920-484D-43FB-9B11-C747AF91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INTERNAL DRAFT | NOT FOR DISTRIBUTION | LEGAL: FILL</a:t>
            </a:r>
          </a:p>
        </p:txBody>
      </p:sp>
      <p:sp>
        <p:nvSpPr>
          <p:cNvPr id="28" name="slide-12-page">
            <a:extLst xmlns:a="http://schemas.openxmlformats.org/drawingml/2006/main">
              <a:ext uri="{FF2B5EF4-FFF2-40B4-BE49-F238E27FC236}">
                <a16:creationId xmlns:a16="http://schemas.microsoft.com/office/drawing/2014/main" id="{81EEB095-15D4-46B3-BC2E-702E75A8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8961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2026-07-10T12:28:14.1490000Z</dcterms:created>
  <dcterms:modified xsi:type="dcterms:W3CDTF">2026-07-10T12:28:14.1490000Z</dcterms:modified>
</coreProperties>
</file>