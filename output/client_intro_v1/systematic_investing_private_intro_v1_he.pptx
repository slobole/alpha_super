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6cd27183694821" /><Relationship Type="http://schemas.openxmlformats.org/officeDocument/2006/relationships/extended-properties" Target="/docProps/app.xml" Id="R569254086a564fb8" /><Relationship Type="http://schemas.openxmlformats.org/officeDocument/2006/relationships/officeDocument" Target="/ppt/presentation.xml" Id="Ra23272357f3949fe" /></Relationships>
</file>

<file path=ppt/presentation.xml><?xml version="1.0" encoding="utf-8"?>
<p:presentation xmlns:p="http://schemas.openxmlformats.org/presentationml/2006/main">
  <p:sldMasterIdLst>
    <p:sldMasterId xmlns:r="http://schemas.openxmlformats.org/officeDocument/2006/relationships" id="2147483648" r:id="Rfb12d645565c4355"/>
  </p:sldMasterIdLst>
  <p:notesMasterIdLst>
    <p:notesMasterId xmlns:r="http://schemas.openxmlformats.org/officeDocument/2006/relationships" r:id="R3cc792bbcd5e4a84"/>
  </p:notesMasterIdLst>
  <p:sldIdLst>
    <p:sldId xmlns:r="http://schemas.openxmlformats.org/officeDocument/2006/relationships" id="256" r:id="R143b107d4e054a81"/>
    <p:sldId xmlns:r="http://schemas.openxmlformats.org/officeDocument/2006/relationships" id="257" r:id="R52d554d62eac4398"/>
    <p:sldId xmlns:r="http://schemas.openxmlformats.org/officeDocument/2006/relationships" id="258" r:id="Rdfb3eb7e9082460a"/>
    <p:sldId xmlns:r="http://schemas.openxmlformats.org/officeDocument/2006/relationships" id="259" r:id="Re190d2c08f7d4585"/>
    <p:sldId xmlns:r="http://schemas.openxmlformats.org/officeDocument/2006/relationships" id="260" r:id="Rb697e0ad9e0f40cd"/>
    <p:sldId xmlns:r="http://schemas.openxmlformats.org/officeDocument/2006/relationships" id="261" r:id="R5fc25e135ddc423a"/>
    <p:sldId xmlns:r="http://schemas.openxmlformats.org/officeDocument/2006/relationships" id="262" r:id="Rd8c59d6d01e44e60"/>
  </p:sldIdLst>
  <p:sldSz cx="10287000" cy="12858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63071ec4c443de" /><Relationship Type="http://schemas.openxmlformats.org/officeDocument/2006/relationships/slideMaster" Target="/ppt/slideMasters/slideMaster1.xml" Id="Rfb12d645565c4355" /><Relationship Type="http://schemas.openxmlformats.org/officeDocument/2006/relationships/notesMaster" Target="/ppt/notesMasters/notesMaster1.xml" Id="R3cc792bbcd5e4a84" /><Relationship Type="http://schemas.openxmlformats.org/officeDocument/2006/relationships/presProps" Target="/ppt/presProps.xml" Id="Rad94e330b0184ae6" /><Relationship Type="http://schemas.openxmlformats.org/officeDocument/2006/relationships/tableStyles" Target="/ppt/tableStyles.xml" Id="R2075984f42f348ea" /><Relationship Type="http://schemas.openxmlformats.org/officeDocument/2006/relationships/slide" Target="/ppt/slides/slide1.xml" Id="R143b107d4e054a81" /><Relationship Type="http://schemas.openxmlformats.org/officeDocument/2006/relationships/slide" Target="/ppt/slides/slide2.xml" Id="R52d554d62eac4398" /><Relationship Type="http://schemas.openxmlformats.org/officeDocument/2006/relationships/slide" Target="/ppt/slides/slide3.xml" Id="Rdfb3eb7e9082460a" /><Relationship Type="http://schemas.openxmlformats.org/officeDocument/2006/relationships/slide" Target="/ppt/slides/slide4.xml" Id="Re190d2c08f7d4585" /><Relationship Type="http://schemas.openxmlformats.org/officeDocument/2006/relationships/slide" Target="/ppt/slides/slide5.xml" Id="Rb697e0ad9e0f40cd" /><Relationship Type="http://schemas.openxmlformats.org/officeDocument/2006/relationships/slide" Target="/ppt/slides/slide6.xml" Id="R5fc25e135ddc423a" /><Relationship Type="http://schemas.openxmlformats.org/officeDocument/2006/relationships/slide" Target="/ppt/slides/slide7.xml" Id="Rd8c59d6d01e44e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b59cd7c5114b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0531ba49b049f0" /><Relationship Type="http://schemas.openxmlformats.org/officeDocument/2006/relationships/notesMaster" Target="/ppt/notesMasters/notesMaster1.xml" Id="R41e6cbf2d54b4f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0e950f4cac49a4" /><Relationship Type="http://schemas.openxmlformats.org/officeDocument/2006/relationships/notesMaster" Target="/ppt/notesMasters/notesMaster1.xml" Id="R76828940013140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1e2ca5538f4952" /><Relationship Type="http://schemas.openxmlformats.org/officeDocument/2006/relationships/notesMaster" Target="/ppt/notesMasters/notesMaster1.xml" Id="R13fac821868849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ed8b7c0fde489b" /><Relationship Type="http://schemas.openxmlformats.org/officeDocument/2006/relationships/notesMaster" Target="/ppt/notesMasters/notesMaster1.xml" Id="Rf840ba1a7c3b46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968bfbeab84ec2" /><Relationship Type="http://schemas.openxmlformats.org/officeDocument/2006/relationships/notesMaster" Target="/ppt/notesMasters/notesMaster1.xml" Id="R41e8de0bbf3d4b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ac21573b8d4ebf" /><Relationship Type="http://schemas.openxmlformats.org/officeDocument/2006/relationships/notesMaster" Target="/ppt/notesMasters/notesMaster1.xml" Id="R19d44c94808c4e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03e1decb714788" /><Relationship Type="http://schemas.openxmlformats.org/officeDocument/2006/relationships/notesMaster" Target="/ppt/notesMasters/notesMaster1.xml" Id="R3a7f97adbc2449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User-provided positioning brief in this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QUANT_PHILOSOPHY.md - probabilistic research, falsification, execution realism, and risk-first doctrine.</a:t>
            </a:r>
          </a:p>
          <a:p xmlns:a="http://schemas.openxmlformats.org/drawingml/2006/main">
            <a:r>
              <a:t>- docs/strategies/taa-linearity-qqq.md; docs/strategies/ndx-atr-vxn-scaled.md; docs/strategies/dv2-mean-reversion.md - the three unlevered examples shown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docs/system/system-overview.md - data to decision to broker to reconciliation flow.</a:t>
            </a:r>
          </a:p>
          <a:p xmlns:a="http://schemas.openxmlformats.org/drawingml/2006/main">
            <a:r>
              <a:t>- QUANT_PHILOSOPHY.md - deterministic order intent, auditability, and no discretionary live overrides.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results/research/strategy/strategy_mo_atr_normalized_ndx_vxn_scaled/vanilla_backtest/2026-08-01_185952/strategy_mo_atr_normalized_ndx_vxn_scaled.pkl - strategy and benchmark path values.</a:t>
            </a:r>
          </a:p>
          <a:p xmlns:a="http://schemas.openxmlformats.org/drawingml/2006/main">
            <a:r>
              <a:t>- results/research/strategy/strategy_mo_atr_normalized_ndx_vxn_scaled/vanilla_backtest/2026-08-01_185952/transactions.csv - all ten positions sold at the 2020-03-02 open.</a:t>
            </a:r>
          </a:p>
          <a:p xmlns:a="http://schemas.openxmlformats.org/drawingml/2006/main">
            <a:r>
              <a:t>- results/research/strategy/strategy_mo_atr_normalized_ndx_vxn_scaled/vanilla_backtest/2026-08-01_185952/run_info.json and metadata.json - backtest period, benchmark, accounting basis, and provenance.</a:t>
            </a:r>
          </a:p>
          <a:p xmlns:a="http://schemas.openxmlformats.org/drawingml/2006/main">
            <a:r>
              <a:t>- strategies/momentum/strategy_mo_atr_normalized_ndx_vxn_scaled.py - month-end decision, next-open execution, VXN exposure scaling; the 0% exposure came from the base trend gate, not VXN alone.</a:t>
            </a:r>
          </a:p>
          <a:p xmlns:a="http://schemas.openxmlformats.org/drawingml/2006/main">
            <a:r>
              <a:t>- Same-date calculation: 2020-02-19 to 2020-03-23. Strategy -13.8657%; S&amp;P 500 Total Return -33.7905%. Window strategy peak-to-trough -16.4558% on 2020-02-27.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docs/strategies/taa-linearity-qqq.md - monthly defensive rotation with QQQ-or-cash fallback.</a:t>
            </a:r>
          </a:p>
          <a:p xmlns:a="http://schemas.openxmlformats.org/drawingml/2006/main">
            <a:r>
              <a:t>- docs/strategies/ndx-atr-vxn-scaled.md - Nasdaq-100 momentum selection with risk-based exposure reduction.</a:t>
            </a:r>
          </a:p>
          <a:p xmlns:a="http://schemas.openxmlformats.org/drawingml/2006/main">
            <a:r>
              <a:t>- docs/strategies/dv2-mean-reversion.md - short-horizon mean reversion after oversold moves under additional filters.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QUANT_PHILOSOPHY.md - backtests as falsification, not proof; live-first simulation and auditability.</a:t>
            </a:r>
          </a:p>
          <a:p xmlns:a="http://schemas.openxmlformats.org/drawingml/2006/main">
            <a:r>
              <a:t>- alpha/bench/README.md - separate Vanilla, Capacity, Timing, Risk, Stress, and saved research evidence.</a:t>
            </a:r>
          </a:p>
          <a:p xmlns:a="http://schemas.openxmlformats.org/drawingml/2006/main">
            <a:r>
              <a:t>- ASSUMPTIONS_AND_GAPS.md - explicit modeling and live gaps that prevent overclaiming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docs/operations/client-onboarding.md - goals, account setup, rehearsal, verification, and staged LIVE activation.</a:t>
            </a:r>
          </a:p>
          <a:p xmlns:a="http://schemas.openxmlformats.org/drawingml/2006/main">
            <a:r>
              <a:t>- User-provided status: approximately three months of full formal operation; placeholder retained until exact start month and legal wording are 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3e7d17dba94b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4fa8071339465f" /><Relationship Type="http://schemas.openxmlformats.org/officeDocument/2006/relationships/slideLayout" Target="/ppt/slideLayouts/slideLayout1.xml" Id="R4c7cbec978934b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7cbec978934b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b6f933d07b4b87" /><Relationship Type="http://schemas.openxmlformats.org/officeDocument/2006/relationships/notesSlide" Target="/ppt/notesSlides/notesSlide1.xml" Id="R968dcfda78fb4e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961ed24ad3b4249" /><Relationship Type="http://schemas.openxmlformats.org/officeDocument/2006/relationships/notesSlide" Target="/ppt/notesSlides/notesSlide2.xml" Id="R288c8109ad424f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fd36fa26c54487" /><Relationship Type="http://schemas.openxmlformats.org/officeDocument/2006/relationships/notesSlide" Target="/ppt/notesSlides/notesSlide3.xml" Id="Ra4db3b48562241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405245cecca41f9" /><Relationship Type="http://schemas.openxmlformats.org/officeDocument/2006/relationships/chart" Target="/ppt/slides/charts/chart1.xml" Id="Rbe47c5368ef842da" /><Relationship Type="http://schemas.openxmlformats.org/officeDocument/2006/relationships/notesSlide" Target="/ppt/notesSlides/notesSlide4.xml" Id="Rceda54e81e1e4d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439cc9b9b34c33" /><Relationship Type="http://schemas.openxmlformats.org/officeDocument/2006/relationships/notesSlide" Target="/ppt/notesSlides/notesSlide5.xml" Id="Re370ee848b4e49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f55a0591f44d42" /><Relationship Type="http://schemas.openxmlformats.org/officeDocument/2006/relationships/notesSlide" Target="/ppt/notesSlides/notesSlide6.xml" Id="Re8c1801918844f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9ead4ec1094784" /><Relationship Type="http://schemas.openxmlformats.org/officeDocument/2006/relationships/notesSlide" Target="/ppt/notesSlides/notesSlide7.xml" Id="Reb17990f976f498d" /></Relationships>
</file>

<file path=ppt/slides/charts/chart1.xml><?xml version="1.0" encoding="utf-8"?>
<c:chartSpace xmlns:c="http://schemas.openxmlformats.org/drawingml/2006/chart">
  <c:lang val="en-US"/>
  <c:chart>
    <c:plotArea>
      <c:lineChart>
        <c:grouping val="standard"/>
        <c:varyColors val="0"/>
        <c:ser>
          <c:idx val="0"/>
          <c:order val="0"/>
          <c:tx>
            <c:v>המערכת</c:v>
          </c:tx>
          <c:spPr>
            <a:ln xmlns:a="http://schemas.openxmlformats.org/drawingml/2006/main" w="47625">
              <a:solidFill>
                <a:srgbClr val="2458C6"/>
              </a:solidFill>
              <a:prstDash val="solid"/>
            </a:ln>
          </c:spPr>
          <c:marker>
            <c:symbol val="circle"/>
            <c:size val="6"/>
            <c:spPr>
              <a:solidFill xmlns:a="http://schemas.openxmlformats.org/drawingml/2006/main">
                <a:srgbClr val="2458C6"/>
              </a:solidFill>
            </c:spPr>
          </c:marker>
          <c:cat>
            <c:numLit>
              <c:formatCode>General</c:formatCode>
              <c:ptCount val="7"/>
              <c:pt idx="0">
                <c:v>19.2</c:v>
              </c:pt>
              <c:pt idx="1">
                <c:v>28.2</c:v>
              </c:pt>
              <c:pt idx="2">
                <c:v>2.3</c:v>
              </c:pt>
              <c:pt idx="3">
                <c:v>13.3</c:v>
              </c:pt>
              <c:pt idx="4">
                <c:v>23.3</c:v>
              </c:pt>
              <c:pt idx="5">
                <c:v>17.4</c:v>
              </c:pt>
              <c:pt idx="6">
                <c:v>29.5</c:v>
              </c:pt>
            </c:numLit>
          </c:cat>
          <c:val>
            <c:numLit>
              <c:formatCode>0</c:formatCode>
              <c:ptCount val="7"/>
              <c:pt idx="0">
                <c:v>100</c:v>
              </c:pt>
              <c:pt idx="1">
                <c:v>84.12</c:v>
              </c:pt>
              <c:pt idx="2">
                <c:v>86.134</c:v>
              </c:pt>
              <c:pt idx="3">
                <c:v>86.134</c:v>
              </c:pt>
              <c:pt idx="4">
                <c:v>86.134</c:v>
              </c:pt>
              <c:pt idx="5">
                <c:v>86.134</c:v>
              </c:pt>
              <c:pt idx="6">
                <c:v>86.134</c:v>
              </c:pt>
            </c:numLit>
          </c:val>
          <c:smooth val="0"/>
        </c:ser>
        <c:ser>
          <c:idx val="1"/>
          <c:order val="1"/>
          <c:tx>
            <c:v>מדד השוק</c:v>
          </c:tx>
          <c:spPr>
            <a:ln xmlns:a="http://schemas.openxmlformats.org/drawingml/2006/main" w="38100">
              <a:solidFill>
                <a:srgbClr val="A7A39A"/>
              </a:solidFill>
              <a:prstDash val="solid"/>
            </a:ln>
          </c:spPr>
          <c:marker>
            <c:symbol val="circle"/>
            <c:size val="5"/>
            <c:spPr>
              <a:solidFill xmlns:a="http://schemas.openxmlformats.org/drawingml/2006/main">
                <a:srgbClr val="A7A39A"/>
              </a:solidFill>
            </c:spPr>
          </c:marker>
          <c:cat>
            <c:numLit>
              <c:formatCode>General</c:formatCode>
              <c:ptCount val="7"/>
              <c:pt idx="0">
                <c:v>19.2</c:v>
              </c:pt>
              <c:pt idx="1">
                <c:v>28.2</c:v>
              </c:pt>
              <c:pt idx="2">
                <c:v>2.3</c:v>
              </c:pt>
              <c:pt idx="3">
                <c:v>13.3</c:v>
              </c:pt>
              <c:pt idx="4">
                <c:v>23.3</c:v>
              </c:pt>
              <c:pt idx="5">
                <c:v>17.4</c:v>
              </c:pt>
              <c:pt idx="6">
                <c:v>29.5</c:v>
              </c:pt>
            </c:numLit>
          </c:cat>
          <c:val>
            <c:numLit>
              <c:formatCode>0</c:formatCode>
              <c:ptCount val="7"/>
              <c:pt idx="0">
                <c:v>100</c:v>
              </c:pt>
              <c:pt idx="1">
                <c:v>87.298</c:v>
              </c:pt>
              <c:pt idx="2">
                <c:v>91.319</c:v>
              </c:pt>
              <c:pt idx="3">
                <c:v>80.199</c:v>
              </c:pt>
              <c:pt idx="4">
                <c:v>66.21</c:v>
              </c:pt>
              <c:pt idx="5">
                <c:v>85.18</c:v>
              </c:pt>
              <c:pt idx="6">
                <c:v>90.435</c:v>
              </c:pt>
            </c:numLit>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D1C5"/>
            </a:solidFill>
            <a:prstDash val="solid"/>
          </a:ln>
        </c:spPr>
        <c:txPr>
          <a:bodyPr xmlns:a="http://schemas.openxmlformats.org/drawingml/2006/main" anchorCtr="1"/>
          <a:lstStyle xmlns:a="http://schemas.openxmlformats.org/drawingml/2006/main"/>
          <a:p xmlns:a="http://schemas.openxmlformats.org/drawingml/2006/main">
            <a:pPr>
              <a:defRPr sz="1200">
                <a:solidFill>
                  <a:srgbClr val="6E706B"/>
                </a:solidFill>
              </a:defRPr>
            </a:pPr>
          </a:p>
        </c:txPr>
        <c:crossAx val="48672768"/>
      </c:catAx>
      <c:valAx>
        <c:axId val="48672768"/>
        <c:scaling>
          <c:orientation val="minMax"/>
          <c:max val="105"/>
          <c:min val="60"/>
        </c:scaling>
        <c:delete val="0"/>
        <c:axPos val="l"/>
        <c:majorGridlines>
          <c:spPr>
            <a:ln xmlns:a="http://schemas.openxmlformats.org/drawingml/2006/main" w="9525">
              <a:solidFill>
                <a:srgbClr val="D7D1C5"/>
              </a:solidFill>
              <a:prstDash val="solid"/>
            </a:ln>
          </c:spPr>
        </c:majorGridlines>
        <c:numFmt formatCode="0"/>
        <c:majorTickMark val="none"/>
        <c:minorTickMark val="none"/>
        <c:spPr>
          <a:ln xmlns:a="http://schemas.openxmlformats.org/drawingml/2006/main" w="9525">
            <a:solidFill>
              <a:srgbClr val="D7D1C5"/>
            </a:solidFill>
            <a:prstDash val="solid"/>
          </a:ln>
        </c:spPr>
        <c:txPr>
          <a:bodyPr xmlns:a="http://schemas.openxmlformats.org/drawingml/2006/main" anchorCtr="1"/>
          <a:lstStyle xmlns:a="http://schemas.openxmlformats.org/drawingml/2006/main"/>
          <a:p xmlns:a="http://schemas.openxmlformats.org/drawingml/2006/main">
            <a:pPr>
              <a:defRPr sz="1200">
                <a:solidFill>
                  <a:srgbClr val="6E706B"/>
                </a:solidFill>
              </a:defRPr>
            </a:pPr>
          </a:p>
        </c:txPr>
        <c:crossAx val="48650112"/>
        <c:crossBetween val="between"/>
        <c:majorUnit val="10"/>
      </c:valAx>
      <c:spPr>
        <a:solidFill xmlns:a="http://schemas.openxmlformats.org/drawingml/2006/main">
          <a:srgbClr val="FBF9F5"/>
        </a:solidFill>
        <a:ln xmlns:a="http://schemas.openxmlformats.org/drawingml/2006/main" w="0">
          <a:no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1350">
              <a:solidFill>
                <a:srgbClr val="171816"/>
              </a:solidFill>
            </a:defRPr>
          </a:pPr>
        </a:p>
      </c:txPr>
    </c:legend>
    <c:plotVisOnly val="1"/>
  </c:chart>
  <c:spPr>
    <a:solidFill xmlns:a="http://schemas.openxmlformats.org/drawingml/2006/main">
      <a:srgbClr val="FBF9F5"/>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0" name="private-label">
            <a:extLst xmlns:a="http://schemas.openxmlformats.org/drawingml/2006/main">
              <a:ext uri="{FF2B5EF4-FFF2-40B4-BE49-F238E27FC236}">
                <a16:creationId xmlns:a16="http://schemas.microsoft.com/office/drawing/2014/main" id="{626F3EAF-05BB-4CE2-B646-CEC73624E1C7}"/>
              </a:ext>
            </a:extLst>
          </p:cNvPr>
          <p:cNvSpPr>
            <a:spLocks xmlns:a="http://schemas.openxmlformats.org/drawingml/2006/main" noGrp="1"/>
          </p:cNvSpPr>
          <p:nvPr/>
        </p:nvSpPr>
        <p:spPr>
          <a:xfrm xmlns:a="http://schemas.openxmlformats.org/drawingml/2006/main">
            <a:off x="819150" y="742950"/>
            <a:ext cx="864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500" b="1" lang="he-IL">
                <a:solidFill>
                  <a:srgbClr val="2458C6"/>
                </a:solidFill>
                <a:latin typeface="Arial"/>
                <a:ea typeface="Arial"/>
                <a:cs typeface="Arial"/>
              </a:defRPr>
            </a:pPr>
            <a:r>
              <a:rPr sz="1500" b="1" lang="he-IL">
                <a:solidFill>
                  <a:srgbClr val="2458C6"/>
                </a:solidFill>
                <a:latin typeface="Arial"/>
                <a:ea typeface="Arial"/>
                <a:cs typeface="Arial"/>
              </a:rPr>
              <a:t>סקירה פרטית</a:t>
            </a:r>
          </a:p>
        </p:txBody>
      </p:sp>
      <p:sp>
        <p:nvSpPr>
          <p:cNvPr id="2" name="">
            <a:extLst xmlns:a="http://schemas.openxmlformats.org/drawingml/2006/main">
              <a:ext uri="{FF2B5EF4-FFF2-40B4-BE49-F238E27FC236}">
                <a16:creationId xmlns:a16="http://schemas.microsoft.com/office/drawing/2014/main" id="{6A5D4EDB-A50A-4795-BB7A-0C0659A12F57}"/>
              </a:ext>
            </a:extLst>
          </p:cNvPr>
          <p:cNvSpPr>
            <a:spLocks xmlns:a="http://schemas.openxmlformats.org/drawingml/2006/main" noGrp="1"/>
          </p:cNvSpPr>
          <p:nvPr/>
        </p:nvSpPr>
        <p:spPr>
          <a:xfrm xmlns:a="http://schemas.openxmlformats.org/drawingml/2006/main">
            <a:off x="819150" y="1257300"/>
            <a:ext cx="8648700" cy="0"/>
          </a:xfrm>
          <a:prstGeom xmlns:a="http://schemas.openxmlformats.org/drawingml/2006/main" prst="line">
            <a:avLst/>
          </a:prstGeom>
          <a:noFill xmlns:a="http://schemas.openxmlformats.org/drawingml/2006/main"/>
          <a:ln xmlns:a="http://schemas.openxmlformats.org/drawingml/2006/main" w="9525">
            <a:solidFill>
              <a:srgbClr val="D7D1C5"/>
            </a:solidFill>
            <a:prstDash val="solid"/>
          </a:ln>
        </p:spPr>
      </p:sp>
      <p:sp>
        <p:nvSpPr>
          <p:cNvPr id="3" name="cover-title-1">
            <a:extLst xmlns:a="http://schemas.openxmlformats.org/drawingml/2006/main">
              <a:ext uri="{FF2B5EF4-FFF2-40B4-BE49-F238E27FC236}">
                <a16:creationId xmlns:a16="http://schemas.microsoft.com/office/drawing/2014/main" id="{44B67DDC-545D-40AC-A81D-EC661E053300}"/>
              </a:ext>
            </a:extLst>
          </p:cNvPr>
          <p:cNvSpPr>
            <a:spLocks xmlns:a="http://schemas.openxmlformats.org/drawingml/2006/main" noGrp="1"/>
          </p:cNvSpPr>
          <p:nvPr/>
        </p:nvSpPr>
        <p:spPr>
          <a:xfrm xmlns:a="http://schemas.openxmlformats.org/drawingml/2006/main">
            <a:off x="819150" y="2762250"/>
            <a:ext cx="8648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5400" b="1" lang="he-IL">
                <a:solidFill>
                  <a:srgbClr val="171816"/>
                </a:solidFill>
                <a:latin typeface="Arial"/>
                <a:ea typeface="Arial"/>
                <a:cs typeface="Arial"/>
              </a:defRPr>
            </a:pPr>
            <a:r>
              <a:rPr sz="5400" b="1" lang="he-IL">
                <a:solidFill>
                  <a:srgbClr val="171816"/>
                </a:solidFill>
                <a:latin typeface="Arial"/>
                <a:ea typeface="Arial"/>
                <a:cs typeface="Arial"/>
              </a:rPr>
              <a:t>השקעה שיטתית.</a:t>
            </a:r>
          </a:p>
        </p:txBody>
      </p:sp>
      <p:sp>
        <p:nvSpPr>
          <p:cNvPr id="4" name="cover-title-2">
            <a:extLst xmlns:a="http://schemas.openxmlformats.org/drawingml/2006/main">
              <a:ext uri="{FF2B5EF4-FFF2-40B4-BE49-F238E27FC236}">
                <a16:creationId xmlns:a16="http://schemas.microsoft.com/office/drawing/2014/main" id="{D7CF6117-A76E-4A2B-BA01-57020B28BD69}"/>
              </a:ext>
            </a:extLst>
          </p:cNvPr>
          <p:cNvSpPr>
            <a:spLocks xmlns:a="http://schemas.openxmlformats.org/drawingml/2006/main" noGrp="1"/>
          </p:cNvSpPr>
          <p:nvPr/>
        </p:nvSpPr>
        <p:spPr>
          <a:xfrm xmlns:a="http://schemas.openxmlformats.org/drawingml/2006/main">
            <a:off x="819150" y="3714750"/>
            <a:ext cx="86487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5400" b="1" lang="he-IL">
                <a:solidFill>
                  <a:srgbClr val="2458C6"/>
                </a:solidFill>
                <a:latin typeface="Arial"/>
                <a:ea typeface="Arial"/>
                <a:cs typeface="Arial"/>
              </a:defRPr>
            </a:pPr>
            <a:r>
              <a:rPr sz="5400" b="1" lang="he-IL">
                <a:solidFill>
                  <a:srgbClr val="2458C6"/>
                </a:solidFill>
                <a:latin typeface="Arial"/>
                <a:ea typeface="Arial"/>
                <a:cs typeface="Arial"/>
              </a:rPr>
              <a:t>ניהול סיכון לפני הכול.</a:t>
            </a:r>
          </a:p>
        </p:txBody>
      </p:sp>
      <p:sp>
        <p:nvSpPr>
          <p:cNvPr id="5" name="cover-subtitle">
            <a:extLst xmlns:a="http://schemas.openxmlformats.org/drawingml/2006/main">
              <a:ext uri="{FF2B5EF4-FFF2-40B4-BE49-F238E27FC236}">
                <a16:creationId xmlns:a16="http://schemas.microsoft.com/office/drawing/2014/main" id="{8E9D93E7-E686-4B77-8C8E-3E1F376BC466}"/>
              </a:ext>
            </a:extLst>
          </p:cNvPr>
          <p:cNvSpPr>
            <a:spLocks xmlns:a="http://schemas.openxmlformats.org/drawingml/2006/main" noGrp="1"/>
          </p:cNvSpPr>
          <p:nvPr/>
        </p:nvSpPr>
        <p:spPr>
          <a:xfrm xmlns:a="http://schemas.openxmlformats.org/drawingml/2006/main">
            <a:off x="2047875" y="5381625"/>
            <a:ext cx="7429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250" b="0" lang="he-IL">
                <a:solidFill>
                  <a:srgbClr val="6E706B"/>
                </a:solidFill>
                <a:latin typeface="Arial"/>
                <a:ea typeface="Arial"/>
                <a:cs typeface="Arial"/>
              </a:defRPr>
            </a:pPr>
            <a:r>
              <a:rPr sz="2250" b="0" lang="he-IL">
                <a:solidFill>
                  <a:srgbClr val="6E706B"/>
                </a:solidFill>
                <a:latin typeface="Arial"/>
                <a:ea typeface="Arial"/>
                <a:cs typeface="Arial"/>
              </a:rPr>
              <a:t>תהליכי השקעה מדידים ושקופים לשווקים ציבוריים</a:t>
            </a:r>
          </a:p>
        </p:txBody>
      </p:sp>
      <p:sp>
        <p:nvSpPr>
          <p:cNvPr id="6" name="cover-accent">
            <a:extLst xmlns:a="http://schemas.openxmlformats.org/drawingml/2006/main">
              <a:ext uri="{FF2B5EF4-FFF2-40B4-BE49-F238E27FC236}">
                <a16:creationId xmlns:a16="http://schemas.microsoft.com/office/drawing/2014/main" id="{1ABCBA13-A9E7-4016-AD94-5D78A1A178EE}"/>
              </a:ext>
            </a:extLst>
          </p:cNvPr>
          <p:cNvSpPr>
            <a:spLocks xmlns:a="http://schemas.openxmlformats.org/drawingml/2006/main" noGrp="1"/>
          </p:cNvSpPr>
          <p:nvPr/>
        </p:nvSpPr>
        <p:spPr>
          <a:xfrm xmlns:a="http://schemas.openxmlformats.org/drawingml/2006/main">
            <a:off x="819150" y="7810500"/>
            <a:ext cx="8648700" cy="95250"/>
          </a:xfrm>
          <a:prstGeom xmlns:a="http://schemas.openxmlformats.org/drawingml/2006/main" prst="rect">
            <a:avLst/>
          </a:prstGeom>
          <a:solidFill xmlns:a="http://schemas.openxmlformats.org/drawingml/2006/main">
            <a:srgbClr val="171816"/>
          </a:solidFill>
          <a:ln xmlns:a="http://schemas.openxmlformats.org/drawingml/2006/main" w="0">
            <a:noFill/>
            <a:prstDash val="solid"/>
          </a:ln>
        </p:spPr>
      </p:sp>
      <p:sp>
        <p:nvSpPr>
          <p:cNvPr id="7" name="cover-principle">
            <a:extLst xmlns:a="http://schemas.openxmlformats.org/drawingml/2006/main">
              <a:ext uri="{FF2B5EF4-FFF2-40B4-BE49-F238E27FC236}">
                <a16:creationId xmlns:a16="http://schemas.microsoft.com/office/drawing/2014/main" id="{EAFC4CCA-FD3B-4C43-A981-E92E9A0D3BF6}"/>
              </a:ext>
            </a:extLst>
          </p:cNvPr>
          <p:cNvSpPr>
            <a:spLocks xmlns:a="http://schemas.openxmlformats.org/drawingml/2006/main" noGrp="1"/>
          </p:cNvSpPr>
          <p:nvPr/>
        </p:nvSpPr>
        <p:spPr>
          <a:xfrm xmlns:a="http://schemas.openxmlformats.org/drawingml/2006/main">
            <a:off x="819150" y="8324850"/>
            <a:ext cx="86487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550" b="0" lang="he-IL">
                <a:solidFill>
                  <a:srgbClr val="171816"/>
                </a:solidFill>
                <a:latin typeface="Arial"/>
                <a:ea typeface="Arial"/>
                <a:cs typeface="Arial"/>
              </a:defRPr>
            </a:pPr>
            <a:r>
              <a:rPr sz="2550" b="0" lang="he-IL">
                <a:solidFill>
                  <a:srgbClr val="171816"/>
                </a:solidFill>
                <a:latin typeface="Arial"/>
                <a:ea typeface="Arial"/>
                <a:cs typeface="Arial"/>
              </a:rPr>
              <a:t>לא תחזית. לא תחושת בטן.</a:t>
            </a:r>
          </a:p>
          <a:p xmlns:a="http://schemas.openxmlformats.org/drawingml/2006/main">
            <a:pPr algn="r" rtl="1">
              <a:defRPr sz="2550" b="0" lang="he-IL">
                <a:solidFill>
                  <a:srgbClr val="171816"/>
                </a:solidFill>
                <a:latin typeface="Arial"/>
                <a:ea typeface="Arial"/>
                <a:cs typeface="Arial"/>
              </a:defRPr>
            </a:pPr>
            <a:r>
              <a:rPr sz="2550" b="0" lang="he-IL">
                <a:solidFill>
                  <a:srgbClr val="171816"/>
                </a:solidFill>
                <a:latin typeface="Arial"/>
                <a:ea typeface="Arial"/>
                <a:cs typeface="Arial"/>
              </a:rPr>
              <a:t>חוקים ברורים, סיכון מוגדר ובקרה מתמשכת.</a:t>
            </a:r>
          </a:p>
        </p:txBody>
      </p:sp>
      <p:sp>
        <p:nvSpPr>
          <p:cNvPr id="8" name="cover-name">
            <a:extLst xmlns:a="http://schemas.openxmlformats.org/drawingml/2006/main">
              <a:ext uri="{FF2B5EF4-FFF2-40B4-BE49-F238E27FC236}">
                <a16:creationId xmlns:a16="http://schemas.microsoft.com/office/drawing/2014/main" id="{DA4B971D-E8E5-4589-B12A-7E822D190CB1}"/>
              </a:ext>
            </a:extLst>
          </p:cNvPr>
          <p:cNvSpPr>
            <a:spLocks xmlns:a="http://schemas.openxmlformats.org/drawingml/2006/main" noGrp="1"/>
          </p:cNvSpPr>
          <p:nvPr/>
        </p:nvSpPr>
        <p:spPr>
          <a:xfrm xmlns:a="http://schemas.openxmlformats.org/drawingml/2006/main">
            <a:off x="819150" y="11144250"/>
            <a:ext cx="8648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250" b="1" lang="he-IL">
                <a:solidFill>
                  <a:srgbClr val="171816"/>
                </a:solidFill>
                <a:latin typeface="Arial"/>
                <a:ea typeface="Arial"/>
                <a:cs typeface="Arial"/>
              </a:defRPr>
            </a:pPr>
            <a:r>
              <a:rPr sz="2250" b="1" lang="he-IL">
                <a:solidFill>
                  <a:srgbClr val="171816"/>
                </a:solidFill>
                <a:latin typeface="Arial"/>
                <a:ea typeface="Arial"/>
                <a:cs typeface="Arial"/>
              </a:rPr>
              <a:t>[שם מלא]</a:t>
            </a:r>
          </a:p>
        </p:txBody>
      </p:sp>
      <p:sp>
        <p:nvSpPr>
          <p:cNvPr id="9" name="cover-date">
            <a:extLst xmlns:a="http://schemas.openxmlformats.org/drawingml/2006/main">
              <a:ext uri="{FF2B5EF4-FFF2-40B4-BE49-F238E27FC236}">
                <a16:creationId xmlns:a16="http://schemas.microsoft.com/office/drawing/2014/main" id="{BC30E275-7991-474D-9A0E-5AD28222AC0D}"/>
              </a:ext>
            </a:extLst>
          </p:cNvPr>
          <p:cNvSpPr>
            <a:spLocks xmlns:a="http://schemas.openxmlformats.org/drawingml/2006/main" noGrp="1"/>
          </p:cNvSpPr>
          <p:nvPr/>
        </p:nvSpPr>
        <p:spPr>
          <a:xfrm xmlns:a="http://schemas.openxmlformats.org/drawingml/2006/main">
            <a:off x="819150" y="11696700"/>
            <a:ext cx="864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0" lang="he-IL">
                <a:solidFill>
                  <a:srgbClr val="6E706B"/>
                </a:solidFill>
                <a:latin typeface="Arial"/>
                <a:ea typeface="Arial"/>
                <a:cs typeface="Arial"/>
              </a:defRPr>
            </a:pPr>
            <a:r>
              <a:rPr sz="1350" b="0" lang="he-IL">
                <a:solidFill>
                  <a:srgbClr val="6E706B"/>
                </a:solidFill>
                <a:latin typeface="Arial"/>
                <a:ea typeface="Arial"/>
                <a:cs typeface="Arial"/>
              </a:rPr>
              <a:t>אוגוסט 2026</a:t>
            </a:r>
          </a:p>
        </p:txBody>
      </p:sp>
    </p:spTree>
    <p:extLst>
      <p:ext uri="{BB962C8B-B14F-4D97-AF65-F5344CB8AC3E}">
        <p14:creationId xmlns:p14="http://schemas.microsoft.com/office/powerpoint/2010/main" val="1017491403"/>
      </p:ext>
    </p:extLst>
  </p:cSld>
</p:sld>
</file>

<file path=ppt/slides/slide2.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21" name="eyebrow">
            <a:extLst xmlns:a="http://schemas.openxmlformats.org/drawingml/2006/main">
              <a:ext uri="{FF2B5EF4-FFF2-40B4-BE49-F238E27FC236}">
                <a16:creationId xmlns:a16="http://schemas.microsoft.com/office/drawing/2014/main" id="{E030FF85-6462-4AFD-A90B-95C3CEFF9BA3}"/>
              </a:ext>
            </a:extLst>
          </p:cNvPr>
          <p:cNvSpPr>
            <a:spLocks xmlns:a="http://schemas.openxmlformats.org/drawingml/2006/main" noGrp="1"/>
          </p:cNvSpPr>
          <p:nvPr/>
        </p:nvSpPr>
        <p:spPr>
          <a:xfrm xmlns:a="http://schemas.openxmlformats.org/drawingml/2006/main">
            <a:off x="819150" y="552450"/>
            <a:ext cx="864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1" lang="he-IL">
                <a:solidFill>
                  <a:srgbClr val="2458C6"/>
                </a:solidFill>
                <a:latin typeface="Arial"/>
                <a:ea typeface="Arial"/>
                <a:cs typeface="Arial"/>
              </a:defRPr>
            </a:pPr>
            <a:r>
              <a:rPr sz="1350" b="1" lang="he-IL">
                <a:solidFill>
                  <a:srgbClr val="2458C6"/>
                </a:solidFill>
                <a:latin typeface="Arial"/>
                <a:ea typeface="Arial"/>
                <a:cs typeface="Arial"/>
              </a:rPr>
              <a:t>איך אני חושב</a:t>
            </a:r>
          </a:p>
        </p:txBody>
      </p:sp>
      <p:sp>
        <p:nvSpPr>
          <p:cNvPr id="2" name="slide-title">
            <a:extLst xmlns:a="http://schemas.openxmlformats.org/drawingml/2006/main">
              <a:ext uri="{FF2B5EF4-FFF2-40B4-BE49-F238E27FC236}">
                <a16:creationId xmlns:a16="http://schemas.microsoft.com/office/drawing/2014/main" id="{D4949E6C-C4F0-491E-BB10-36182F0F7679}"/>
              </a:ext>
            </a:extLst>
          </p:cNvPr>
          <p:cNvSpPr>
            <a:spLocks xmlns:a="http://schemas.openxmlformats.org/drawingml/2006/main" noGrp="1"/>
          </p:cNvSpPr>
          <p:nvPr/>
        </p:nvSpPr>
        <p:spPr>
          <a:xfrm xmlns:a="http://schemas.openxmlformats.org/drawingml/2006/main">
            <a:off x="819150" y="1009650"/>
            <a:ext cx="8648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3600" b="1" lang="he-IL">
                <a:solidFill>
                  <a:srgbClr val="171816"/>
                </a:solidFill>
                <a:latin typeface="Arial"/>
                <a:ea typeface="Arial"/>
                <a:cs typeface="Arial"/>
              </a:defRPr>
            </a:pPr>
            <a:r>
              <a:rPr sz="3600" b="1" lang="he-IL">
                <a:solidFill>
                  <a:srgbClr val="171816"/>
                </a:solidFill>
                <a:latin typeface="Arial"/>
                <a:ea typeface="Arial"/>
                <a:cs typeface="Arial"/>
              </a:rPr>
              <a:t>לא לנבא. לעבוד בהסתברויות.</a:t>
            </a:r>
          </a:p>
        </p:txBody>
      </p:sp>
      <p:sp>
        <p:nvSpPr>
          <p:cNvPr id="3" name="probability-lead">
            <a:extLst xmlns:a="http://schemas.openxmlformats.org/drawingml/2006/main">
              <a:ext uri="{FF2B5EF4-FFF2-40B4-BE49-F238E27FC236}">
                <a16:creationId xmlns:a16="http://schemas.microsoft.com/office/drawing/2014/main" id="{E22FBDE0-6927-4FC5-A96E-4E5B064F7956}"/>
              </a:ext>
            </a:extLst>
          </p:cNvPr>
          <p:cNvSpPr>
            <a:spLocks xmlns:a="http://schemas.openxmlformats.org/drawingml/2006/main" noGrp="1"/>
          </p:cNvSpPr>
          <p:nvPr/>
        </p:nvSpPr>
        <p:spPr>
          <a:xfrm xmlns:a="http://schemas.openxmlformats.org/drawingml/2006/main">
            <a:off x="1619250" y="2381250"/>
            <a:ext cx="7848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700" b="1" lang="he-IL">
                <a:solidFill>
                  <a:srgbClr val="171816"/>
                </a:solidFill>
                <a:latin typeface="Arial"/>
                <a:ea typeface="Arial"/>
                <a:cs typeface="Arial"/>
              </a:defRPr>
            </a:pPr>
            <a:r>
              <a:rPr sz="2700" b="1" lang="he-IL">
                <a:solidFill>
                  <a:srgbClr val="171816"/>
                </a:solidFill>
                <a:latin typeface="Arial"/>
                <a:ea typeface="Arial"/>
                <a:cs typeface="Arial"/>
              </a:rPr>
              <a:t>אני לא יודע מה יקרה בעסקה הבאה - וגם המערכת אינה מתיימרת לדעת.</a:t>
            </a:r>
          </a:p>
        </p:txBody>
      </p:sp>
      <p:sp>
        <p:nvSpPr>
          <p:cNvPr id="4" name="probability-number-01">
            <a:extLst xmlns:a="http://schemas.openxmlformats.org/drawingml/2006/main">
              <a:ext uri="{FF2B5EF4-FFF2-40B4-BE49-F238E27FC236}">
                <a16:creationId xmlns:a16="http://schemas.microsoft.com/office/drawing/2014/main" id="{A502AF93-D3F9-4E4C-81C6-E2B8A96A5785}"/>
              </a:ext>
            </a:extLst>
          </p:cNvPr>
          <p:cNvSpPr>
            <a:spLocks xmlns:a="http://schemas.openxmlformats.org/drawingml/2006/main" noGrp="1"/>
          </p:cNvSpPr>
          <p:nvPr/>
        </p:nvSpPr>
        <p:spPr>
          <a:xfrm xmlns:a="http://schemas.openxmlformats.org/drawingml/2006/main">
            <a:off x="8172450" y="4238625"/>
            <a:ext cx="1276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50" b="1">
                <a:solidFill>
                  <a:srgbClr val="2458C6"/>
                </a:solidFill>
                <a:latin typeface="Arial"/>
                <a:ea typeface="Arial"/>
                <a:cs typeface="Arial"/>
              </a:defRPr>
            </a:pPr>
            <a:r>
              <a:rPr sz="2250" b="1">
                <a:solidFill>
                  <a:srgbClr val="2458C6"/>
                </a:solidFill>
                <a:latin typeface="Arial"/>
                <a:ea typeface="Arial"/>
                <a:cs typeface="Arial"/>
              </a:rPr>
              <a:t>01</a:t>
            </a:r>
          </a:p>
        </p:txBody>
      </p:sp>
      <p:sp>
        <p:nvSpPr>
          <p:cNvPr id="5" name="probability-title-01">
            <a:extLst xmlns:a="http://schemas.openxmlformats.org/drawingml/2006/main">
              <a:ext uri="{FF2B5EF4-FFF2-40B4-BE49-F238E27FC236}">
                <a16:creationId xmlns:a16="http://schemas.microsoft.com/office/drawing/2014/main" id="{7B9814F5-0EDF-4C05-9EA7-E96BCEF58770}"/>
              </a:ext>
            </a:extLst>
          </p:cNvPr>
          <p:cNvSpPr>
            <a:spLocks xmlns:a="http://schemas.openxmlformats.org/drawingml/2006/main" noGrp="1"/>
          </p:cNvSpPr>
          <p:nvPr/>
        </p:nvSpPr>
        <p:spPr>
          <a:xfrm xmlns:a="http://schemas.openxmlformats.org/drawingml/2006/main">
            <a:off x="2476500" y="4238625"/>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75" b="1" lang="he-IL">
                <a:solidFill>
                  <a:srgbClr val="171816"/>
                </a:solidFill>
                <a:latin typeface="Arial"/>
                <a:ea typeface="Arial"/>
                <a:cs typeface="Arial"/>
              </a:defRPr>
            </a:pPr>
            <a:r>
              <a:rPr sz="2175" b="1" lang="he-IL">
                <a:solidFill>
                  <a:srgbClr val="171816"/>
                </a:solidFill>
                <a:latin typeface="Arial"/>
                <a:ea typeface="Arial"/>
                <a:cs typeface="Arial"/>
              </a:rPr>
              <a:t>מחפשים מצב שחוזר על עצמו</a:t>
            </a:r>
          </a:p>
        </p:txBody>
      </p:sp>
      <p:sp>
        <p:nvSpPr>
          <p:cNvPr id="6" name="probability-detail-01">
            <a:extLst xmlns:a="http://schemas.openxmlformats.org/drawingml/2006/main">
              <a:ext uri="{FF2B5EF4-FFF2-40B4-BE49-F238E27FC236}">
                <a16:creationId xmlns:a16="http://schemas.microsoft.com/office/drawing/2014/main" id="{541DC470-856E-4368-A943-EE9AE9E23A6D}"/>
              </a:ext>
            </a:extLst>
          </p:cNvPr>
          <p:cNvSpPr>
            <a:spLocks xmlns:a="http://schemas.openxmlformats.org/drawingml/2006/main" noGrp="1"/>
          </p:cNvSpPr>
          <p:nvPr/>
        </p:nvSpPr>
        <p:spPr>
          <a:xfrm xmlns:a="http://schemas.openxmlformats.org/drawingml/2006/main">
            <a:off x="2000250" y="4733925"/>
            <a:ext cx="5695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650" b="0" lang="he-IL">
                <a:solidFill>
                  <a:srgbClr val="6E706B"/>
                </a:solidFill>
                <a:latin typeface="Arial"/>
                <a:ea typeface="Arial"/>
                <a:cs typeface="Arial"/>
              </a:defRPr>
            </a:pPr>
            <a:r>
              <a:rPr sz="1650" b="0" lang="he-IL">
                <a:solidFill>
                  <a:srgbClr val="6E706B"/>
                </a:solidFill>
                <a:latin typeface="Arial"/>
                <a:ea typeface="Arial"/>
                <a:cs typeface="Arial"/>
              </a:rPr>
              <a:t>תנאים מדידים, לא סיפור שמסבירים בדיעבד.</a:t>
            </a:r>
          </a:p>
        </p:txBody>
      </p:sp>
      <p:sp>
        <p:nvSpPr>
          <p:cNvPr id="7" name="">
            <a:extLst xmlns:a="http://schemas.openxmlformats.org/drawingml/2006/main">
              <a:ext uri="{FF2B5EF4-FFF2-40B4-BE49-F238E27FC236}">
                <a16:creationId xmlns:a16="http://schemas.microsoft.com/office/drawing/2014/main" id="{F1FCCD4B-AE58-46FC-8A69-C51B73EF0BA9}"/>
              </a:ext>
            </a:extLst>
          </p:cNvPr>
          <p:cNvSpPr>
            <a:spLocks xmlns:a="http://schemas.openxmlformats.org/drawingml/2006/main" noGrp="1"/>
          </p:cNvSpPr>
          <p:nvPr/>
        </p:nvSpPr>
        <p:spPr>
          <a:xfrm xmlns:a="http://schemas.openxmlformats.org/drawingml/2006/main">
            <a:off x="2000250" y="5495925"/>
            <a:ext cx="7429500" cy="0"/>
          </a:xfrm>
          <a:prstGeom xmlns:a="http://schemas.openxmlformats.org/drawingml/2006/main" prst="line">
            <a:avLst/>
          </a:prstGeom>
          <a:noFill xmlns:a="http://schemas.openxmlformats.org/drawingml/2006/main"/>
          <a:ln xmlns:a="http://schemas.openxmlformats.org/drawingml/2006/main" w="9525">
            <a:solidFill>
              <a:srgbClr val="D7D1C5"/>
            </a:solidFill>
            <a:prstDash val="solid"/>
          </a:ln>
        </p:spPr>
      </p:sp>
      <p:sp>
        <p:nvSpPr>
          <p:cNvPr id="8" name="probability-number-02">
            <a:extLst xmlns:a="http://schemas.openxmlformats.org/drawingml/2006/main">
              <a:ext uri="{FF2B5EF4-FFF2-40B4-BE49-F238E27FC236}">
                <a16:creationId xmlns:a16="http://schemas.microsoft.com/office/drawing/2014/main" id="{82E97BD9-093D-4396-B009-AC182530D380}"/>
              </a:ext>
            </a:extLst>
          </p:cNvPr>
          <p:cNvSpPr>
            <a:spLocks xmlns:a="http://schemas.openxmlformats.org/drawingml/2006/main" noGrp="1"/>
          </p:cNvSpPr>
          <p:nvPr/>
        </p:nvSpPr>
        <p:spPr>
          <a:xfrm xmlns:a="http://schemas.openxmlformats.org/drawingml/2006/main">
            <a:off x="8172450" y="6048375"/>
            <a:ext cx="1276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50" b="1">
                <a:solidFill>
                  <a:srgbClr val="2458C6"/>
                </a:solidFill>
                <a:latin typeface="Arial"/>
                <a:ea typeface="Arial"/>
                <a:cs typeface="Arial"/>
              </a:defRPr>
            </a:pPr>
            <a:r>
              <a:rPr sz="2250" b="1">
                <a:solidFill>
                  <a:srgbClr val="2458C6"/>
                </a:solidFill>
                <a:latin typeface="Arial"/>
                <a:ea typeface="Arial"/>
                <a:cs typeface="Arial"/>
              </a:rPr>
              <a:t>02</a:t>
            </a:r>
          </a:p>
        </p:txBody>
      </p:sp>
      <p:sp>
        <p:nvSpPr>
          <p:cNvPr id="9" name="probability-title-02">
            <a:extLst xmlns:a="http://schemas.openxmlformats.org/drawingml/2006/main">
              <a:ext uri="{FF2B5EF4-FFF2-40B4-BE49-F238E27FC236}">
                <a16:creationId xmlns:a16="http://schemas.microsoft.com/office/drawing/2014/main" id="{9C884A74-E714-47DD-9879-959FEEC28549}"/>
              </a:ext>
            </a:extLst>
          </p:cNvPr>
          <p:cNvSpPr>
            <a:spLocks xmlns:a="http://schemas.openxmlformats.org/drawingml/2006/main" noGrp="1"/>
          </p:cNvSpPr>
          <p:nvPr/>
        </p:nvSpPr>
        <p:spPr>
          <a:xfrm xmlns:a="http://schemas.openxmlformats.org/drawingml/2006/main">
            <a:off x="2476500" y="6048375"/>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75" b="1" lang="he-IL">
                <a:solidFill>
                  <a:srgbClr val="171816"/>
                </a:solidFill>
                <a:latin typeface="Arial"/>
                <a:ea typeface="Arial"/>
                <a:cs typeface="Arial"/>
              </a:defRPr>
            </a:pPr>
            <a:r>
              <a:rPr sz="2175" b="1" lang="he-IL">
                <a:solidFill>
                  <a:srgbClr val="171816"/>
                </a:solidFill>
                <a:latin typeface="Arial"/>
                <a:ea typeface="Arial"/>
                <a:cs typeface="Arial"/>
              </a:rPr>
              <a:t>בודקים סיכוי מול סיכון</a:t>
            </a:r>
          </a:p>
        </p:txBody>
      </p:sp>
      <p:sp>
        <p:nvSpPr>
          <p:cNvPr id="10" name="probability-detail-02">
            <a:extLst xmlns:a="http://schemas.openxmlformats.org/drawingml/2006/main">
              <a:ext uri="{FF2B5EF4-FFF2-40B4-BE49-F238E27FC236}">
                <a16:creationId xmlns:a16="http://schemas.microsoft.com/office/drawing/2014/main" id="{72A2A1D0-EEE8-44D4-A31F-E91C770F93A4}"/>
              </a:ext>
            </a:extLst>
          </p:cNvPr>
          <p:cNvSpPr>
            <a:spLocks xmlns:a="http://schemas.openxmlformats.org/drawingml/2006/main" noGrp="1"/>
          </p:cNvSpPr>
          <p:nvPr/>
        </p:nvSpPr>
        <p:spPr>
          <a:xfrm xmlns:a="http://schemas.openxmlformats.org/drawingml/2006/main">
            <a:off x="2000250" y="6543675"/>
            <a:ext cx="5695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650" b="0" lang="he-IL">
                <a:solidFill>
                  <a:srgbClr val="6E706B"/>
                </a:solidFill>
                <a:latin typeface="Arial"/>
                <a:ea typeface="Arial"/>
                <a:cs typeface="Arial"/>
              </a:defRPr>
            </a:pPr>
            <a:r>
              <a:rPr sz="1650" b="0" lang="he-IL">
                <a:solidFill>
                  <a:srgbClr val="6E706B"/>
                </a:solidFill>
                <a:latin typeface="Arial"/>
                <a:ea typeface="Arial"/>
                <a:cs typeface="Arial"/>
              </a:rPr>
              <a:t>כמה פעמים הצליח, כמה נכשל ומה גודל הטעות.</a:t>
            </a:r>
          </a:p>
        </p:txBody>
      </p:sp>
      <p:sp>
        <p:nvSpPr>
          <p:cNvPr id="11" name="">
            <a:extLst xmlns:a="http://schemas.openxmlformats.org/drawingml/2006/main">
              <a:ext uri="{FF2B5EF4-FFF2-40B4-BE49-F238E27FC236}">
                <a16:creationId xmlns:a16="http://schemas.microsoft.com/office/drawing/2014/main" id="{882A1517-306A-45AA-8C1D-E37FE03FC83B}"/>
              </a:ext>
            </a:extLst>
          </p:cNvPr>
          <p:cNvSpPr>
            <a:spLocks xmlns:a="http://schemas.openxmlformats.org/drawingml/2006/main" noGrp="1"/>
          </p:cNvSpPr>
          <p:nvPr/>
        </p:nvSpPr>
        <p:spPr>
          <a:xfrm xmlns:a="http://schemas.openxmlformats.org/drawingml/2006/main">
            <a:off x="2000250" y="7305675"/>
            <a:ext cx="7429500" cy="0"/>
          </a:xfrm>
          <a:prstGeom xmlns:a="http://schemas.openxmlformats.org/drawingml/2006/main" prst="line">
            <a:avLst/>
          </a:prstGeom>
          <a:noFill xmlns:a="http://schemas.openxmlformats.org/drawingml/2006/main"/>
          <a:ln xmlns:a="http://schemas.openxmlformats.org/drawingml/2006/main" w="9525">
            <a:solidFill>
              <a:srgbClr val="D7D1C5"/>
            </a:solidFill>
            <a:prstDash val="solid"/>
          </a:ln>
        </p:spPr>
      </p:sp>
      <p:sp>
        <p:nvSpPr>
          <p:cNvPr id="12" name="probability-number-03">
            <a:extLst xmlns:a="http://schemas.openxmlformats.org/drawingml/2006/main">
              <a:ext uri="{FF2B5EF4-FFF2-40B4-BE49-F238E27FC236}">
                <a16:creationId xmlns:a16="http://schemas.microsoft.com/office/drawing/2014/main" id="{2779C840-2F83-4BFB-97BF-67C165B43A7D}"/>
              </a:ext>
            </a:extLst>
          </p:cNvPr>
          <p:cNvSpPr>
            <a:spLocks xmlns:a="http://schemas.openxmlformats.org/drawingml/2006/main" noGrp="1"/>
          </p:cNvSpPr>
          <p:nvPr/>
        </p:nvSpPr>
        <p:spPr>
          <a:xfrm xmlns:a="http://schemas.openxmlformats.org/drawingml/2006/main">
            <a:off x="8172450" y="7858125"/>
            <a:ext cx="1276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50" b="1">
                <a:solidFill>
                  <a:srgbClr val="2458C6"/>
                </a:solidFill>
                <a:latin typeface="Arial"/>
                <a:ea typeface="Arial"/>
                <a:cs typeface="Arial"/>
              </a:defRPr>
            </a:pPr>
            <a:r>
              <a:rPr sz="2250" b="1">
                <a:solidFill>
                  <a:srgbClr val="2458C6"/>
                </a:solidFill>
                <a:latin typeface="Arial"/>
                <a:ea typeface="Arial"/>
                <a:cs typeface="Arial"/>
              </a:rPr>
              <a:t>03</a:t>
            </a:r>
          </a:p>
        </p:txBody>
      </p:sp>
      <p:sp>
        <p:nvSpPr>
          <p:cNvPr id="13" name="probability-title-03">
            <a:extLst xmlns:a="http://schemas.openxmlformats.org/drawingml/2006/main">
              <a:ext uri="{FF2B5EF4-FFF2-40B4-BE49-F238E27FC236}">
                <a16:creationId xmlns:a16="http://schemas.microsoft.com/office/drawing/2014/main" id="{120B098B-F859-427D-BD67-291CA2237876}"/>
              </a:ext>
            </a:extLst>
          </p:cNvPr>
          <p:cNvSpPr>
            <a:spLocks xmlns:a="http://schemas.openxmlformats.org/drawingml/2006/main" noGrp="1"/>
          </p:cNvSpPr>
          <p:nvPr/>
        </p:nvSpPr>
        <p:spPr>
          <a:xfrm xmlns:a="http://schemas.openxmlformats.org/drawingml/2006/main">
            <a:off x="2476500" y="7858125"/>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75" b="1" lang="he-IL">
                <a:solidFill>
                  <a:srgbClr val="171816"/>
                </a:solidFill>
                <a:latin typeface="Arial"/>
                <a:ea typeface="Arial"/>
                <a:cs typeface="Arial"/>
              </a:defRPr>
            </a:pPr>
            <a:r>
              <a:rPr sz="2175" b="1" lang="he-IL">
                <a:solidFill>
                  <a:srgbClr val="171816"/>
                </a:solidFill>
                <a:latin typeface="Arial"/>
                <a:ea typeface="Arial"/>
                <a:cs typeface="Arial"/>
              </a:rPr>
              <a:t>מניחים שגם מערכת טובה תטעה</a:t>
            </a:r>
          </a:p>
        </p:txBody>
      </p:sp>
      <p:sp>
        <p:nvSpPr>
          <p:cNvPr id="14" name="probability-detail-03">
            <a:extLst xmlns:a="http://schemas.openxmlformats.org/drawingml/2006/main">
              <a:ext uri="{FF2B5EF4-FFF2-40B4-BE49-F238E27FC236}">
                <a16:creationId xmlns:a16="http://schemas.microsoft.com/office/drawing/2014/main" id="{66309148-5C4D-476A-B701-FD7983233C99}"/>
              </a:ext>
            </a:extLst>
          </p:cNvPr>
          <p:cNvSpPr>
            <a:spLocks xmlns:a="http://schemas.openxmlformats.org/drawingml/2006/main" noGrp="1"/>
          </p:cNvSpPr>
          <p:nvPr/>
        </p:nvSpPr>
        <p:spPr>
          <a:xfrm xmlns:a="http://schemas.openxmlformats.org/drawingml/2006/main">
            <a:off x="2000250" y="8353425"/>
            <a:ext cx="5695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650" b="0" lang="he-IL">
                <a:solidFill>
                  <a:srgbClr val="6E706B"/>
                </a:solidFill>
                <a:latin typeface="Arial"/>
                <a:ea typeface="Arial"/>
                <a:cs typeface="Arial"/>
              </a:defRPr>
            </a:pPr>
            <a:r>
              <a:rPr sz="1650" b="0" lang="he-IL">
                <a:solidFill>
                  <a:srgbClr val="6E706B"/>
                </a:solidFill>
                <a:latin typeface="Arial"/>
                <a:ea typeface="Arial"/>
                <a:cs typeface="Arial"/>
              </a:rPr>
              <a:t>לכן גודל החשיפה נקבע לפני שמנסים להרוויח.</a:t>
            </a:r>
          </a:p>
        </p:txBody>
      </p:sp>
      <p:sp>
        <p:nvSpPr>
          <p:cNvPr id="15" name="">
            <a:extLst xmlns:a="http://schemas.openxmlformats.org/drawingml/2006/main">
              <a:ext uri="{FF2B5EF4-FFF2-40B4-BE49-F238E27FC236}">
                <a16:creationId xmlns:a16="http://schemas.microsoft.com/office/drawing/2014/main" id="{ADF5F8AC-DA2E-4E1B-B04F-A9AD44C9352B}"/>
              </a:ext>
            </a:extLst>
          </p:cNvPr>
          <p:cNvSpPr>
            <a:spLocks xmlns:a="http://schemas.openxmlformats.org/drawingml/2006/main" noGrp="1"/>
          </p:cNvSpPr>
          <p:nvPr/>
        </p:nvSpPr>
        <p:spPr>
          <a:xfrm xmlns:a="http://schemas.openxmlformats.org/drawingml/2006/main">
            <a:off x="2000250" y="9115425"/>
            <a:ext cx="7429500" cy="0"/>
          </a:xfrm>
          <a:prstGeom xmlns:a="http://schemas.openxmlformats.org/drawingml/2006/main" prst="line">
            <a:avLst/>
          </a:prstGeom>
          <a:noFill xmlns:a="http://schemas.openxmlformats.org/drawingml/2006/main"/>
          <a:ln xmlns:a="http://schemas.openxmlformats.org/drawingml/2006/main" w="9525">
            <a:solidFill>
              <a:srgbClr val="D7D1C5"/>
            </a:solidFill>
            <a:prstDash val="solid"/>
          </a:ln>
        </p:spPr>
      </p:sp>
      <p:sp>
        <p:nvSpPr>
          <p:cNvPr id="16" name="probability-close-bg">
            <a:extLst xmlns:a="http://schemas.openxmlformats.org/drawingml/2006/main">
              <a:ext uri="{FF2B5EF4-FFF2-40B4-BE49-F238E27FC236}">
                <a16:creationId xmlns:a16="http://schemas.microsoft.com/office/drawing/2014/main" id="{74412B7C-5530-422F-BC55-4ABBE886EBA3}"/>
              </a:ext>
            </a:extLst>
          </p:cNvPr>
          <p:cNvSpPr>
            <a:spLocks xmlns:a="http://schemas.openxmlformats.org/drawingml/2006/main" noGrp="1"/>
          </p:cNvSpPr>
          <p:nvPr/>
        </p:nvSpPr>
        <p:spPr>
          <a:xfrm xmlns:a="http://schemas.openxmlformats.org/drawingml/2006/main">
            <a:off x="819150" y="10001250"/>
            <a:ext cx="8648700" cy="1390650"/>
          </a:xfrm>
          <a:prstGeom xmlns:a="http://schemas.openxmlformats.org/drawingml/2006/main" prst="rect">
            <a:avLst/>
          </a:prstGeom>
          <a:solidFill xmlns:a="http://schemas.openxmlformats.org/drawingml/2006/main">
            <a:srgbClr val="DDE6F7"/>
          </a:solidFill>
          <a:ln xmlns:a="http://schemas.openxmlformats.org/drawingml/2006/main" w="0">
            <a:noFill/>
            <a:prstDash val="solid"/>
          </a:ln>
        </p:spPr>
      </p:sp>
      <p:sp>
        <p:nvSpPr>
          <p:cNvPr id="17" name="probability-close">
            <a:extLst xmlns:a="http://schemas.openxmlformats.org/drawingml/2006/main">
              <a:ext uri="{FF2B5EF4-FFF2-40B4-BE49-F238E27FC236}">
                <a16:creationId xmlns:a16="http://schemas.microsoft.com/office/drawing/2014/main" id="{60103D29-7886-4445-981F-4982B8270885}"/>
              </a:ext>
            </a:extLst>
          </p:cNvPr>
          <p:cNvSpPr>
            <a:spLocks xmlns:a="http://schemas.openxmlformats.org/drawingml/2006/main" noGrp="1"/>
          </p:cNvSpPr>
          <p:nvPr/>
        </p:nvSpPr>
        <p:spPr>
          <a:xfrm xmlns:a="http://schemas.openxmlformats.org/drawingml/2006/main">
            <a:off x="1381125" y="10306050"/>
            <a:ext cx="7524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rtl="1">
              <a:defRPr sz="2250" b="1" lang="he-IL">
                <a:solidFill>
                  <a:srgbClr val="2458C6"/>
                </a:solidFill>
                <a:latin typeface="Arial"/>
                <a:ea typeface="Arial"/>
                <a:cs typeface="Arial"/>
              </a:defRPr>
            </a:pPr>
            <a:r>
              <a:rPr sz="2250" b="1" lang="he-IL">
                <a:solidFill>
                  <a:srgbClr val="2458C6"/>
                </a:solidFill>
                <a:latin typeface="Arial"/>
                <a:ea typeface="Arial"/>
                <a:cs typeface="Arial"/>
              </a:rPr>
              <a:t>המטרה: ניהול הון לאורך זמן, לא תשואה קיצונית בכל מחיר.</a:t>
            </a:r>
          </a:p>
        </p:txBody>
      </p:sp>
      <p:sp>
        <p:nvSpPr>
          <p:cNvPr id="18" name="no-leverage-note">
            <a:extLst xmlns:a="http://schemas.openxmlformats.org/drawingml/2006/main">
              <a:ext uri="{FF2B5EF4-FFF2-40B4-BE49-F238E27FC236}">
                <a16:creationId xmlns:a16="http://schemas.microsoft.com/office/drawing/2014/main" id="{1DABC89F-9897-4310-8C18-EE7C4AF4C53C}"/>
              </a:ext>
            </a:extLst>
          </p:cNvPr>
          <p:cNvSpPr>
            <a:spLocks xmlns:a="http://schemas.openxmlformats.org/drawingml/2006/main" noGrp="1"/>
          </p:cNvSpPr>
          <p:nvPr/>
        </p:nvSpPr>
        <p:spPr>
          <a:xfrm xmlns:a="http://schemas.openxmlformats.org/drawingml/2006/main">
            <a:off x="819150" y="11601450"/>
            <a:ext cx="864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425" b="0" lang="he-IL">
                <a:solidFill>
                  <a:srgbClr val="6E706B"/>
                </a:solidFill>
                <a:latin typeface="Arial"/>
                <a:ea typeface="Arial"/>
                <a:cs typeface="Arial"/>
              </a:defRPr>
            </a:pPr>
            <a:r>
              <a:rPr sz="1425" b="0" lang="he-IL">
                <a:solidFill>
                  <a:srgbClr val="6E706B"/>
                </a:solidFill>
                <a:latin typeface="Arial"/>
                <a:ea typeface="Arial"/>
                <a:cs typeface="Arial"/>
              </a:rPr>
              <a:t>שלוש הדוגמאות במסמך זה אינן משתמשות במינוף.</a:t>
            </a:r>
          </a:p>
        </p:txBody>
      </p:sp>
      <p:sp>
        <p:nvSpPr>
          <p:cNvPr id="19" name="">
            <a:extLst xmlns:a="http://schemas.openxmlformats.org/drawingml/2006/main">
              <a:ext uri="{FF2B5EF4-FFF2-40B4-BE49-F238E27FC236}">
                <a16:creationId xmlns:a16="http://schemas.microsoft.com/office/drawing/2014/main" id="{671BCB87-957F-476F-8B55-7E69647B9AEF}"/>
              </a:ext>
            </a:extLst>
          </p:cNvPr>
          <p:cNvSpPr>
            <a:spLocks xmlns:a="http://schemas.openxmlformats.org/drawingml/2006/main" noGrp="1"/>
          </p:cNvSpPr>
          <p:nvPr/>
        </p:nvSpPr>
        <p:spPr>
          <a:xfrm xmlns:a="http://schemas.openxmlformats.org/drawingml/2006/main">
            <a:off x="819150" y="12230100"/>
            <a:ext cx="8648700" cy="0"/>
          </a:xfrm>
          <a:prstGeom xmlns:a="http://schemas.openxmlformats.org/drawingml/2006/main" prst="line">
            <a:avLst/>
          </a:prstGeom>
          <a:noFill xmlns:a="http://schemas.openxmlformats.org/drawingml/2006/main"/>
          <a:ln xmlns:a="http://schemas.openxmlformats.org/drawingml/2006/main" w="9525">
            <a:solidFill>
              <a:srgbClr val="D7D1C5"/>
            </a:solidFill>
            <a:prstDash val="solid"/>
          </a:ln>
        </p:spPr>
      </p:sp>
      <p:sp>
        <p:nvSpPr>
          <p:cNvPr id="20" name="footer-2">
            <a:extLst xmlns:a="http://schemas.openxmlformats.org/drawingml/2006/main">
              <a:ext uri="{FF2B5EF4-FFF2-40B4-BE49-F238E27FC236}">
                <a16:creationId xmlns:a16="http://schemas.microsoft.com/office/drawing/2014/main" id="{DE69A0C7-9AD2-405F-AB0C-6154517A4319}"/>
              </a:ext>
            </a:extLst>
          </p:cNvPr>
          <p:cNvSpPr>
            <a:spLocks xmlns:a="http://schemas.openxmlformats.org/drawingml/2006/main" noGrp="1"/>
          </p:cNvSpPr>
          <p:nvPr/>
        </p:nvSpPr>
        <p:spPr>
          <a:xfrm xmlns:a="http://schemas.openxmlformats.org/drawingml/2006/main">
            <a:off x="819150" y="12382500"/>
            <a:ext cx="8648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125" b="0" lang="he-IL">
                <a:solidFill>
                  <a:srgbClr val="6E706B"/>
                </a:solidFill>
                <a:latin typeface="Arial"/>
                <a:ea typeface="Arial"/>
                <a:cs typeface="Arial"/>
              </a:defRPr>
            </a:pPr>
            <a:r>
              <a:rPr sz="1125" b="0" lang="he-IL">
                <a:solidFill>
                  <a:srgbClr val="6E706B"/>
                </a:solidFill>
                <a:latin typeface="Arial"/>
                <a:ea typeface="Arial"/>
                <a:cs typeface="Arial"/>
              </a:rPr>
              <a:t>מסמך היכרות פרטי  ·  02</a:t>
            </a:r>
          </a:p>
        </p:txBody>
      </p:sp>
    </p:spTree>
    <p:extLst>
      <p:ext uri="{BB962C8B-B14F-4D97-AF65-F5344CB8AC3E}">
        <p14:creationId xmlns:p14="http://schemas.microsoft.com/office/powerpoint/2010/main" val="781788520"/>
      </p:ext>
    </p:extLst>
  </p:cSld>
</p:sld>
</file>

<file path=ppt/slides/slide3.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26" name="eyebrow">
            <a:extLst xmlns:a="http://schemas.openxmlformats.org/drawingml/2006/main">
              <a:ext uri="{FF2B5EF4-FFF2-40B4-BE49-F238E27FC236}">
                <a16:creationId xmlns:a16="http://schemas.microsoft.com/office/drawing/2014/main" id="{173E6B8C-AEA8-4A9D-9488-D010EFE2E2B1}"/>
              </a:ext>
            </a:extLst>
          </p:cNvPr>
          <p:cNvSpPr>
            <a:spLocks xmlns:a="http://schemas.openxmlformats.org/drawingml/2006/main" noGrp="1"/>
          </p:cNvSpPr>
          <p:nvPr/>
        </p:nvSpPr>
        <p:spPr>
          <a:xfrm xmlns:a="http://schemas.openxmlformats.org/drawingml/2006/main">
            <a:off x="819150" y="552450"/>
            <a:ext cx="864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1" lang="he-IL">
                <a:solidFill>
                  <a:srgbClr val="2458C6"/>
                </a:solidFill>
                <a:latin typeface="Arial"/>
                <a:ea typeface="Arial"/>
                <a:cs typeface="Arial"/>
              </a:defRPr>
            </a:pPr>
            <a:r>
              <a:rPr sz="1350" b="1" lang="he-IL">
                <a:solidFill>
                  <a:srgbClr val="2458C6"/>
                </a:solidFill>
                <a:latin typeface="Arial"/>
                <a:ea typeface="Arial"/>
                <a:cs typeface="Arial"/>
              </a:rPr>
              <a:t>שקיפות</a:t>
            </a:r>
          </a:p>
        </p:txBody>
      </p:sp>
      <p:sp>
        <p:nvSpPr>
          <p:cNvPr id="2" name="slide-title">
            <a:extLst xmlns:a="http://schemas.openxmlformats.org/drawingml/2006/main">
              <a:ext uri="{FF2B5EF4-FFF2-40B4-BE49-F238E27FC236}">
                <a16:creationId xmlns:a16="http://schemas.microsoft.com/office/drawing/2014/main" id="{BA9D2BBC-DE66-4B38-8CFC-6C11DF720073}"/>
              </a:ext>
            </a:extLst>
          </p:cNvPr>
          <p:cNvSpPr>
            <a:spLocks xmlns:a="http://schemas.openxmlformats.org/drawingml/2006/main" noGrp="1"/>
          </p:cNvSpPr>
          <p:nvPr/>
        </p:nvSpPr>
        <p:spPr>
          <a:xfrm xmlns:a="http://schemas.openxmlformats.org/drawingml/2006/main">
            <a:off x="819150" y="1009650"/>
            <a:ext cx="8648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3600" b="1" lang="he-IL">
                <a:solidFill>
                  <a:srgbClr val="171816"/>
                </a:solidFill>
                <a:latin typeface="Arial"/>
                <a:ea typeface="Arial"/>
                <a:cs typeface="Arial"/>
              </a:defRPr>
            </a:pPr>
            <a:r>
              <a:rPr sz="3600" b="1" lang="he-IL">
                <a:solidFill>
                  <a:srgbClr val="171816"/>
                </a:solidFill>
                <a:latin typeface="Arial"/>
                <a:ea typeface="Arial"/>
                <a:cs typeface="Arial"/>
              </a:rPr>
              <a:t>אין כאן קופסה שחורה</a:t>
            </a:r>
          </a:p>
        </p:txBody>
      </p:sp>
      <p:sp>
        <p:nvSpPr>
          <p:cNvPr id="3" name="blackbox-lead">
            <a:extLst xmlns:a="http://schemas.openxmlformats.org/drawingml/2006/main">
              <a:ext uri="{FF2B5EF4-FFF2-40B4-BE49-F238E27FC236}">
                <a16:creationId xmlns:a16="http://schemas.microsoft.com/office/drawing/2014/main" id="{5035ED8E-51A4-46B5-8678-42BF772B526A}"/>
              </a:ext>
            </a:extLst>
          </p:cNvPr>
          <p:cNvSpPr>
            <a:spLocks xmlns:a="http://schemas.openxmlformats.org/drawingml/2006/main" noGrp="1"/>
          </p:cNvSpPr>
          <p:nvPr/>
        </p:nvSpPr>
        <p:spPr>
          <a:xfrm xmlns:a="http://schemas.openxmlformats.org/drawingml/2006/main">
            <a:off x="1619250" y="2152650"/>
            <a:ext cx="7848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400" b="1" lang="he-IL">
                <a:solidFill>
                  <a:srgbClr val="171816"/>
                </a:solidFill>
                <a:latin typeface="Arial"/>
                <a:ea typeface="Arial"/>
                <a:cs typeface="Arial"/>
              </a:defRPr>
            </a:pPr>
            <a:r>
              <a:rPr sz="2400" b="1" lang="he-IL">
                <a:solidFill>
                  <a:srgbClr val="171816"/>
                </a:solidFill>
                <a:latin typeface="Arial"/>
                <a:ea typeface="Arial"/>
                <a:cs typeface="Arial"/>
              </a:rPr>
              <a:t>אין מערכת בינה מלאכותית שמחליטה באופן בלתי מוסבר מה לקנות או למכור.</a:t>
            </a:r>
          </a:p>
        </p:txBody>
      </p:sp>
      <p:sp>
        <p:nvSpPr>
          <p:cNvPr id="4" name="blackbox-sub">
            <a:extLst xmlns:a="http://schemas.openxmlformats.org/drawingml/2006/main">
              <a:ext uri="{FF2B5EF4-FFF2-40B4-BE49-F238E27FC236}">
                <a16:creationId xmlns:a16="http://schemas.microsoft.com/office/drawing/2014/main" id="{2743241B-40C1-42AA-857D-5C9593E4E887}"/>
              </a:ext>
            </a:extLst>
          </p:cNvPr>
          <p:cNvSpPr>
            <a:spLocks xmlns:a="http://schemas.openxmlformats.org/drawingml/2006/main" noGrp="1"/>
          </p:cNvSpPr>
          <p:nvPr/>
        </p:nvSpPr>
        <p:spPr>
          <a:xfrm xmlns:a="http://schemas.openxmlformats.org/drawingml/2006/main">
            <a:off x="1619250" y="3276600"/>
            <a:ext cx="7848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75" b="0" lang="he-IL">
                <a:solidFill>
                  <a:srgbClr val="6E706B"/>
                </a:solidFill>
                <a:latin typeface="Arial"/>
                <a:ea typeface="Arial"/>
                <a:cs typeface="Arial"/>
              </a:defRPr>
            </a:pPr>
            <a:r>
              <a:rPr sz="1875" b="0" lang="he-IL">
                <a:solidFill>
                  <a:srgbClr val="6E706B"/>
                </a:solidFill>
                <a:latin typeface="Arial"/>
                <a:ea typeface="Arial"/>
                <a:cs typeface="Arial"/>
              </a:rPr>
              <a:t>כל החלטה נובעת מחוקים ידועים מראש, וניתן לשחזר אותה מתחילתה ועד סופה.</a:t>
            </a:r>
          </a:p>
        </p:txBody>
      </p:sp>
      <p:sp>
        <p:nvSpPr>
          <p:cNvPr id="5" name="">
            <a:extLst xmlns:a="http://schemas.openxmlformats.org/drawingml/2006/main">
              <a:ext uri="{FF2B5EF4-FFF2-40B4-BE49-F238E27FC236}">
                <a16:creationId xmlns:a16="http://schemas.microsoft.com/office/drawing/2014/main" id="{73851A55-F7CC-4BDB-8480-2257768209E9}"/>
              </a:ext>
            </a:extLst>
          </p:cNvPr>
          <p:cNvSpPr>
            <a:spLocks xmlns:a="http://schemas.openxmlformats.org/drawingml/2006/main" noGrp="1"/>
          </p:cNvSpPr>
          <p:nvPr/>
        </p:nvSpPr>
        <p:spPr>
          <a:xfrm xmlns:a="http://schemas.openxmlformats.org/drawingml/2006/main">
            <a:off x="8743950" y="4686300"/>
            <a:ext cx="0" cy="0"/>
          </a:xfrm>
          <a:prstGeom xmlns:a="http://schemas.openxmlformats.org/drawingml/2006/main" prst="line">
            <a:avLst/>
          </a:prstGeom>
          <a:noFill xmlns:a="http://schemas.openxmlformats.org/drawingml/2006/main"/>
          <a:ln xmlns:a="http://schemas.openxmlformats.org/drawingml/2006/main" w="19050">
            <a:solidFill>
              <a:srgbClr val="D7D1C5"/>
            </a:solidFill>
            <a:prstDash val="solid"/>
          </a:ln>
        </p:spPr>
      </p:sp>
      <p:sp>
        <p:nvSpPr>
          <p:cNvPr id="6" name="">
            <a:extLst xmlns:a="http://schemas.openxmlformats.org/drawingml/2006/main">
              <a:ext uri="{FF2B5EF4-FFF2-40B4-BE49-F238E27FC236}">
                <a16:creationId xmlns:a16="http://schemas.microsoft.com/office/drawing/2014/main" id="{DC33986A-2541-4BAA-A1A2-3827A72CF742}"/>
              </a:ext>
            </a:extLst>
          </p:cNvPr>
          <p:cNvSpPr>
            <a:spLocks xmlns:a="http://schemas.openxmlformats.org/drawingml/2006/main" noGrp="1"/>
          </p:cNvSpPr>
          <p:nvPr/>
        </p:nvSpPr>
        <p:spPr>
          <a:xfrm xmlns:a="http://schemas.openxmlformats.org/drawingml/2006/main">
            <a:off x="8743950" y="4667250"/>
            <a:ext cx="0" cy="5143500"/>
          </a:xfrm>
          <a:prstGeom xmlns:a="http://schemas.openxmlformats.org/drawingml/2006/main" prst="line">
            <a:avLst/>
          </a:prstGeom>
          <a:noFill xmlns:a="http://schemas.openxmlformats.org/drawingml/2006/main"/>
          <a:ln xmlns:a="http://schemas.openxmlformats.org/drawingml/2006/main" w="19050">
            <a:solidFill>
              <a:srgbClr val="D7D1C5"/>
            </a:solidFill>
            <a:prstDash val="solid"/>
          </a:ln>
        </p:spPr>
      </p:sp>
      <p:sp>
        <p:nvSpPr>
          <p:cNvPr id="7" name="flow-dot-1">
            <a:extLst xmlns:a="http://schemas.openxmlformats.org/drawingml/2006/main">
              <a:ext uri="{FF2B5EF4-FFF2-40B4-BE49-F238E27FC236}">
                <a16:creationId xmlns:a16="http://schemas.microsoft.com/office/drawing/2014/main" id="{27120F64-F44D-4CB4-977C-6232F6F1D38F}"/>
              </a:ext>
            </a:extLst>
          </p:cNvPr>
          <p:cNvSpPr>
            <a:spLocks xmlns:a="http://schemas.openxmlformats.org/drawingml/2006/main" noGrp="1"/>
          </p:cNvSpPr>
          <p:nvPr/>
        </p:nvSpPr>
        <p:spPr>
          <a:xfrm xmlns:a="http://schemas.openxmlformats.org/drawingml/2006/main">
            <a:off x="8648700" y="4733925"/>
            <a:ext cx="190500" cy="190500"/>
          </a:xfrm>
          <a:prstGeom xmlns:a="http://schemas.openxmlformats.org/drawingml/2006/main" prst="roundRect">
            <a:avLst>
              <a:gd name="adj" fmla="val 50000"/>
            </a:avLst>
          </a:prstGeom>
          <a:solidFill xmlns:a="http://schemas.openxmlformats.org/drawingml/2006/main">
            <a:srgbClr val="2458C6"/>
          </a:solidFill>
          <a:ln xmlns:a="http://schemas.openxmlformats.org/drawingml/2006/main" w="0">
            <a:noFill/>
            <a:prstDash val="solid"/>
          </a:ln>
        </p:spPr>
      </p:sp>
      <p:sp>
        <p:nvSpPr>
          <p:cNvPr id="8" name="flow-title-1">
            <a:extLst xmlns:a="http://schemas.openxmlformats.org/drawingml/2006/main">
              <a:ext uri="{FF2B5EF4-FFF2-40B4-BE49-F238E27FC236}">
                <a16:creationId xmlns:a16="http://schemas.microsoft.com/office/drawing/2014/main" id="{C717DEFC-509E-4F27-831E-D9354CB62640}"/>
              </a:ext>
            </a:extLst>
          </p:cNvPr>
          <p:cNvSpPr>
            <a:spLocks xmlns:a="http://schemas.openxmlformats.org/drawingml/2006/main" noGrp="1"/>
          </p:cNvSpPr>
          <p:nvPr/>
        </p:nvSpPr>
        <p:spPr>
          <a:xfrm xmlns:a="http://schemas.openxmlformats.org/drawingml/2006/main">
            <a:off x="2381250" y="4524375"/>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250" b="1" lang="he-IL">
                <a:solidFill>
                  <a:srgbClr val="171816"/>
                </a:solidFill>
                <a:latin typeface="Arial"/>
                <a:ea typeface="Arial"/>
                <a:cs typeface="Arial"/>
              </a:defRPr>
            </a:pPr>
            <a:r>
              <a:rPr sz="2250" b="1" lang="he-IL">
                <a:solidFill>
                  <a:srgbClr val="171816"/>
                </a:solidFill>
                <a:latin typeface="Arial"/>
                <a:ea typeface="Arial"/>
                <a:cs typeface="Arial"/>
              </a:rPr>
              <a:t>הנתונים שהיו ידועים</a:t>
            </a:r>
          </a:p>
        </p:txBody>
      </p:sp>
      <p:sp>
        <p:nvSpPr>
          <p:cNvPr id="9" name="flow-detail-1">
            <a:extLst xmlns:a="http://schemas.openxmlformats.org/drawingml/2006/main">
              <a:ext uri="{FF2B5EF4-FFF2-40B4-BE49-F238E27FC236}">
                <a16:creationId xmlns:a16="http://schemas.microsoft.com/office/drawing/2014/main" id="{DD52497A-572B-4BD5-911A-301938C3ED5D}"/>
              </a:ext>
            </a:extLst>
          </p:cNvPr>
          <p:cNvSpPr>
            <a:spLocks xmlns:a="http://schemas.openxmlformats.org/drawingml/2006/main" noGrp="1"/>
          </p:cNvSpPr>
          <p:nvPr/>
        </p:nvSpPr>
        <p:spPr>
          <a:xfrm xmlns:a="http://schemas.openxmlformats.org/drawingml/2006/main">
            <a:off x="2381250" y="4972050"/>
            <a:ext cx="590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650" b="0" lang="he-IL">
                <a:solidFill>
                  <a:srgbClr val="6E706B"/>
                </a:solidFill>
                <a:latin typeface="Arial"/>
                <a:ea typeface="Arial"/>
                <a:cs typeface="Arial"/>
              </a:defRPr>
            </a:pPr>
            <a:r>
              <a:rPr sz="1650" b="0" lang="he-IL">
                <a:solidFill>
                  <a:srgbClr val="6E706B"/>
                </a:solidFill>
                <a:latin typeface="Arial"/>
                <a:ea typeface="Arial"/>
                <a:cs typeface="Arial"/>
              </a:rPr>
              <a:t>מה בדיוק היה זמין ברגע ההחלטה.</a:t>
            </a:r>
          </a:p>
        </p:txBody>
      </p:sp>
      <p:sp>
        <p:nvSpPr>
          <p:cNvPr id="10" name="flow-dot-2">
            <a:extLst xmlns:a="http://schemas.openxmlformats.org/drawingml/2006/main">
              <a:ext uri="{FF2B5EF4-FFF2-40B4-BE49-F238E27FC236}">
                <a16:creationId xmlns:a16="http://schemas.microsoft.com/office/drawing/2014/main" id="{D53103DC-EDB4-4068-8B69-3DE0BD4435B7}"/>
              </a:ext>
            </a:extLst>
          </p:cNvPr>
          <p:cNvSpPr>
            <a:spLocks xmlns:a="http://schemas.openxmlformats.org/drawingml/2006/main" noGrp="1"/>
          </p:cNvSpPr>
          <p:nvPr/>
        </p:nvSpPr>
        <p:spPr>
          <a:xfrm xmlns:a="http://schemas.openxmlformats.org/drawingml/2006/main">
            <a:off x="8648700" y="5829300"/>
            <a:ext cx="190500" cy="190500"/>
          </a:xfrm>
          <a:prstGeom xmlns:a="http://schemas.openxmlformats.org/drawingml/2006/main" prst="roundRect">
            <a:avLst>
              <a:gd name="adj" fmla="val 50000"/>
            </a:avLst>
          </a:prstGeom>
          <a:solidFill xmlns:a="http://schemas.openxmlformats.org/drawingml/2006/main">
            <a:srgbClr val="2458C6"/>
          </a:solidFill>
          <a:ln xmlns:a="http://schemas.openxmlformats.org/drawingml/2006/main" w="0">
            <a:noFill/>
            <a:prstDash val="solid"/>
          </a:ln>
        </p:spPr>
      </p:sp>
      <p:sp>
        <p:nvSpPr>
          <p:cNvPr id="11" name="flow-title-2">
            <a:extLst xmlns:a="http://schemas.openxmlformats.org/drawingml/2006/main">
              <a:ext uri="{FF2B5EF4-FFF2-40B4-BE49-F238E27FC236}">
                <a16:creationId xmlns:a16="http://schemas.microsoft.com/office/drawing/2014/main" id="{28B856D1-98C8-45D4-BCA1-B1CC63766338}"/>
              </a:ext>
            </a:extLst>
          </p:cNvPr>
          <p:cNvSpPr>
            <a:spLocks xmlns:a="http://schemas.openxmlformats.org/drawingml/2006/main" noGrp="1"/>
          </p:cNvSpPr>
          <p:nvPr/>
        </p:nvSpPr>
        <p:spPr>
          <a:xfrm xmlns:a="http://schemas.openxmlformats.org/drawingml/2006/main">
            <a:off x="2381250" y="5619750"/>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250" b="1" lang="he-IL">
                <a:solidFill>
                  <a:srgbClr val="171816"/>
                </a:solidFill>
                <a:latin typeface="Arial"/>
                <a:ea typeface="Arial"/>
                <a:cs typeface="Arial"/>
              </a:defRPr>
            </a:pPr>
            <a:r>
              <a:rPr sz="2250" b="1" lang="he-IL">
                <a:solidFill>
                  <a:srgbClr val="171816"/>
                </a:solidFill>
                <a:latin typeface="Arial"/>
                <a:ea typeface="Arial"/>
                <a:cs typeface="Arial"/>
              </a:rPr>
              <a:t>הכלל שהופעל</a:t>
            </a:r>
          </a:p>
        </p:txBody>
      </p:sp>
      <p:sp>
        <p:nvSpPr>
          <p:cNvPr id="12" name="flow-detail-2">
            <a:extLst xmlns:a="http://schemas.openxmlformats.org/drawingml/2006/main">
              <a:ext uri="{FF2B5EF4-FFF2-40B4-BE49-F238E27FC236}">
                <a16:creationId xmlns:a16="http://schemas.microsoft.com/office/drawing/2014/main" id="{7B36D180-D22B-4437-AD1C-E46A232BB792}"/>
              </a:ext>
            </a:extLst>
          </p:cNvPr>
          <p:cNvSpPr>
            <a:spLocks xmlns:a="http://schemas.openxmlformats.org/drawingml/2006/main" noGrp="1"/>
          </p:cNvSpPr>
          <p:nvPr/>
        </p:nvSpPr>
        <p:spPr>
          <a:xfrm xmlns:a="http://schemas.openxmlformats.org/drawingml/2006/main">
            <a:off x="2381250" y="6067425"/>
            <a:ext cx="590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650" b="0" lang="he-IL">
                <a:solidFill>
                  <a:srgbClr val="6E706B"/>
                </a:solidFill>
                <a:latin typeface="Arial"/>
                <a:ea typeface="Arial"/>
                <a:cs typeface="Arial"/>
              </a:defRPr>
            </a:pPr>
            <a:r>
              <a:rPr sz="1650" b="0" lang="he-IL">
                <a:solidFill>
                  <a:srgbClr val="6E706B"/>
                </a:solidFill>
                <a:latin typeface="Arial"/>
                <a:ea typeface="Arial"/>
                <a:cs typeface="Arial"/>
              </a:rPr>
              <a:t>אותו כלל, בלי שינוי לפי מצב הרוח.</a:t>
            </a:r>
          </a:p>
        </p:txBody>
      </p:sp>
      <p:sp>
        <p:nvSpPr>
          <p:cNvPr id="13" name="flow-dot-3">
            <a:extLst xmlns:a="http://schemas.openxmlformats.org/drawingml/2006/main">
              <a:ext uri="{FF2B5EF4-FFF2-40B4-BE49-F238E27FC236}">
                <a16:creationId xmlns:a16="http://schemas.microsoft.com/office/drawing/2014/main" id="{DB88EC26-E201-4191-AC41-498BFF793A8B}"/>
              </a:ext>
            </a:extLst>
          </p:cNvPr>
          <p:cNvSpPr>
            <a:spLocks xmlns:a="http://schemas.openxmlformats.org/drawingml/2006/main" noGrp="1"/>
          </p:cNvSpPr>
          <p:nvPr/>
        </p:nvSpPr>
        <p:spPr>
          <a:xfrm xmlns:a="http://schemas.openxmlformats.org/drawingml/2006/main">
            <a:off x="8648700" y="6924675"/>
            <a:ext cx="190500" cy="190500"/>
          </a:xfrm>
          <a:prstGeom xmlns:a="http://schemas.openxmlformats.org/drawingml/2006/main" prst="roundRect">
            <a:avLst>
              <a:gd name="adj" fmla="val 50000"/>
            </a:avLst>
          </a:prstGeom>
          <a:solidFill xmlns:a="http://schemas.openxmlformats.org/drawingml/2006/main">
            <a:srgbClr val="2E6A4F"/>
          </a:solidFill>
          <a:ln xmlns:a="http://schemas.openxmlformats.org/drawingml/2006/main" w="0">
            <a:noFill/>
            <a:prstDash val="solid"/>
          </a:ln>
        </p:spPr>
      </p:sp>
      <p:sp>
        <p:nvSpPr>
          <p:cNvPr id="14" name="flow-title-3">
            <a:extLst xmlns:a="http://schemas.openxmlformats.org/drawingml/2006/main">
              <a:ext uri="{FF2B5EF4-FFF2-40B4-BE49-F238E27FC236}">
                <a16:creationId xmlns:a16="http://schemas.microsoft.com/office/drawing/2014/main" id="{C06A81E1-2C57-43E9-98E9-B2CDFF9A6928}"/>
              </a:ext>
            </a:extLst>
          </p:cNvPr>
          <p:cNvSpPr>
            <a:spLocks xmlns:a="http://schemas.openxmlformats.org/drawingml/2006/main" noGrp="1"/>
          </p:cNvSpPr>
          <p:nvPr/>
        </p:nvSpPr>
        <p:spPr>
          <a:xfrm xmlns:a="http://schemas.openxmlformats.org/drawingml/2006/main">
            <a:off x="2381250" y="6715125"/>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250" b="1" lang="he-IL">
                <a:solidFill>
                  <a:srgbClr val="171816"/>
                </a:solidFill>
                <a:latin typeface="Arial"/>
                <a:ea typeface="Arial"/>
                <a:cs typeface="Arial"/>
              </a:defRPr>
            </a:pPr>
            <a:r>
              <a:rPr sz="2250" b="1" lang="he-IL">
                <a:solidFill>
                  <a:srgbClr val="171816"/>
                </a:solidFill>
                <a:latin typeface="Arial"/>
                <a:ea typeface="Arial"/>
                <a:cs typeface="Arial"/>
              </a:rPr>
              <a:t>שכבת הסיכון</a:t>
            </a:r>
          </a:p>
        </p:txBody>
      </p:sp>
      <p:sp>
        <p:nvSpPr>
          <p:cNvPr id="15" name="flow-detail-3">
            <a:extLst xmlns:a="http://schemas.openxmlformats.org/drawingml/2006/main">
              <a:ext uri="{FF2B5EF4-FFF2-40B4-BE49-F238E27FC236}">
                <a16:creationId xmlns:a16="http://schemas.microsoft.com/office/drawing/2014/main" id="{9018E858-304F-41FB-876C-8EDE52574FB2}"/>
              </a:ext>
            </a:extLst>
          </p:cNvPr>
          <p:cNvSpPr>
            <a:spLocks xmlns:a="http://schemas.openxmlformats.org/drawingml/2006/main" noGrp="1"/>
          </p:cNvSpPr>
          <p:nvPr/>
        </p:nvSpPr>
        <p:spPr>
          <a:xfrm xmlns:a="http://schemas.openxmlformats.org/drawingml/2006/main">
            <a:off x="2381250" y="7162800"/>
            <a:ext cx="590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650" b="0" lang="he-IL">
                <a:solidFill>
                  <a:srgbClr val="6E706B"/>
                </a:solidFill>
                <a:latin typeface="Arial"/>
                <a:ea typeface="Arial"/>
                <a:cs typeface="Arial"/>
              </a:defRPr>
            </a:pPr>
            <a:r>
              <a:rPr sz="1650" b="0" lang="he-IL">
                <a:solidFill>
                  <a:srgbClr val="6E706B"/>
                </a:solidFill>
                <a:latin typeface="Arial"/>
                <a:ea typeface="Arial"/>
                <a:cs typeface="Arial"/>
              </a:rPr>
              <a:t>קובעת כמה הון מותר לחשוף.</a:t>
            </a:r>
          </a:p>
        </p:txBody>
      </p:sp>
      <p:sp>
        <p:nvSpPr>
          <p:cNvPr id="16" name="flow-dot-4">
            <a:extLst xmlns:a="http://schemas.openxmlformats.org/drawingml/2006/main">
              <a:ext uri="{FF2B5EF4-FFF2-40B4-BE49-F238E27FC236}">
                <a16:creationId xmlns:a16="http://schemas.microsoft.com/office/drawing/2014/main" id="{E52671EB-0890-4B1D-89E6-85810AAC87C6}"/>
              </a:ext>
            </a:extLst>
          </p:cNvPr>
          <p:cNvSpPr>
            <a:spLocks xmlns:a="http://schemas.openxmlformats.org/drawingml/2006/main" noGrp="1"/>
          </p:cNvSpPr>
          <p:nvPr/>
        </p:nvSpPr>
        <p:spPr>
          <a:xfrm xmlns:a="http://schemas.openxmlformats.org/drawingml/2006/main">
            <a:off x="8648700" y="8020050"/>
            <a:ext cx="190500" cy="190500"/>
          </a:xfrm>
          <a:prstGeom xmlns:a="http://schemas.openxmlformats.org/drawingml/2006/main" prst="roundRect">
            <a:avLst>
              <a:gd name="adj" fmla="val 50000"/>
            </a:avLst>
          </a:prstGeom>
          <a:solidFill xmlns:a="http://schemas.openxmlformats.org/drawingml/2006/main">
            <a:srgbClr val="2458C6"/>
          </a:solidFill>
          <a:ln xmlns:a="http://schemas.openxmlformats.org/drawingml/2006/main" w="0">
            <a:noFill/>
            <a:prstDash val="solid"/>
          </a:ln>
        </p:spPr>
      </p:sp>
      <p:sp>
        <p:nvSpPr>
          <p:cNvPr id="17" name="flow-title-4">
            <a:extLst xmlns:a="http://schemas.openxmlformats.org/drawingml/2006/main">
              <a:ext uri="{FF2B5EF4-FFF2-40B4-BE49-F238E27FC236}">
                <a16:creationId xmlns:a16="http://schemas.microsoft.com/office/drawing/2014/main" id="{23891990-8766-4EB6-92C9-E9CBBC30B9ED}"/>
              </a:ext>
            </a:extLst>
          </p:cNvPr>
          <p:cNvSpPr>
            <a:spLocks xmlns:a="http://schemas.openxmlformats.org/drawingml/2006/main" noGrp="1"/>
          </p:cNvSpPr>
          <p:nvPr/>
        </p:nvSpPr>
        <p:spPr>
          <a:xfrm xmlns:a="http://schemas.openxmlformats.org/drawingml/2006/main">
            <a:off x="2381250" y="7810500"/>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250" b="1" lang="he-IL">
                <a:solidFill>
                  <a:srgbClr val="171816"/>
                </a:solidFill>
                <a:latin typeface="Arial"/>
                <a:ea typeface="Arial"/>
                <a:cs typeface="Arial"/>
              </a:defRPr>
            </a:pPr>
            <a:r>
              <a:rPr sz="2250" b="1" lang="he-IL">
                <a:solidFill>
                  <a:srgbClr val="171816"/>
                </a:solidFill>
                <a:latin typeface="Arial"/>
                <a:ea typeface="Arial"/>
                <a:cs typeface="Arial"/>
              </a:rPr>
              <a:t>יעד החשיפה והפקודה</a:t>
            </a:r>
          </a:p>
        </p:txBody>
      </p:sp>
      <p:sp>
        <p:nvSpPr>
          <p:cNvPr id="18" name="flow-detail-4">
            <a:extLst xmlns:a="http://schemas.openxmlformats.org/drawingml/2006/main">
              <a:ext uri="{FF2B5EF4-FFF2-40B4-BE49-F238E27FC236}">
                <a16:creationId xmlns:a16="http://schemas.microsoft.com/office/drawing/2014/main" id="{2203B2A8-E8B4-40C7-B1C1-7A3EA568D03B}"/>
              </a:ext>
            </a:extLst>
          </p:cNvPr>
          <p:cNvSpPr>
            <a:spLocks xmlns:a="http://schemas.openxmlformats.org/drawingml/2006/main" noGrp="1"/>
          </p:cNvSpPr>
          <p:nvPr/>
        </p:nvSpPr>
        <p:spPr>
          <a:xfrm xmlns:a="http://schemas.openxmlformats.org/drawingml/2006/main">
            <a:off x="2381250" y="8258175"/>
            <a:ext cx="590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650" b="0" lang="he-IL">
                <a:solidFill>
                  <a:srgbClr val="6E706B"/>
                </a:solidFill>
                <a:latin typeface="Arial"/>
                <a:ea typeface="Arial"/>
                <a:cs typeface="Arial"/>
              </a:defRPr>
            </a:pPr>
            <a:r>
              <a:rPr sz="1650" b="0" lang="he-IL">
                <a:solidFill>
                  <a:srgbClr val="6E706B"/>
                </a:solidFill>
                <a:latin typeface="Arial"/>
                <a:ea typeface="Arial"/>
                <a:cs typeface="Arial"/>
              </a:rPr>
              <a:t>חשיפה מלאה, חלקית או מזומן.</a:t>
            </a:r>
          </a:p>
        </p:txBody>
      </p:sp>
      <p:sp>
        <p:nvSpPr>
          <p:cNvPr id="19" name="flow-dot-5">
            <a:extLst xmlns:a="http://schemas.openxmlformats.org/drawingml/2006/main">
              <a:ext uri="{FF2B5EF4-FFF2-40B4-BE49-F238E27FC236}">
                <a16:creationId xmlns:a16="http://schemas.microsoft.com/office/drawing/2014/main" id="{C600FAC5-FDA3-494D-8CB0-3FC05910D73B}"/>
              </a:ext>
            </a:extLst>
          </p:cNvPr>
          <p:cNvSpPr>
            <a:spLocks xmlns:a="http://schemas.openxmlformats.org/drawingml/2006/main" noGrp="1"/>
          </p:cNvSpPr>
          <p:nvPr/>
        </p:nvSpPr>
        <p:spPr>
          <a:xfrm xmlns:a="http://schemas.openxmlformats.org/drawingml/2006/main">
            <a:off x="8648700" y="9115425"/>
            <a:ext cx="190500" cy="190500"/>
          </a:xfrm>
          <a:prstGeom xmlns:a="http://schemas.openxmlformats.org/drawingml/2006/main" prst="roundRect">
            <a:avLst>
              <a:gd name="adj" fmla="val 50000"/>
            </a:avLst>
          </a:prstGeom>
          <a:solidFill xmlns:a="http://schemas.openxmlformats.org/drawingml/2006/main">
            <a:srgbClr val="2E6A4F"/>
          </a:solidFill>
          <a:ln xmlns:a="http://schemas.openxmlformats.org/drawingml/2006/main" w="0">
            <a:noFill/>
            <a:prstDash val="solid"/>
          </a:ln>
        </p:spPr>
      </p:sp>
      <p:sp>
        <p:nvSpPr>
          <p:cNvPr id="20" name="flow-title-5">
            <a:extLst xmlns:a="http://schemas.openxmlformats.org/drawingml/2006/main">
              <a:ext uri="{FF2B5EF4-FFF2-40B4-BE49-F238E27FC236}">
                <a16:creationId xmlns:a16="http://schemas.microsoft.com/office/drawing/2014/main" id="{A480B269-CBD7-4B56-B290-5ACFF036E3FC}"/>
              </a:ext>
            </a:extLst>
          </p:cNvPr>
          <p:cNvSpPr>
            <a:spLocks xmlns:a="http://schemas.openxmlformats.org/drawingml/2006/main" noGrp="1"/>
          </p:cNvSpPr>
          <p:nvPr/>
        </p:nvSpPr>
        <p:spPr>
          <a:xfrm xmlns:a="http://schemas.openxmlformats.org/drawingml/2006/main">
            <a:off x="2381250" y="8905875"/>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250" b="1" lang="he-IL">
                <a:solidFill>
                  <a:srgbClr val="171816"/>
                </a:solidFill>
                <a:latin typeface="Arial"/>
                <a:ea typeface="Arial"/>
                <a:cs typeface="Arial"/>
              </a:defRPr>
            </a:pPr>
            <a:r>
              <a:rPr sz="2250" b="1" lang="he-IL">
                <a:solidFill>
                  <a:srgbClr val="171816"/>
                </a:solidFill>
                <a:latin typeface="Arial"/>
                <a:ea typeface="Arial"/>
                <a:cs typeface="Arial"/>
              </a:rPr>
              <a:t>ביצוע ובקרה</a:t>
            </a:r>
          </a:p>
        </p:txBody>
      </p:sp>
      <p:sp>
        <p:nvSpPr>
          <p:cNvPr id="21" name="flow-detail-5">
            <a:extLst xmlns:a="http://schemas.openxmlformats.org/drawingml/2006/main">
              <a:ext uri="{FF2B5EF4-FFF2-40B4-BE49-F238E27FC236}">
                <a16:creationId xmlns:a16="http://schemas.microsoft.com/office/drawing/2014/main" id="{A4EF11A2-9753-42F3-874F-36A203A7C4A1}"/>
              </a:ext>
            </a:extLst>
          </p:cNvPr>
          <p:cNvSpPr>
            <a:spLocks xmlns:a="http://schemas.openxmlformats.org/drawingml/2006/main" noGrp="1"/>
          </p:cNvSpPr>
          <p:nvPr/>
        </p:nvSpPr>
        <p:spPr>
          <a:xfrm xmlns:a="http://schemas.openxmlformats.org/drawingml/2006/main">
            <a:off x="2381250" y="9353550"/>
            <a:ext cx="590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650" b="0" lang="he-IL">
                <a:solidFill>
                  <a:srgbClr val="6E706B"/>
                </a:solidFill>
                <a:latin typeface="Arial"/>
                <a:ea typeface="Arial"/>
                <a:cs typeface="Arial"/>
              </a:defRPr>
            </a:pPr>
            <a:r>
              <a:rPr sz="1650" b="0" lang="he-IL">
                <a:solidFill>
                  <a:srgbClr val="6E706B"/>
                </a:solidFill>
                <a:latin typeface="Arial"/>
                <a:ea typeface="Arial"/>
                <a:cs typeface="Arial"/>
              </a:rPr>
              <a:t>מה בוצע בפועל והאם הוא תואם ליעד.</a:t>
            </a:r>
          </a:p>
        </p:txBody>
      </p:sp>
      <p:sp>
        <p:nvSpPr>
          <p:cNvPr id="22" name="audit-statement-bg">
            <a:extLst xmlns:a="http://schemas.openxmlformats.org/drawingml/2006/main">
              <a:ext uri="{FF2B5EF4-FFF2-40B4-BE49-F238E27FC236}">
                <a16:creationId xmlns:a16="http://schemas.microsoft.com/office/drawing/2014/main" id="{89B687E9-EC98-4582-8E4F-55B344D4ECCA}"/>
              </a:ext>
            </a:extLst>
          </p:cNvPr>
          <p:cNvSpPr>
            <a:spLocks xmlns:a="http://schemas.openxmlformats.org/drawingml/2006/main" noGrp="1"/>
          </p:cNvSpPr>
          <p:nvPr/>
        </p:nvSpPr>
        <p:spPr>
          <a:xfrm xmlns:a="http://schemas.openxmlformats.org/drawingml/2006/main">
            <a:off x="819150" y="10382250"/>
            <a:ext cx="8648700" cy="1066800"/>
          </a:xfrm>
          <a:prstGeom xmlns:a="http://schemas.openxmlformats.org/drawingml/2006/main" prst="rect">
            <a:avLst/>
          </a:prstGeom>
          <a:solidFill xmlns:a="http://schemas.openxmlformats.org/drawingml/2006/main">
            <a:srgbClr val="FBF9F5"/>
          </a:solidFill>
          <a:ln xmlns:a="http://schemas.openxmlformats.org/drawingml/2006/main" w="9525">
            <a:solidFill>
              <a:srgbClr val="D7D1C5"/>
            </a:solidFill>
            <a:prstDash val="solid"/>
          </a:ln>
        </p:spPr>
      </p:sp>
      <p:sp>
        <p:nvSpPr>
          <p:cNvPr id="23" name="audit-statement">
            <a:extLst xmlns:a="http://schemas.openxmlformats.org/drawingml/2006/main">
              <a:ext uri="{FF2B5EF4-FFF2-40B4-BE49-F238E27FC236}">
                <a16:creationId xmlns:a16="http://schemas.microsoft.com/office/drawing/2014/main" id="{154D9EBE-145C-42D2-A156-BF5E1BA31004}"/>
              </a:ext>
            </a:extLst>
          </p:cNvPr>
          <p:cNvSpPr>
            <a:spLocks xmlns:a="http://schemas.openxmlformats.org/drawingml/2006/main" noGrp="1"/>
          </p:cNvSpPr>
          <p:nvPr/>
        </p:nvSpPr>
        <p:spPr>
          <a:xfrm xmlns:a="http://schemas.openxmlformats.org/drawingml/2006/main">
            <a:off x="1333500" y="10687050"/>
            <a:ext cx="7620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025" b="1" lang="he-IL">
                <a:solidFill>
                  <a:srgbClr val="171816"/>
                </a:solidFill>
                <a:latin typeface="Arial"/>
                <a:ea typeface="Arial"/>
                <a:cs typeface="Arial"/>
              </a:defRPr>
            </a:pPr>
            <a:r>
              <a:rPr sz="2025" b="1" lang="he-IL">
                <a:solidFill>
                  <a:srgbClr val="171816"/>
                </a:solidFill>
                <a:latin typeface="Arial"/>
                <a:ea typeface="Arial"/>
                <a:cs typeface="Arial"/>
              </a:rPr>
              <a:t>אפשר להסביר כל פעולה במשפט אחד - ואפשר לבדוק אותה לאחר מכן.</a:t>
            </a:r>
          </a:p>
        </p:txBody>
      </p:sp>
      <p:sp>
        <p:nvSpPr>
          <p:cNvPr id="24" name="">
            <a:extLst xmlns:a="http://schemas.openxmlformats.org/drawingml/2006/main">
              <a:ext uri="{FF2B5EF4-FFF2-40B4-BE49-F238E27FC236}">
                <a16:creationId xmlns:a16="http://schemas.microsoft.com/office/drawing/2014/main" id="{AD0E78F6-8702-4CDF-8B93-AB38B61759C1}"/>
              </a:ext>
            </a:extLst>
          </p:cNvPr>
          <p:cNvSpPr>
            <a:spLocks xmlns:a="http://schemas.openxmlformats.org/drawingml/2006/main" noGrp="1"/>
          </p:cNvSpPr>
          <p:nvPr/>
        </p:nvSpPr>
        <p:spPr>
          <a:xfrm xmlns:a="http://schemas.openxmlformats.org/drawingml/2006/main">
            <a:off x="819150" y="12230100"/>
            <a:ext cx="8648700" cy="0"/>
          </a:xfrm>
          <a:prstGeom xmlns:a="http://schemas.openxmlformats.org/drawingml/2006/main" prst="line">
            <a:avLst/>
          </a:prstGeom>
          <a:noFill xmlns:a="http://schemas.openxmlformats.org/drawingml/2006/main"/>
          <a:ln xmlns:a="http://schemas.openxmlformats.org/drawingml/2006/main" w="9525">
            <a:solidFill>
              <a:srgbClr val="D7D1C5"/>
            </a:solidFill>
            <a:prstDash val="solid"/>
          </a:ln>
        </p:spPr>
      </p:sp>
      <p:sp>
        <p:nvSpPr>
          <p:cNvPr id="25" name="footer-3">
            <a:extLst xmlns:a="http://schemas.openxmlformats.org/drawingml/2006/main">
              <a:ext uri="{FF2B5EF4-FFF2-40B4-BE49-F238E27FC236}">
                <a16:creationId xmlns:a16="http://schemas.microsoft.com/office/drawing/2014/main" id="{89460736-0C39-49CE-A8C4-AC327D6D0F0C}"/>
              </a:ext>
            </a:extLst>
          </p:cNvPr>
          <p:cNvSpPr>
            <a:spLocks xmlns:a="http://schemas.openxmlformats.org/drawingml/2006/main" noGrp="1"/>
          </p:cNvSpPr>
          <p:nvPr/>
        </p:nvSpPr>
        <p:spPr>
          <a:xfrm xmlns:a="http://schemas.openxmlformats.org/drawingml/2006/main">
            <a:off x="819150" y="12382500"/>
            <a:ext cx="8648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125" b="0" lang="he-IL">
                <a:solidFill>
                  <a:srgbClr val="6E706B"/>
                </a:solidFill>
                <a:latin typeface="Arial"/>
                <a:ea typeface="Arial"/>
                <a:cs typeface="Arial"/>
              </a:defRPr>
            </a:pPr>
            <a:r>
              <a:rPr sz="1125" b="0" lang="he-IL">
                <a:solidFill>
                  <a:srgbClr val="6E706B"/>
                </a:solidFill>
                <a:latin typeface="Arial"/>
                <a:ea typeface="Arial"/>
                <a:cs typeface="Arial"/>
              </a:rPr>
              <a:t>מסמך היכרות פרטי  ·  03</a:t>
            </a:r>
          </a:p>
        </p:txBody>
      </p:sp>
    </p:spTree>
    <p:extLst>
      <p:ext uri="{BB962C8B-B14F-4D97-AF65-F5344CB8AC3E}">
        <p14:creationId xmlns:p14="http://schemas.microsoft.com/office/powerpoint/2010/main" val="128961067"/>
      </p:ext>
    </p:extLst>
  </p:cSld>
</p:sld>
</file>

<file path=ppt/slides/slide4.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27" name="eyebrow">
            <a:extLst xmlns:a="http://schemas.openxmlformats.org/drawingml/2006/main">
              <a:ext uri="{FF2B5EF4-FFF2-40B4-BE49-F238E27FC236}">
                <a16:creationId xmlns:a16="http://schemas.microsoft.com/office/drawing/2014/main" id="{28BE94E0-7599-4D85-ABF0-9AECCF1B436F}"/>
              </a:ext>
            </a:extLst>
          </p:cNvPr>
          <p:cNvSpPr>
            <a:spLocks xmlns:a="http://schemas.openxmlformats.org/drawingml/2006/main" noGrp="1"/>
          </p:cNvSpPr>
          <p:nvPr/>
        </p:nvSpPr>
        <p:spPr>
          <a:xfrm xmlns:a="http://schemas.openxmlformats.org/drawingml/2006/main">
            <a:off x="819150" y="552450"/>
            <a:ext cx="864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1" lang="he-IL">
                <a:solidFill>
                  <a:srgbClr val="2458C6"/>
                </a:solidFill>
                <a:latin typeface="Arial"/>
                <a:ea typeface="Arial"/>
                <a:cs typeface="Arial"/>
              </a:defRPr>
            </a:pPr>
            <a:r>
              <a:rPr sz="1350" b="1" lang="he-IL">
                <a:solidFill>
                  <a:srgbClr val="2458C6"/>
                </a:solidFill>
                <a:latin typeface="Arial"/>
                <a:ea typeface="Arial"/>
                <a:cs typeface="Arial"/>
              </a:rPr>
              <a:t>דוגמה היסטורית · משבר הקורונה</a:t>
            </a:r>
          </a:p>
        </p:txBody>
      </p:sp>
      <p:sp>
        <p:nvSpPr>
          <p:cNvPr id="2" name="slide-title">
            <a:extLst xmlns:a="http://schemas.openxmlformats.org/drawingml/2006/main">
              <a:ext uri="{FF2B5EF4-FFF2-40B4-BE49-F238E27FC236}">
                <a16:creationId xmlns:a16="http://schemas.microsoft.com/office/drawing/2014/main" id="{087C3D57-A7E6-416A-9869-138AE6F3EBF3}"/>
              </a:ext>
            </a:extLst>
          </p:cNvPr>
          <p:cNvSpPr>
            <a:spLocks xmlns:a="http://schemas.openxmlformats.org/drawingml/2006/main" noGrp="1"/>
          </p:cNvSpPr>
          <p:nvPr/>
        </p:nvSpPr>
        <p:spPr>
          <a:xfrm xmlns:a="http://schemas.openxmlformats.org/drawingml/2006/main">
            <a:off x="819150" y="1000125"/>
            <a:ext cx="8648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3450" b="1" lang="he-IL">
                <a:solidFill>
                  <a:srgbClr val="171816"/>
                </a:solidFill>
                <a:latin typeface="Arial"/>
                <a:ea typeface="Arial"/>
                <a:cs typeface="Arial"/>
              </a:defRPr>
            </a:pPr>
            <a:r>
              <a:rPr sz="3450" b="1" lang="he-IL">
                <a:solidFill>
                  <a:srgbClr val="171816"/>
                </a:solidFill>
                <a:latin typeface="Arial"/>
                <a:ea typeface="Arial"/>
                <a:cs typeface="Arial"/>
              </a:rPr>
              <a:t>כשהלחץ עלה, המערכת עברה למזומן</a:t>
            </a:r>
          </a:p>
        </p:txBody>
      </p:sp>
      <p:sp>
        <p:nvSpPr>
          <p:cNvPr id="3" name="covid-subtitle">
            <a:extLst xmlns:a="http://schemas.openxmlformats.org/drawingml/2006/main">
              <a:ext uri="{FF2B5EF4-FFF2-40B4-BE49-F238E27FC236}">
                <a16:creationId xmlns:a16="http://schemas.microsoft.com/office/drawing/2014/main" id="{0A05F012-9BB4-4C71-8229-E692C1CA97D3}"/>
              </a:ext>
            </a:extLst>
          </p:cNvPr>
          <p:cNvSpPr>
            <a:spLocks xmlns:a="http://schemas.openxmlformats.org/drawingml/2006/main" noGrp="1"/>
          </p:cNvSpPr>
          <p:nvPr/>
        </p:nvSpPr>
        <p:spPr>
          <a:xfrm xmlns:a="http://schemas.openxmlformats.org/drawingml/2006/main">
            <a:off x="1428750" y="1733550"/>
            <a:ext cx="803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00" b="0" lang="he-IL">
                <a:solidFill>
                  <a:srgbClr val="6E706B"/>
                </a:solidFill>
                <a:latin typeface="Arial"/>
                <a:ea typeface="Arial"/>
                <a:cs typeface="Arial"/>
              </a:defRPr>
            </a:pPr>
            <a:r>
              <a:rPr sz="1800" b="0" lang="he-IL">
                <a:solidFill>
                  <a:srgbClr val="6E706B"/>
                </a:solidFill>
                <a:latin typeface="Arial"/>
                <a:ea typeface="Arial"/>
                <a:cs typeface="Arial"/>
              </a:rPr>
              <a:t>המערכת לא ניבאה את המשבר. היא פעלה לפי כללים שנקבעו מראש.</a:t>
            </a:r>
          </a:p>
        </p:txBody>
      </p:sp>
      <p:sp>
        <p:nvSpPr>
          <p:cNvPr id="4" name="covid-chart-bg">
            <a:extLst xmlns:a="http://schemas.openxmlformats.org/drawingml/2006/main">
              <a:ext uri="{FF2B5EF4-FFF2-40B4-BE49-F238E27FC236}">
                <a16:creationId xmlns:a16="http://schemas.microsoft.com/office/drawing/2014/main" id="{D67BED03-8DF6-4474-99D2-A6F8BDD183E2}"/>
              </a:ext>
            </a:extLst>
          </p:cNvPr>
          <p:cNvSpPr>
            <a:spLocks xmlns:a="http://schemas.openxmlformats.org/drawingml/2006/main" noGrp="1"/>
          </p:cNvSpPr>
          <p:nvPr/>
        </p:nvSpPr>
        <p:spPr>
          <a:xfrm xmlns:a="http://schemas.openxmlformats.org/drawingml/2006/main">
            <a:off x="685800" y="2381250"/>
            <a:ext cx="8915400" cy="5619750"/>
          </a:xfrm>
          <a:prstGeom xmlns:a="http://schemas.openxmlformats.org/drawingml/2006/main" prst="rect">
            <a:avLst/>
          </a:prstGeom>
          <a:solidFill xmlns:a="http://schemas.openxmlformats.org/drawingml/2006/main">
            <a:srgbClr val="FBF9F5"/>
          </a:solidFill>
          <a:ln xmlns:a="http://schemas.openxmlformats.org/drawingml/2006/main" w="9525">
            <a:solidFill>
              <a:srgbClr val="D7D1C5"/>
            </a:solidFill>
            <a:prstDash val="solid"/>
          </a:ln>
        </p:spPr>
      </p:sp>
      <p:graphicFrame>
        <p:nvGraphicFramePr>
          <p:cNvPr id="31" name="Chart"/>
          <p:cNvGraphicFramePr/>
          <p:nvPr/>
        </p:nvGraphicFramePr>
        <p:xfrm>
          <a:off xmlns:a="http://schemas.openxmlformats.org/drawingml/2006/main" x="971550" y="2686050"/>
          <a:ext xmlns:a="http://schemas.openxmlformats.org/drawingml/2006/main" cx="8343900" cy="4762500"/>
        </p:xfrm>
        <a:graphic xmlns:a="http://schemas.openxmlformats.org/drawingml/2006/main">
          <a:graphicData uri="http://schemas.openxmlformats.org/drawingml/2006/chart">
            <c:chart xmlns:r="http://schemas.openxmlformats.org/officeDocument/2006/relationships" xmlns:c="http://schemas.openxmlformats.org/drawingml/2006/chart" r:id="Rbe47c5368ef842da"/>
          </a:graphicData>
        </a:graphic>
      </p:graphicFrame>
      <p:sp>
        <p:nvSpPr>
          <p:cNvPr id="6" name="callout-1-anchor">
            <a:extLst xmlns:a="http://schemas.openxmlformats.org/drawingml/2006/main">
              <a:ext uri="{FF2B5EF4-FFF2-40B4-BE49-F238E27FC236}">
                <a16:creationId xmlns:a16="http://schemas.microsoft.com/office/drawing/2014/main" id="{F95898BA-F0C4-43E2-8ECB-CC72925344F0}"/>
              </a:ext>
            </a:extLst>
          </p:cNvPr>
          <p:cNvSpPr>
            <a:spLocks xmlns:a="http://schemas.openxmlformats.org/drawingml/2006/main" noGrp="1"/>
          </p:cNvSpPr>
          <p:nvPr/>
        </p:nvSpPr>
        <p:spPr>
          <a:xfrm xmlns:a="http://schemas.openxmlformats.org/drawingml/2006/main">
            <a:off x="6000750" y="290512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7" name="callout-1-point">
            <a:extLst xmlns:a="http://schemas.openxmlformats.org/drawingml/2006/main">
              <a:ext uri="{FF2B5EF4-FFF2-40B4-BE49-F238E27FC236}">
                <a16:creationId xmlns:a16="http://schemas.microsoft.com/office/drawing/2014/main" id="{99C61F7C-A79D-46E3-9D1B-B3ED0EC4486E}"/>
              </a:ext>
            </a:extLst>
          </p:cNvPr>
          <p:cNvSpPr>
            <a:spLocks xmlns:a="http://schemas.openxmlformats.org/drawingml/2006/main" noGrp="1"/>
          </p:cNvSpPr>
          <p:nvPr/>
        </p:nvSpPr>
        <p:spPr>
          <a:xfrm xmlns:a="http://schemas.openxmlformats.org/drawingml/2006/main">
            <a:off x="2781300" y="48577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4" name=""/>
          <p:cNvCxnSpPr>
            <a:stCxn xmlns:a="http://schemas.openxmlformats.org/drawingml/2006/main" id="7" idx="3"/>
            <a:endCxn xmlns:a="http://schemas.openxmlformats.org/drawingml/2006/main" id="6" idx="1"/>
          </p:cNvCxnSpPr>
          <p:nvPr/>
        </p:nvCxnSpPr>
        <p:spPr>
          <a:xfrm xmlns:a="http://schemas.openxmlformats.org/drawingml/2006/main" flipV="1">
            <a:off x="2790825" y="2909888"/>
            <a:ext cx="3209925" cy="1952625"/>
          </a:xfrm>
          <a:prstGeom xmlns:a="http://schemas.openxmlformats.org/drawingml/2006/main" prst="straightConnector1">
            <a:avLst/>
          </a:prstGeom>
          <a:ln xmlns:a="http://schemas.openxmlformats.org/drawingml/2006/main" w="19050">
            <a:solidFill>
              <a:srgbClr val="2458C6"/>
            </a:solidFill>
            <a:prstDash val="solid"/>
            <a:headEnd type="arrow" w="sm" len="sm"/>
          </a:ln>
        </p:spPr>
      </p:cxnSp>
      <p:sp>
        <p:nvSpPr>
          <p:cNvPr id="9" name="callout-1">
            <a:extLst xmlns:a="http://schemas.openxmlformats.org/drawingml/2006/main">
              <a:ext uri="{FF2B5EF4-FFF2-40B4-BE49-F238E27FC236}">
                <a16:creationId xmlns:a16="http://schemas.microsoft.com/office/drawing/2014/main" id="{185E570F-6BD2-42DD-AE0A-104DF9788088}"/>
              </a:ext>
            </a:extLst>
          </p:cNvPr>
          <p:cNvSpPr>
            <a:spLocks xmlns:a="http://schemas.openxmlformats.org/drawingml/2006/main" noGrp="1"/>
          </p:cNvSpPr>
          <p:nvPr/>
        </p:nvSpPr>
        <p:spPr>
          <a:xfrm xmlns:a="http://schemas.openxmlformats.org/drawingml/2006/main">
            <a:off x="5886450" y="272415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500" b="1" lang="he-IL">
                <a:solidFill>
                  <a:srgbClr val="2458C6"/>
                </a:solidFill>
                <a:latin typeface="Arial"/>
                <a:ea typeface="Arial"/>
                <a:cs typeface="Arial"/>
              </a:defRPr>
            </a:pPr>
            <a:r>
              <a:rPr sz="1500" b="1" lang="he-IL">
                <a:solidFill>
                  <a:srgbClr val="2458C6"/>
                </a:solidFill>
                <a:latin typeface="Arial"/>
                <a:ea typeface="Arial"/>
                <a:cs typeface="Arial"/>
              </a:rPr>
              <a:t>27.2  ·  המערכת ירדה 16.5%</a:t>
            </a:r>
          </a:p>
        </p:txBody>
      </p:sp>
      <p:sp>
        <p:nvSpPr>
          <p:cNvPr id="10" name="callout-2-anchor">
            <a:extLst xmlns:a="http://schemas.openxmlformats.org/drawingml/2006/main">
              <a:ext uri="{FF2B5EF4-FFF2-40B4-BE49-F238E27FC236}">
                <a16:creationId xmlns:a16="http://schemas.microsoft.com/office/drawing/2014/main" id="{3F2DCAC0-F02B-495E-9B09-5B1B426AA6A3}"/>
              </a:ext>
            </a:extLst>
          </p:cNvPr>
          <p:cNvSpPr>
            <a:spLocks xmlns:a="http://schemas.openxmlformats.org/drawingml/2006/main" noGrp="1"/>
          </p:cNvSpPr>
          <p:nvPr/>
        </p:nvSpPr>
        <p:spPr>
          <a:xfrm xmlns:a="http://schemas.openxmlformats.org/drawingml/2006/main">
            <a:off x="6096000" y="404812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1" name="callout-2-point">
            <a:extLst xmlns:a="http://schemas.openxmlformats.org/drawingml/2006/main">
              <a:ext uri="{FF2B5EF4-FFF2-40B4-BE49-F238E27FC236}">
                <a16:creationId xmlns:a16="http://schemas.microsoft.com/office/drawing/2014/main" id="{819EB1DB-5CBF-4629-BB94-CBD4696AE20B}"/>
              </a:ext>
            </a:extLst>
          </p:cNvPr>
          <p:cNvSpPr>
            <a:spLocks xmlns:a="http://schemas.openxmlformats.org/drawingml/2006/main" noGrp="1"/>
          </p:cNvSpPr>
          <p:nvPr/>
        </p:nvSpPr>
        <p:spPr>
          <a:xfrm xmlns:a="http://schemas.openxmlformats.org/drawingml/2006/main">
            <a:off x="3905250" y="46291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8" name=""/>
          <p:cNvCxnSpPr>
            <a:stCxn xmlns:a="http://schemas.openxmlformats.org/drawingml/2006/main" id="11" idx="3"/>
            <a:endCxn xmlns:a="http://schemas.openxmlformats.org/drawingml/2006/main" id="10" idx="1"/>
          </p:cNvCxnSpPr>
          <p:nvPr/>
        </p:nvCxnSpPr>
        <p:spPr>
          <a:xfrm xmlns:a="http://schemas.openxmlformats.org/drawingml/2006/main" flipV="1">
            <a:off x="3914775" y="4052888"/>
            <a:ext cx="2181225" cy="581025"/>
          </a:xfrm>
          <a:prstGeom xmlns:a="http://schemas.openxmlformats.org/drawingml/2006/main" prst="straightConnector1">
            <a:avLst/>
          </a:prstGeom>
          <a:ln xmlns:a="http://schemas.openxmlformats.org/drawingml/2006/main" w="19050">
            <a:solidFill>
              <a:srgbClr val="2E6A4F"/>
            </a:solidFill>
            <a:prstDash val="solid"/>
            <a:headEnd type="arrow" w="sm" len="sm"/>
          </a:ln>
        </p:spPr>
      </p:cxnSp>
      <p:sp>
        <p:nvSpPr>
          <p:cNvPr id="13" name="callout-2">
            <a:extLst xmlns:a="http://schemas.openxmlformats.org/drawingml/2006/main">
              <a:ext uri="{FF2B5EF4-FFF2-40B4-BE49-F238E27FC236}">
                <a16:creationId xmlns:a16="http://schemas.microsoft.com/office/drawing/2014/main" id="{22F6649D-779E-4826-95CB-75A42FAA96BC}"/>
              </a:ext>
            </a:extLst>
          </p:cNvPr>
          <p:cNvSpPr>
            <a:spLocks xmlns:a="http://schemas.openxmlformats.org/drawingml/2006/main" noGrp="1"/>
          </p:cNvSpPr>
          <p:nvPr/>
        </p:nvSpPr>
        <p:spPr>
          <a:xfrm xmlns:a="http://schemas.openxmlformats.org/drawingml/2006/main">
            <a:off x="5715000" y="3810000"/>
            <a:ext cx="3219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500" b="1" lang="he-IL">
                <a:solidFill>
                  <a:srgbClr val="2E6A4F"/>
                </a:solidFill>
                <a:latin typeface="Arial"/>
                <a:ea typeface="Arial"/>
                <a:cs typeface="Arial"/>
              </a:defRPr>
            </a:pPr>
            <a:r>
              <a:rPr sz="1500" b="1" lang="he-IL">
                <a:solidFill>
                  <a:srgbClr val="2E6A4F"/>
                </a:solidFill>
                <a:latin typeface="Arial"/>
                <a:ea typeface="Arial"/>
                <a:cs typeface="Arial"/>
              </a:rPr>
              <a:t>2.3  ·  מעבר ל־100% מזומן</a:t>
            </a:r>
          </a:p>
        </p:txBody>
      </p:sp>
      <p:sp>
        <p:nvSpPr>
          <p:cNvPr id="14" name="callout-3-anchor">
            <a:extLst xmlns:a="http://schemas.openxmlformats.org/drawingml/2006/main">
              <a:ext uri="{FF2B5EF4-FFF2-40B4-BE49-F238E27FC236}">
                <a16:creationId xmlns:a16="http://schemas.microsoft.com/office/drawing/2014/main" id="{82AD1707-671D-4EF5-BFB7-118855D323DE}"/>
              </a:ext>
            </a:extLst>
          </p:cNvPr>
          <p:cNvSpPr>
            <a:spLocks xmlns:a="http://schemas.openxmlformats.org/drawingml/2006/main" noGrp="1"/>
          </p:cNvSpPr>
          <p:nvPr/>
        </p:nvSpPr>
        <p:spPr>
          <a:xfrm xmlns:a="http://schemas.openxmlformats.org/drawingml/2006/main">
            <a:off x="1695450" y="614362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5" name="callout-3-point">
            <a:extLst xmlns:a="http://schemas.openxmlformats.org/drawingml/2006/main">
              <a:ext uri="{FF2B5EF4-FFF2-40B4-BE49-F238E27FC236}">
                <a16:creationId xmlns:a16="http://schemas.microsoft.com/office/drawing/2014/main" id="{A9FF80EE-CC10-4B10-9BB2-956C551E1626}"/>
              </a:ext>
            </a:extLst>
          </p:cNvPr>
          <p:cNvSpPr>
            <a:spLocks xmlns:a="http://schemas.openxmlformats.org/drawingml/2006/main" noGrp="1"/>
          </p:cNvSpPr>
          <p:nvPr/>
        </p:nvSpPr>
        <p:spPr>
          <a:xfrm xmlns:a="http://schemas.openxmlformats.org/drawingml/2006/main">
            <a:off x="6048375" y="64960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2" name=""/>
          <p:cNvCxnSpPr>
            <a:stCxn xmlns:a="http://schemas.openxmlformats.org/drawingml/2006/main" id="15" idx="1"/>
            <a:endCxn xmlns:a="http://schemas.openxmlformats.org/drawingml/2006/main" id="14" idx="3"/>
          </p:cNvCxnSpPr>
          <p:nvPr/>
        </p:nvCxnSpPr>
        <p:spPr>
          <a:xfrm xmlns:a="http://schemas.openxmlformats.org/drawingml/2006/main" flipH="1" flipV="1">
            <a:off x="1704975" y="6148388"/>
            <a:ext cx="4343400" cy="352425"/>
          </a:xfrm>
          <a:prstGeom xmlns:a="http://schemas.openxmlformats.org/drawingml/2006/main" prst="straightConnector1">
            <a:avLst/>
          </a:prstGeom>
          <a:ln xmlns:a="http://schemas.openxmlformats.org/drawingml/2006/main" w="19050">
            <a:solidFill>
              <a:srgbClr val="A05234"/>
            </a:solidFill>
            <a:prstDash val="solid"/>
            <a:headEnd type="arrow" w="sm" len="sm"/>
          </a:ln>
        </p:spPr>
      </p:cxnSp>
      <p:sp>
        <p:nvSpPr>
          <p:cNvPr id="17" name="callout-3">
            <a:extLst xmlns:a="http://schemas.openxmlformats.org/drawingml/2006/main">
              <a:ext uri="{FF2B5EF4-FFF2-40B4-BE49-F238E27FC236}">
                <a16:creationId xmlns:a16="http://schemas.microsoft.com/office/drawing/2014/main" id="{AF6DA806-A3FA-4004-A7E9-BC0A3EC2A95E}"/>
              </a:ext>
            </a:extLst>
          </p:cNvPr>
          <p:cNvSpPr>
            <a:spLocks xmlns:a="http://schemas.openxmlformats.org/drawingml/2006/main" noGrp="1"/>
          </p:cNvSpPr>
          <p:nvPr/>
        </p:nvSpPr>
        <p:spPr>
          <a:xfrm xmlns:a="http://schemas.openxmlformats.org/drawingml/2006/main">
            <a:off x="1190625" y="590550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500" b="1" lang="he-IL">
                <a:solidFill>
                  <a:srgbClr val="A05234"/>
                </a:solidFill>
                <a:latin typeface="Arial"/>
                <a:ea typeface="Arial"/>
                <a:cs typeface="Arial"/>
              </a:defRPr>
            </a:pPr>
            <a:r>
              <a:rPr sz="1500" b="1" lang="he-IL">
                <a:solidFill>
                  <a:srgbClr val="A05234"/>
                </a:solidFill>
                <a:latin typeface="Arial"/>
                <a:ea typeface="Arial"/>
                <a:cs typeface="Arial"/>
              </a:rPr>
              <a:t>23.3  ·  מדד השוק ירד 33.8%</a:t>
            </a:r>
          </a:p>
        </p:txBody>
      </p:sp>
      <p:sp>
        <p:nvSpPr>
          <p:cNvPr id="18" name="exposure-label">
            <a:extLst xmlns:a="http://schemas.openxmlformats.org/drawingml/2006/main">
              <a:ext uri="{FF2B5EF4-FFF2-40B4-BE49-F238E27FC236}">
                <a16:creationId xmlns:a16="http://schemas.microsoft.com/office/drawing/2014/main" id="{E2DDC912-7B32-4D40-9203-70890F52C5B8}"/>
              </a:ext>
            </a:extLst>
          </p:cNvPr>
          <p:cNvSpPr>
            <a:spLocks xmlns:a="http://schemas.openxmlformats.org/drawingml/2006/main" noGrp="1"/>
          </p:cNvSpPr>
          <p:nvPr/>
        </p:nvSpPr>
        <p:spPr>
          <a:xfrm xmlns:a="http://schemas.openxmlformats.org/drawingml/2006/main">
            <a:off x="8305800" y="8334375"/>
            <a:ext cx="971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1" lang="he-IL">
                <a:solidFill>
                  <a:srgbClr val="6E706B"/>
                </a:solidFill>
                <a:latin typeface="Arial"/>
                <a:ea typeface="Arial"/>
                <a:cs typeface="Arial"/>
              </a:defRPr>
            </a:pPr>
            <a:r>
              <a:rPr sz="1350" b="1" lang="he-IL">
                <a:solidFill>
                  <a:srgbClr val="6E706B"/>
                </a:solidFill>
                <a:latin typeface="Arial"/>
                <a:ea typeface="Arial"/>
                <a:cs typeface="Arial"/>
              </a:rPr>
              <a:t>חשיפה</a:t>
            </a:r>
          </a:p>
        </p:txBody>
      </p:sp>
      <p:sp>
        <p:nvSpPr>
          <p:cNvPr id="19" name="exposure-risk">
            <a:extLst xmlns:a="http://schemas.openxmlformats.org/drawingml/2006/main">
              <a:ext uri="{FF2B5EF4-FFF2-40B4-BE49-F238E27FC236}">
                <a16:creationId xmlns:a16="http://schemas.microsoft.com/office/drawing/2014/main" id="{518E1CFF-23B5-47B0-AF02-AA5A301B6B82}"/>
              </a:ext>
            </a:extLst>
          </p:cNvPr>
          <p:cNvSpPr>
            <a:spLocks xmlns:a="http://schemas.openxmlformats.org/drawingml/2006/main" noGrp="1"/>
          </p:cNvSpPr>
          <p:nvPr/>
        </p:nvSpPr>
        <p:spPr>
          <a:xfrm xmlns:a="http://schemas.openxmlformats.org/drawingml/2006/main">
            <a:off x="1181100" y="8782050"/>
            <a:ext cx="1085850" cy="228600"/>
          </a:xfrm>
          <a:prstGeom xmlns:a="http://schemas.openxmlformats.org/drawingml/2006/main" prst="rect">
            <a:avLst/>
          </a:prstGeom>
          <a:solidFill xmlns:a="http://schemas.openxmlformats.org/drawingml/2006/main">
            <a:srgbClr val="2458C6"/>
          </a:solidFill>
          <a:ln xmlns:a="http://schemas.openxmlformats.org/drawingml/2006/main" w="0">
            <a:noFill/>
            <a:prstDash val="solid"/>
          </a:ln>
        </p:spPr>
      </p:sp>
      <p:sp>
        <p:nvSpPr>
          <p:cNvPr id="20" name="exposure-cash">
            <a:extLst xmlns:a="http://schemas.openxmlformats.org/drawingml/2006/main">
              <a:ext uri="{FF2B5EF4-FFF2-40B4-BE49-F238E27FC236}">
                <a16:creationId xmlns:a16="http://schemas.microsoft.com/office/drawing/2014/main" id="{A6895E8E-1C3D-45C7-971D-645EF24CF128}"/>
              </a:ext>
            </a:extLst>
          </p:cNvPr>
          <p:cNvSpPr>
            <a:spLocks xmlns:a="http://schemas.openxmlformats.org/drawingml/2006/main" noGrp="1"/>
          </p:cNvSpPr>
          <p:nvPr/>
        </p:nvSpPr>
        <p:spPr>
          <a:xfrm xmlns:a="http://schemas.openxmlformats.org/drawingml/2006/main">
            <a:off x="2266950" y="8782050"/>
            <a:ext cx="7010400" cy="228600"/>
          </a:xfrm>
          <a:prstGeom xmlns:a="http://schemas.openxmlformats.org/drawingml/2006/main" prst="rect">
            <a:avLst/>
          </a:prstGeom>
          <a:solidFill xmlns:a="http://schemas.openxmlformats.org/drawingml/2006/main">
            <a:srgbClr val="2E6A4F"/>
          </a:solidFill>
          <a:ln xmlns:a="http://schemas.openxmlformats.org/drawingml/2006/main" w="0">
            <a:noFill/>
            <a:prstDash val="solid"/>
          </a:ln>
        </p:spPr>
      </p:sp>
      <p:sp>
        <p:nvSpPr>
          <p:cNvPr id="21" name="risk-strip-label">
            <a:extLst xmlns:a="http://schemas.openxmlformats.org/drawingml/2006/main">
              <a:ext uri="{FF2B5EF4-FFF2-40B4-BE49-F238E27FC236}">
                <a16:creationId xmlns:a16="http://schemas.microsoft.com/office/drawing/2014/main" id="{9C4D98B5-7629-45D8-BAF4-850859C39C6E}"/>
              </a:ext>
            </a:extLst>
          </p:cNvPr>
          <p:cNvSpPr>
            <a:spLocks xmlns:a="http://schemas.openxmlformats.org/drawingml/2006/main" noGrp="1"/>
          </p:cNvSpPr>
          <p:nvPr/>
        </p:nvSpPr>
        <p:spPr>
          <a:xfrm xmlns:a="http://schemas.openxmlformats.org/drawingml/2006/main">
            <a:off x="1181100" y="90678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rtl="1">
              <a:defRPr sz="1200" b="0" lang="he-IL">
                <a:solidFill>
                  <a:srgbClr val="2458C6"/>
                </a:solidFill>
                <a:latin typeface="Arial"/>
                <a:ea typeface="Arial"/>
                <a:cs typeface="Arial"/>
              </a:defRPr>
            </a:pPr>
            <a:r>
              <a:rPr sz="1200" b="0" lang="he-IL">
                <a:solidFill>
                  <a:srgbClr val="2458C6"/>
                </a:solidFill>
                <a:latin typeface="Arial"/>
                <a:ea typeface="Arial"/>
                <a:cs typeface="Arial"/>
              </a:rPr>
              <a:t>חשיפה למניות</a:t>
            </a:r>
          </a:p>
        </p:txBody>
      </p:sp>
      <p:sp>
        <p:nvSpPr>
          <p:cNvPr id="22" name="cash-strip-label">
            <a:extLst xmlns:a="http://schemas.openxmlformats.org/drawingml/2006/main">
              <a:ext uri="{FF2B5EF4-FFF2-40B4-BE49-F238E27FC236}">
                <a16:creationId xmlns:a16="http://schemas.microsoft.com/office/drawing/2014/main" id="{BC8A0BBB-C060-4B56-A4A9-BA6AEF1814FA}"/>
              </a:ext>
            </a:extLst>
          </p:cNvPr>
          <p:cNvSpPr>
            <a:spLocks xmlns:a="http://schemas.openxmlformats.org/drawingml/2006/main" noGrp="1"/>
          </p:cNvSpPr>
          <p:nvPr/>
        </p:nvSpPr>
        <p:spPr>
          <a:xfrm xmlns:a="http://schemas.openxmlformats.org/drawingml/2006/main">
            <a:off x="2857500" y="9067800"/>
            <a:ext cx="6419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1" lang="he-IL">
                <a:solidFill>
                  <a:srgbClr val="2E6A4F"/>
                </a:solidFill>
                <a:latin typeface="Arial"/>
                <a:ea typeface="Arial"/>
                <a:cs typeface="Arial"/>
              </a:defRPr>
            </a:pPr>
            <a:r>
              <a:rPr sz="1350" b="1" lang="he-IL">
                <a:solidFill>
                  <a:srgbClr val="2E6A4F"/>
                </a:solidFill>
                <a:latin typeface="Arial"/>
                <a:ea typeface="Arial"/>
                <a:cs typeface="Arial"/>
              </a:rPr>
              <a:t>100% מזומן · 63 ימי מסחר ללא חשיפה למניות</a:t>
            </a:r>
          </a:p>
        </p:txBody>
      </p:sp>
      <p:sp>
        <p:nvSpPr>
          <p:cNvPr id="23" name="covid-bottom-line">
            <a:extLst xmlns:a="http://schemas.openxmlformats.org/drawingml/2006/main">
              <a:ext uri="{FF2B5EF4-FFF2-40B4-BE49-F238E27FC236}">
                <a16:creationId xmlns:a16="http://schemas.microsoft.com/office/drawing/2014/main" id="{B6B01FB7-B564-40EF-806F-181529BBF8DD}"/>
              </a:ext>
            </a:extLst>
          </p:cNvPr>
          <p:cNvSpPr>
            <a:spLocks xmlns:a="http://schemas.openxmlformats.org/drawingml/2006/main" noGrp="1"/>
          </p:cNvSpPr>
          <p:nvPr/>
        </p:nvSpPr>
        <p:spPr>
          <a:xfrm xmlns:a="http://schemas.openxmlformats.org/drawingml/2006/main">
            <a:off x="1524000" y="9886950"/>
            <a:ext cx="7753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00" b="1" lang="he-IL">
                <a:solidFill>
                  <a:srgbClr val="171816"/>
                </a:solidFill>
                <a:latin typeface="Arial"/>
                <a:ea typeface="Arial"/>
                <a:cs typeface="Arial"/>
              </a:defRPr>
            </a:pPr>
            <a:r>
              <a:rPr sz="2100" b="1" lang="he-IL">
                <a:solidFill>
                  <a:srgbClr val="171816"/>
                </a:solidFill>
                <a:latin typeface="Arial"/>
                <a:ea typeface="Arial"/>
                <a:cs typeface="Arial"/>
              </a:rPr>
              <a:t>באותם תאריכים: המערכת ירדה 13.9%  ·  מדד השוק ירד 33.8%</a:t>
            </a:r>
          </a:p>
        </p:txBody>
      </p:sp>
      <p:sp>
        <p:nvSpPr>
          <p:cNvPr id="24" name="covid-footnote">
            <a:extLst xmlns:a="http://schemas.openxmlformats.org/drawingml/2006/main">
              <a:ext uri="{FF2B5EF4-FFF2-40B4-BE49-F238E27FC236}">
                <a16:creationId xmlns:a16="http://schemas.microsoft.com/office/drawing/2014/main" id="{87B03AFA-D950-459F-AE78-678255856681}"/>
              </a:ext>
            </a:extLst>
          </p:cNvPr>
          <p:cNvSpPr>
            <a:spLocks xmlns:a="http://schemas.openxmlformats.org/drawingml/2006/main" noGrp="1"/>
          </p:cNvSpPr>
          <p:nvPr/>
        </p:nvSpPr>
        <p:spPr>
          <a:xfrm xmlns:a="http://schemas.openxmlformats.org/drawingml/2006/main">
            <a:off x="1123950" y="10572750"/>
            <a:ext cx="8153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defRPr sz="1200" b="0" lang="he-IL">
                <a:solidFill>
                  <a:srgbClr val="6E706B"/>
                </a:solidFill>
                <a:latin typeface="Arial"/>
                <a:ea typeface="Arial"/>
                <a:cs typeface="Arial"/>
              </a:defRPr>
            </a:pPr>
            <a:r>
              <a:rPr sz="1200" b="0" lang="he-IL">
                <a:solidFill>
                  <a:srgbClr val="6E706B"/>
                </a:solidFill>
                <a:latin typeface="Arial"/>
                <a:ea typeface="Arial"/>
                <a:cs typeface="Arial"/>
              </a:rPr>
              <a:t>סימולציה היסטורית, לא ביצועים חיים. מה־19 בפברואר עד 23 במרץ 2020, נקודת התחלה משותפת. מדד אס־אנד־פי 500 כולל דיבידנדים. החלטת סוף חודש וביצוע בפתיחת יום המסחר הבא. הירידה המרבית של המערכת בחלון הייתה 16.5%.</a:t>
            </a:r>
          </a:p>
        </p:txBody>
      </p:sp>
      <p:sp>
        <p:nvSpPr>
          <p:cNvPr id="25" name="">
            <a:extLst xmlns:a="http://schemas.openxmlformats.org/drawingml/2006/main">
              <a:ext uri="{FF2B5EF4-FFF2-40B4-BE49-F238E27FC236}">
                <a16:creationId xmlns:a16="http://schemas.microsoft.com/office/drawing/2014/main" id="{1E15158B-3383-4225-9452-9B34EB79CA03}"/>
              </a:ext>
            </a:extLst>
          </p:cNvPr>
          <p:cNvSpPr>
            <a:spLocks xmlns:a="http://schemas.openxmlformats.org/drawingml/2006/main" noGrp="1"/>
          </p:cNvSpPr>
          <p:nvPr/>
        </p:nvSpPr>
        <p:spPr>
          <a:xfrm xmlns:a="http://schemas.openxmlformats.org/drawingml/2006/main">
            <a:off x="819150" y="12230100"/>
            <a:ext cx="8648700" cy="0"/>
          </a:xfrm>
          <a:prstGeom xmlns:a="http://schemas.openxmlformats.org/drawingml/2006/main" prst="line">
            <a:avLst/>
          </a:prstGeom>
          <a:noFill xmlns:a="http://schemas.openxmlformats.org/drawingml/2006/main"/>
          <a:ln xmlns:a="http://schemas.openxmlformats.org/drawingml/2006/main" w="9525">
            <a:solidFill>
              <a:srgbClr val="D7D1C5"/>
            </a:solidFill>
            <a:prstDash val="solid"/>
          </a:ln>
        </p:spPr>
      </p:sp>
      <p:sp>
        <p:nvSpPr>
          <p:cNvPr id="26" name="footer-4">
            <a:extLst xmlns:a="http://schemas.openxmlformats.org/drawingml/2006/main">
              <a:ext uri="{FF2B5EF4-FFF2-40B4-BE49-F238E27FC236}">
                <a16:creationId xmlns:a16="http://schemas.microsoft.com/office/drawing/2014/main" id="{DABDA5F6-FC9A-48F7-BE61-425404D20949}"/>
              </a:ext>
            </a:extLst>
          </p:cNvPr>
          <p:cNvSpPr>
            <a:spLocks xmlns:a="http://schemas.openxmlformats.org/drawingml/2006/main" noGrp="1"/>
          </p:cNvSpPr>
          <p:nvPr/>
        </p:nvSpPr>
        <p:spPr>
          <a:xfrm xmlns:a="http://schemas.openxmlformats.org/drawingml/2006/main">
            <a:off x="819150" y="12382500"/>
            <a:ext cx="8648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125" b="0" lang="he-IL">
                <a:solidFill>
                  <a:srgbClr val="6E706B"/>
                </a:solidFill>
                <a:latin typeface="Arial"/>
                <a:ea typeface="Arial"/>
                <a:cs typeface="Arial"/>
              </a:defRPr>
            </a:pPr>
            <a:r>
              <a:rPr sz="1125" b="0" lang="he-IL">
                <a:solidFill>
                  <a:srgbClr val="6E706B"/>
                </a:solidFill>
                <a:latin typeface="Arial"/>
                <a:ea typeface="Arial"/>
                <a:cs typeface="Arial"/>
              </a:rPr>
              <a:t>מסמך היכרות פרטי  ·  04</a:t>
            </a:r>
          </a:p>
        </p:txBody>
      </p:sp>
    </p:spTree>
    <p:extLst>
      <p:ext uri="{BB962C8B-B14F-4D97-AF65-F5344CB8AC3E}">
        <p14:creationId xmlns:p14="http://schemas.microsoft.com/office/powerpoint/2010/main" val="124703580"/>
      </p:ext>
    </p:extLst>
  </p:cSld>
</p:sld>
</file>

<file path=ppt/slides/slide5.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18" name="eyebrow">
            <a:extLst xmlns:a="http://schemas.openxmlformats.org/drawingml/2006/main">
              <a:ext uri="{FF2B5EF4-FFF2-40B4-BE49-F238E27FC236}">
                <a16:creationId xmlns:a16="http://schemas.microsoft.com/office/drawing/2014/main" id="{2F95C417-9CF5-4866-A483-4F4A55DDC31B}"/>
              </a:ext>
            </a:extLst>
          </p:cNvPr>
          <p:cNvSpPr>
            <a:spLocks xmlns:a="http://schemas.openxmlformats.org/drawingml/2006/main" noGrp="1"/>
          </p:cNvSpPr>
          <p:nvPr/>
        </p:nvSpPr>
        <p:spPr>
          <a:xfrm xmlns:a="http://schemas.openxmlformats.org/drawingml/2006/main">
            <a:off x="819150" y="552450"/>
            <a:ext cx="864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1" lang="he-IL">
                <a:solidFill>
                  <a:srgbClr val="2458C6"/>
                </a:solidFill>
                <a:latin typeface="Arial"/>
                <a:ea typeface="Arial"/>
                <a:cs typeface="Arial"/>
              </a:defRPr>
            </a:pPr>
            <a:r>
              <a:rPr sz="1350" b="1" lang="he-IL">
                <a:solidFill>
                  <a:srgbClr val="2458C6"/>
                </a:solidFill>
                <a:latin typeface="Arial"/>
                <a:ea typeface="Arial"/>
                <a:cs typeface="Arial"/>
              </a:rPr>
              <a:t>אבני הבניין</a:t>
            </a:r>
          </a:p>
        </p:txBody>
      </p:sp>
      <p:sp>
        <p:nvSpPr>
          <p:cNvPr id="2" name="slide-title">
            <a:extLst xmlns:a="http://schemas.openxmlformats.org/drawingml/2006/main">
              <a:ext uri="{FF2B5EF4-FFF2-40B4-BE49-F238E27FC236}">
                <a16:creationId xmlns:a16="http://schemas.microsoft.com/office/drawing/2014/main" id="{5552FA8E-B545-457F-BCC0-3E336F651404}"/>
              </a:ext>
            </a:extLst>
          </p:cNvPr>
          <p:cNvSpPr>
            <a:spLocks xmlns:a="http://schemas.openxmlformats.org/drawingml/2006/main" noGrp="1"/>
          </p:cNvSpPr>
          <p:nvPr/>
        </p:nvSpPr>
        <p:spPr>
          <a:xfrm xmlns:a="http://schemas.openxmlformats.org/drawingml/2006/main">
            <a:off x="819150" y="1009650"/>
            <a:ext cx="8648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3600" b="1" lang="he-IL">
                <a:solidFill>
                  <a:srgbClr val="171816"/>
                </a:solidFill>
                <a:latin typeface="Arial"/>
                <a:ea typeface="Arial"/>
                <a:cs typeface="Arial"/>
              </a:defRPr>
            </a:pPr>
            <a:r>
              <a:rPr sz="3600" b="1" lang="he-IL">
                <a:solidFill>
                  <a:srgbClr val="171816"/>
                </a:solidFill>
                <a:latin typeface="Arial"/>
                <a:ea typeface="Arial"/>
                <a:cs typeface="Arial"/>
              </a:rPr>
              <a:t>שלושה מנועים. שלושה תפקידים.</a:t>
            </a:r>
          </a:p>
        </p:txBody>
      </p:sp>
      <p:sp>
        <p:nvSpPr>
          <p:cNvPr id="3" name="strategy-number-01">
            <a:extLst xmlns:a="http://schemas.openxmlformats.org/drawingml/2006/main">
              <a:ext uri="{FF2B5EF4-FFF2-40B4-BE49-F238E27FC236}">
                <a16:creationId xmlns:a16="http://schemas.microsoft.com/office/drawing/2014/main" id="{89D94F71-44C7-4CCB-86C0-CDF35EB75D2B}"/>
              </a:ext>
            </a:extLst>
          </p:cNvPr>
          <p:cNvSpPr>
            <a:spLocks xmlns:a="http://schemas.openxmlformats.org/drawingml/2006/main" noGrp="1"/>
          </p:cNvSpPr>
          <p:nvPr/>
        </p:nvSpPr>
        <p:spPr>
          <a:xfrm xmlns:a="http://schemas.openxmlformats.org/drawingml/2006/main">
            <a:off x="8020050" y="2686050"/>
            <a:ext cx="1428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4650" b="1">
                <a:solidFill>
                  <a:srgbClr val="2458C6"/>
                </a:solidFill>
                <a:latin typeface="Arial"/>
                <a:ea typeface="Arial"/>
                <a:cs typeface="Arial"/>
              </a:defRPr>
            </a:pPr>
            <a:r>
              <a:rPr sz="4650" b="1">
                <a:solidFill>
                  <a:srgbClr val="2458C6"/>
                </a:solidFill>
                <a:latin typeface="Arial"/>
                <a:ea typeface="Arial"/>
                <a:cs typeface="Arial"/>
              </a:rPr>
              <a:t>01</a:t>
            </a:r>
          </a:p>
        </p:txBody>
      </p:sp>
      <p:sp>
        <p:nvSpPr>
          <p:cNvPr id="4" name="strategy-title-01">
            <a:extLst xmlns:a="http://schemas.openxmlformats.org/drawingml/2006/main">
              <a:ext uri="{FF2B5EF4-FFF2-40B4-BE49-F238E27FC236}">
                <a16:creationId xmlns:a16="http://schemas.microsoft.com/office/drawing/2014/main" id="{8C8E3E43-270A-4091-8CBF-92ADEFBDEE38}"/>
              </a:ext>
            </a:extLst>
          </p:cNvPr>
          <p:cNvSpPr>
            <a:spLocks xmlns:a="http://schemas.openxmlformats.org/drawingml/2006/main" noGrp="1"/>
          </p:cNvSpPr>
          <p:nvPr/>
        </p:nvSpPr>
        <p:spPr>
          <a:xfrm xmlns:a="http://schemas.openxmlformats.org/drawingml/2006/main">
            <a:off x="2857500" y="27622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550" b="1" lang="he-IL">
                <a:solidFill>
                  <a:srgbClr val="171816"/>
                </a:solidFill>
                <a:latin typeface="Arial"/>
                <a:ea typeface="Arial"/>
                <a:cs typeface="Arial"/>
              </a:defRPr>
            </a:pPr>
            <a:r>
              <a:rPr sz="2550" b="1" lang="he-IL">
                <a:solidFill>
                  <a:srgbClr val="171816"/>
                </a:solidFill>
                <a:latin typeface="Arial"/>
                <a:ea typeface="Arial"/>
                <a:cs typeface="Arial"/>
              </a:rPr>
              <a:t>רוטציה חודשית</a:t>
            </a:r>
          </a:p>
        </p:txBody>
      </p:sp>
      <p:sp>
        <p:nvSpPr>
          <p:cNvPr id="5" name="strategy-detail-01">
            <a:extLst xmlns:a="http://schemas.openxmlformats.org/drawingml/2006/main">
              <a:ext uri="{FF2B5EF4-FFF2-40B4-BE49-F238E27FC236}">
                <a16:creationId xmlns:a16="http://schemas.microsoft.com/office/drawing/2014/main" id="{FF2833F3-8CC4-4B42-B0C6-70CD187FA12C}"/>
              </a:ext>
            </a:extLst>
          </p:cNvPr>
          <p:cNvSpPr>
            <a:spLocks xmlns:a="http://schemas.openxmlformats.org/drawingml/2006/main" noGrp="1"/>
          </p:cNvSpPr>
          <p:nvPr/>
        </p:nvSpPr>
        <p:spPr>
          <a:xfrm xmlns:a="http://schemas.openxmlformats.org/drawingml/2006/main">
            <a:off x="1619250" y="3333750"/>
            <a:ext cx="6000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00" b="0" lang="he-IL">
                <a:solidFill>
                  <a:srgbClr val="6E706B"/>
                </a:solidFill>
                <a:latin typeface="Arial"/>
                <a:ea typeface="Arial"/>
                <a:cs typeface="Arial"/>
              </a:defRPr>
            </a:pPr>
            <a:r>
              <a:rPr sz="1800" b="0" lang="he-IL">
                <a:solidFill>
                  <a:srgbClr val="6E706B"/>
                </a:solidFill>
                <a:latin typeface="Arial"/>
                <a:ea typeface="Arial"/>
                <a:cs typeface="Arial"/>
              </a:rPr>
              <a:t>אחת לחודש: בחירה בין נכסי צמיחה, נכסי הגנה ומזומן.</a:t>
            </a:r>
          </a:p>
        </p:txBody>
      </p:sp>
      <p:sp>
        <p:nvSpPr>
          <p:cNvPr id="6" name="">
            <a:extLst xmlns:a="http://schemas.openxmlformats.org/drawingml/2006/main">
              <a:ext uri="{FF2B5EF4-FFF2-40B4-BE49-F238E27FC236}">
                <a16:creationId xmlns:a16="http://schemas.microsoft.com/office/drawing/2014/main" id="{38232529-13C9-4184-BECD-4B226590C091}"/>
              </a:ext>
            </a:extLst>
          </p:cNvPr>
          <p:cNvSpPr>
            <a:spLocks xmlns:a="http://schemas.openxmlformats.org/drawingml/2006/main" noGrp="1"/>
          </p:cNvSpPr>
          <p:nvPr/>
        </p:nvSpPr>
        <p:spPr>
          <a:xfrm xmlns:a="http://schemas.openxmlformats.org/drawingml/2006/main">
            <a:off x="1619250" y="4572000"/>
            <a:ext cx="7848600" cy="0"/>
          </a:xfrm>
          <a:prstGeom xmlns:a="http://schemas.openxmlformats.org/drawingml/2006/main" prst="line">
            <a:avLst/>
          </a:prstGeom>
          <a:noFill xmlns:a="http://schemas.openxmlformats.org/drawingml/2006/main"/>
          <a:ln xmlns:a="http://schemas.openxmlformats.org/drawingml/2006/main" w="9525">
            <a:solidFill>
              <a:srgbClr val="D7D1C5"/>
            </a:solidFill>
            <a:prstDash val="solid"/>
          </a:ln>
        </p:spPr>
      </p:sp>
      <p:sp>
        <p:nvSpPr>
          <p:cNvPr id="7" name="strategy-number-02">
            <a:extLst xmlns:a="http://schemas.openxmlformats.org/drawingml/2006/main">
              <a:ext uri="{FF2B5EF4-FFF2-40B4-BE49-F238E27FC236}">
                <a16:creationId xmlns:a16="http://schemas.microsoft.com/office/drawing/2014/main" id="{12CE37EF-8640-44CD-9049-837F588B88C8}"/>
              </a:ext>
            </a:extLst>
          </p:cNvPr>
          <p:cNvSpPr>
            <a:spLocks xmlns:a="http://schemas.openxmlformats.org/drawingml/2006/main" noGrp="1"/>
          </p:cNvSpPr>
          <p:nvPr/>
        </p:nvSpPr>
        <p:spPr>
          <a:xfrm xmlns:a="http://schemas.openxmlformats.org/drawingml/2006/main">
            <a:off x="8020050" y="5019675"/>
            <a:ext cx="1428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4650" b="1">
                <a:solidFill>
                  <a:srgbClr val="2E6A4F"/>
                </a:solidFill>
                <a:latin typeface="Arial"/>
                <a:ea typeface="Arial"/>
                <a:cs typeface="Arial"/>
              </a:defRPr>
            </a:pPr>
            <a:r>
              <a:rPr sz="4650" b="1">
                <a:solidFill>
                  <a:srgbClr val="2E6A4F"/>
                </a:solidFill>
                <a:latin typeface="Arial"/>
                <a:ea typeface="Arial"/>
                <a:cs typeface="Arial"/>
              </a:rPr>
              <a:t>02</a:t>
            </a:r>
          </a:p>
        </p:txBody>
      </p:sp>
      <p:sp>
        <p:nvSpPr>
          <p:cNvPr id="8" name="strategy-title-02">
            <a:extLst xmlns:a="http://schemas.openxmlformats.org/drawingml/2006/main">
              <a:ext uri="{FF2B5EF4-FFF2-40B4-BE49-F238E27FC236}">
                <a16:creationId xmlns:a16="http://schemas.microsoft.com/office/drawing/2014/main" id="{DF3B912F-9AF5-438F-AA21-E8F2D6246A47}"/>
              </a:ext>
            </a:extLst>
          </p:cNvPr>
          <p:cNvSpPr>
            <a:spLocks xmlns:a="http://schemas.openxmlformats.org/drawingml/2006/main" noGrp="1"/>
          </p:cNvSpPr>
          <p:nvPr/>
        </p:nvSpPr>
        <p:spPr>
          <a:xfrm xmlns:a="http://schemas.openxmlformats.org/drawingml/2006/main">
            <a:off x="2857500" y="50958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550" b="1" lang="he-IL">
                <a:solidFill>
                  <a:srgbClr val="171816"/>
                </a:solidFill>
                <a:latin typeface="Arial"/>
                <a:ea typeface="Arial"/>
                <a:cs typeface="Arial"/>
              </a:defRPr>
            </a:pPr>
            <a:r>
              <a:rPr sz="2550" b="1" lang="he-IL">
                <a:solidFill>
                  <a:srgbClr val="171816"/>
                </a:solidFill>
                <a:latin typeface="Arial"/>
                <a:ea typeface="Arial"/>
                <a:cs typeface="Arial"/>
              </a:rPr>
              <a:t>מומנטום</a:t>
            </a:r>
          </a:p>
        </p:txBody>
      </p:sp>
      <p:sp>
        <p:nvSpPr>
          <p:cNvPr id="9" name="strategy-detail-02">
            <a:extLst xmlns:a="http://schemas.openxmlformats.org/drawingml/2006/main">
              <a:ext uri="{FF2B5EF4-FFF2-40B4-BE49-F238E27FC236}">
                <a16:creationId xmlns:a16="http://schemas.microsoft.com/office/drawing/2014/main" id="{24A90475-5A3D-4AAE-8A30-6FF7619D60D7}"/>
              </a:ext>
            </a:extLst>
          </p:cNvPr>
          <p:cNvSpPr>
            <a:spLocks xmlns:a="http://schemas.openxmlformats.org/drawingml/2006/main" noGrp="1"/>
          </p:cNvSpPr>
          <p:nvPr/>
        </p:nvSpPr>
        <p:spPr>
          <a:xfrm xmlns:a="http://schemas.openxmlformats.org/drawingml/2006/main">
            <a:off x="1619250" y="5667375"/>
            <a:ext cx="6000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00" b="0" lang="he-IL">
                <a:solidFill>
                  <a:srgbClr val="6E706B"/>
                </a:solidFill>
                <a:latin typeface="Arial"/>
                <a:ea typeface="Arial"/>
                <a:cs typeface="Arial"/>
              </a:defRPr>
            </a:pPr>
            <a:r>
              <a:rPr sz="1800" b="0" lang="he-IL">
                <a:solidFill>
                  <a:srgbClr val="6E706B"/>
                </a:solidFill>
                <a:latin typeface="Arial"/>
                <a:ea typeface="Arial"/>
                <a:cs typeface="Arial"/>
              </a:rPr>
              <a:t>השתתפות במגמות קיימות, כל עוד הן עוברות את מסנני הסיכון.</a:t>
            </a:r>
          </a:p>
        </p:txBody>
      </p:sp>
      <p:sp>
        <p:nvSpPr>
          <p:cNvPr id="10" name="">
            <a:extLst xmlns:a="http://schemas.openxmlformats.org/drawingml/2006/main">
              <a:ext uri="{FF2B5EF4-FFF2-40B4-BE49-F238E27FC236}">
                <a16:creationId xmlns:a16="http://schemas.microsoft.com/office/drawing/2014/main" id="{C559CC5C-2AA3-4971-83B5-7F3ECA378B8E}"/>
              </a:ext>
            </a:extLst>
          </p:cNvPr>
          <p:cNvSpPr>
            <a:spLocks xmlns:a="http://schemas.openxmlformats.org/drawingml/2006/main" noGrp="1"/>
          </p:cNvSpPr>
          <p:nvPr/>
        </p:nvSpPr>
        <p:spPr>
          <a:xfrm xmlns:a="http://schemas.openxmlformats.org/drawingml/2006/main">
            <a:off x="1619250" y="6905625"/>
            <a:ext cx="7848600" cy="0"/>
          </a:xfrm>
          <a:prstGeom xmlns:a="http://schemas.openxmlformats.org/drawingml/2006/main" prst="line">
            <a:avLst/>
          </a:prstGeom>
          <a:noFill xmlns:a="http://schemas.openxmlformats.org/drawingml/2006/main"/>
          <a:ln xmlns:a="http://schemas.openxmlformats.org/drawingml/2006/main" w="9525">
            <a:solidFill>
              <a:srgbClr val="D7D1C5"/>
            </a:solidFill>
            <a:prstDash val="solid"/>
          </a:ln>
        </p:spPr>
      </p:sp>
      <p:sp>
        <p:nvSpPr>
          <p:cNvPr id="11" name="strategy-number-03">
            <a:extLst xmlns:a="http://schemas.openxmlformats.org/drawingml/2006/main">
              <a:ext uri="{FF2B5EF4-FFF2-40B4-BE49-F238E27FC236}">
                <a16:creationId xmlns:a16="http://schemas.microsoft.com/office/drawing/2014/main" id="{B77ACB67-F994-4EB1-9030-6577FBF9C025}"/>
              </a:ext>
            </a:extLst>
          </p:cNvPr>
          <p:cNvSpPr>
            <a:spLocks xmlns:a="http://schemas.openxmlformats.org/drawingml/2006/main" noGrp="1"/>
          </p:cNvSpPr>
          <p:nvPr/>
        </p:nvSpPr>
        <p:spPr>
          <a:xfrm xmlns:a="http://schemas.openxmlformats.org/drawingml/2006/main">
            <a:off x="8020050" y="7353300"/>
            <a:ext cx="1428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4650" b="1">
                <a:solidFill>
                  <a:srgbClr val="A05234"/>
                </a:solidFill>
                <a:latin typeface="Arial"/>
                <a:ea typeface="Arial"/>
                <a:cs typeface="Arial"/>
              </a:defRPr>
            </a:pPr>
            <a:r>
              <a:rPr sz="4650" b="1">
                <a:solidFill>
                  <a:srgbClr val="A05234"/>
                </a:solidFill>
                <a:latin typeface="Arial"/>
                <a:ea typeface="Arial"/>
                <a:cs typeface="Arial"/>
              </a:rPr>
              <a:t>03</a:t>
            </a:r>
          </a:p>
        </p:txBody>
      </p:sp>
      <p:sp>
        <p:nvSpPr>
          <p:cNvPr id="12" name="strategy-title-03">
            <a:extLst xmlns:a="http://schemas.openxmlformats.org/drawingml/2006/main">
              <a:ext uri="{FF2B5EF4-FFF2-40B4-BE49-F238E27FC236}">
                <a16:creationId xmlns:a16="http://schemas.microsoft.com/office/drawing/2014/main" id="{EC3C8ACF-CB74-420E-8460-8C8031CB28D7}"/>
              </a:ext>
            </a:extLst>
          </p:cNvPr>
          <p:cNvSpPr>
            <a:spLocks xmlns:a="http://schemas.openxmlformats.org/drawingml/2006/main" noGrp="1"/>
          </p:cNvSpPr>
          <p:nvPr/>
        </p:nvSpPr>
        <p:spPr>
          <a:xfrm xmlns:a="http://schemas.openxmlformats.org/drawingml/2006/main">
            <a:off x="2857500" y="74295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550" b="1" lang="he-IL">
                <a:solidFill>
                  <a:srgbClr val="171816"/>
                </a:solidFill>
                <a:latin typeface="Arial"/>
                <a:ea typeface="Arial"/>
                <a:cs typeface="Arial"/>
              </a:defRPr>
            </a:pPr>
            <a:r>
              <a:rPr sz="2550" b="1" lang="he-IL">
                <a:solidFill>
                  <a:srgbClr val="171816"/>
                </a:solidFill>
                <a:latin typeface="Arial"/>
                <a:ea typeface="Arial"/>
                <a:cs typeface="Arial"/>
              </a:rPr>
              <a:t>קנייה בירידות</a:t>
            </a:r>
          </a:p>
        </p:txBody>
      </p:sp>
      <p:sp>
        <p:nvSpPr>
          <p:cNvPr id="13" name="strategy-detail-03">
            <a:extLst xmlns:a="http://schemas.openxmlformats.org/drawingml/2006/main">
              <a:ext uri="{FF2B5EF4-FFF2-40B4-BE49-F238E27FC236}">
                <a16:creationId xmlns:a16="http://schemas.microsoft.com/office/drawing/2014/main" id="{435A3433-57AC-44C2-A25D-E8527CD586BC}"/>
              </a:ext>
            </a:extLst>
          </p:cNvPr>
          <p:cNvSpPr>
            <a:spLocks xmlns:a="http://schemas.openxmlformats.org/drawingml/2006/main" noGrp="1"/>
          </p:cNvSpPr>
          <p:nvPr/>
        </p:nvSpPr>
        <p:spPr>
          <a:xfrm xmlns:a="http://schemas.openxmlformats.org/drawingml/2006/main">
            <a:off x="1619250" y="8001000"/>
            <a:ext cx="6000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00" b="0" lang="he-IL">
                <a:solidFill>
                  <a:srgbClr val="6E706B"/>
                </a:solidFill>
                <a:latin typeface="Arial"/>
                <a:ea typeface="Arial"/>
                <a:cs typeface="Arial"/>
              </a:defRPr>
            </a:pPr>
            <a:r>
              <a:rPr sz="1800" b="0" lang="he-IL">
                <a:solidFill>
                  <a:srgbClr val="6E706B"/>
                </a:solidFill>
                <a:latin typeface="Arial"/>
                <a:ea typeface="Arial"/>
                <a:cs typeface="Arial"/>
              </a:rPr>
              <a:t>כניסה לאחר ירידה חדה - ורק כאשר תנאים נוספים מתקיימים.</a:t>
            </a:r>
          </a:p>
        </p:txBody>
      </p:sp>
      <p:sp>
        <p:nvSpPr>
          <p:cNvPr id="14" name="systems-summary-bg">
            <a:extLst xmlns:a="http://schemas.openxmlformats.org/drawingml/2006/main">
              <a:ext uri="{FF2B5EF4-FFF2-40B4-BE49-F238E27FC236}">
                <a16:creationId xmlns:a16="http://schemas.microsoft.com/office/drawing/2014/main" id="{202B55C1-1564-435C-867E-67A1612656E8}"/>
              </a:ext>
            </a:extLst>
          </p:cNvPr>
          <p:cNvSpPr>
            <a:spLocks xmlns:a="http://schemas.openxmlformats.org/drawingml/2006/main" noGrp="1"/>
          </p:cNvSpPr>
          <p:nvPr/>
        </p:nvSpPr>
        <p:spPr>
          <a:xfrm xmlns:a="http://schemas.openxmlformats.org/drawingml/2006/main">
            <a:off x="819150" y="9858375"/>
            <a:ext cx="8648700" cy="1428750"/>
          </a:xfrm>
          <a:prstGeom xmlns:a="http://schemas.openxmlformats.org/drawingml/2006/main" prst="rect">
            <a:avLst/>
          </a:prstGeom>
          <a:solidFill xmlns:a="http://schemas.openxmlformats.org/drawingml/2006/main">
            <a:srgbClr val="FBF9F5"/>
          </a:solidFill>
          <a:ln xmlns:a="http://schemas.openxmlformats.org/drawingml/2006/main" w="9525">
            <a:solidFill>
              <a:srgbClr val="D7D1C5"/>
            </a:solidFill>
            <a:prstDash val="solid"/>
          </a:ln>
        </p:spPr>
      </p:sp>
      <p:sp>
        <p:nvSpPr>
          <p:cNvPr id="15" name="systems-summary">
            <a:extLst xmlns:a="http://schemas.openxmlformats.org/drawingml/2006/main">
              <a:ext uri="{FF2B5EF4-FFF2-40B4-BE49-F238E27FC236}">
                <a16:creationId xmlns:a16="http://schemas.microsoft.com/office/drawing/2014/main" id="{1C8769FA-02CE-4444-A984-F73393A883A1}"/>
              </a:ext>
            </a:extLst>
          </p:cNvPr>
          <p:cNvSpPr>
            <a:spLocks xmlns:a="http://schemas.openxmlformats.org/drawingml/2006/main" noGrp="1"/>
          </p:cNvSpPr>
          <p:nvPr/>
        </p:nvSpPr>
        <p:spPr>
          <a:xfrm xmlns:a="http://schemas.openxmlformats.org/drawingml/2006/main">
            <a:off x="1428750" y="10172700"/>
            <a:ext cx="7429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75" b="1" lang="he-IL">
                <a:solidFill>
                  <a:srgbClr val="171816"/>
                </a:solidFill>
                <a:latin typeface="Arial"/>
                <a:ea typeface="Arial"/>
                <a:cs typeface="Arial"/>
              </a:defRPr>
            </a:pPr>
            <a:r>
              <a:rPr sz="1875" b="1" lang="he-IL">
                <a:solidFill>
                  <a:srgbClr val="171816"/>
                </a:solidFill>
                <a:latin typeface="Arial"/>
                <a:ea typeface="Arial"/>
                <a:cs typeface="Arial"/>
              </a:rPr>
              <a:t>אלו שלוש דוגמאות, לא רשימה סופית.</a:t>
            </a:r>
          </a:p>
          <a:p xmlns:a="http://schemas.openxmlformats.org/drawingml/2006/main">
            <a:pPr algn="r" rtl="1">
              <a:defRPr sz="1875" b="1" lang="he-IL">
                <a:solidFill>
                  <a:srgbClr val="171816"/>
                </a:solidFill>
                <a:latin typeface="Arial"/>
                <a:ea typeface="Arial"/>
                <a:cs typeface="Arial"/>
              </a:defRPr>
            </a:pPr>
            <a:r>
              <a:rPr sz="1875" b="1" lang="he-IL">
                <a:solidFill>
                  <a:srgbClr val="171816"/>
                </a:solidFill>
                <a:latin typeface="Arial"/>
                <a:ea typeface="Arial"/>
                <a:cs typeface="Arial"/>
              </a:rPr>
              <a:t>כל מנוע מתאים למצבים אחרים; השילוב מפחית תלות ברעיון יחיד.</a:t>
            </a:r>
          </a:p>
        </p:txBody>
      </p:sp>
      <p:sp>
        <p:nvSpPr>
          <p:cNvPr id="16" name="">
            <a:extLst xmlns:a="http://schemas.openxmlformats.org/drawingml/2006/main">
              <a:ext uri="{FF2B5EF4-FFF2-40B4-BE49-F238E27FC236}">
                <a16:creationId xmlns:a16="http://schemas.microsoft.com/office/drawing/2014/main" id="{728D8E05-F83A-4E99-9BA0-7EEE083E5388}"/>
              </a:ext>
            </a:extLst>
          </p:cNvPr>
          <p:cNvSpPr>
            <a:spLocks xmlns:a="http://schemas.openxmlformats.org/drawingml/2006/main" noGrp="1"/>
          </p:cNvSpPr>
          <p:nvPr/>
        </p:nvSpPr>
        <p:spPr>
          <a:xfrm xmlns:a="http://schemas.openxmlformats.org/drawingml/2006/main">
            <a:off x="819150" y="12230100"/>
            <a:ext cx="8648700" cy="0"/>
          </a:xfrm>
          <a:prstGeom xmlns:a="http://schemas.openxmlformats.org/drawingml/2006/main" prst="line">
            <a:avLst/>
          </a:prstGeom>
          <a:noFill xmlns:a="http://schemas.openxmlformats.org/drawingml/2006/main"/>
          <a:ln xmlns:a="http://schemas.openxmlformats.org/drawingml/2006/main" w="9525">
            <a:solidFill>
              <a:srgbClr val="D7D1C5"/>
            </a:solidFill>
            <a:prstDash val="solid"/>
          </a:ln>
        </p:spPr>
      </p:sp>
      <p:sp>
        <p:nvSpPr>
          <p:cNvPr id="17" name="footer-5">
            <a:extLst xmlns:a="http://schemas.openxmlformats.org/drawingml/2006/main">
              <a:ext uri="{FF2B5EF4-FFF2-40B4-BE49-F238E27FC236}">
                <a16:creationId xmlns:a16="http://schemas.microsoft.com/office/drawing/2014/main" id="{2B4E3D11-D2E1-430A-ABD9-ED24308D6B62}"/>
              </a:ext>
            </a:extLst>
          </p:cNvPr>
          <p:cNvSpPr>
            <a:spLocks xmlns:a="http://schemas.openxmlformats.org/drawingml/2006/main" noGrp="1"/>
          </p:cNvSpPr>
          <p:nvPr/>
        </p:nvSpPr>
        <p:spPr>
          <a:xfrm xmlns:a="http://schemas.openxmlformats.org/drawingml/2006/main">
            <a:off x="819150" y="12382500"/>
            <a:ext cx="8648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125" b="0" lang="he-IL">
                <a:solidFill>
                  <a:srgbClr val="6E706B"/>
                </a:solidFill>
                <a:latin typeface="Arial"/>
                <a:ea typeface="Arial"/>
                <a:cs typeface="Arial"/>
              </a:defRPr>
            </a:pPr>
            <a:r>
              <a:rPr sz="1125" b="0" lang="he-IL">
                <a:solidFill>
                  <a:srgbClr val="6E706B"/>
                </a:solidFill>
                <a:latin typeface="Arial"/>
                <a:ea typeface="Arial"/>
                <a:cs typeface="Arial"/>
              </a:rPr>
              <a:t>מסמך היכרות פרטי  ·  05</a:t>
            </a:r>
          </a:p>
        </p:txBody>
      </p:sp>
    </p:spTree>
    <p:extLst>
      <p:ext uri="{BB962C8B-B14F-4D97-AF65-F5344CB8AC3E}">
        <p14:creationId xmlns:p14="http://schemas.microsoft.com/office/powerpoint/2010/main" val="1779124180"/>
      </p:ext>
    </p:extLst>
  </p:cSld>
</p:sld>
</file>

<file path=ppt/slides/slide6.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30" name="eyebrow">
            <a:extLst xmlns:a="http://schemas.openxmlformats.org/drawingml/2006/main">
              <a:ext uri="{FF2B5EF4-FFF2-40B4-BE49-F238E27FC236}">
                <a16:creationId xmlns:a16="http://schemas.microsoft.com/office/drawing/2014/main" id="{8863A967-42DA-40E2-8FAE-17ED30A9A209}"/>
              </a:ext>
            </a:extLst>
          </p:cNvPr>
          <p:cNvSpPr>
            <a:spLocks xmlns:a="http://schemas.openxmlformats.org/drawingml/2006/main" noGrp="1"/>
          </p:cNvSpPr>
          <p:nvPr/>
        </p:nvSpPr>
        <p:spPr>
          <a:xfrm xmlns:a="http://schemas.openxmlformats.org/drawingml/2006/main">
            <a:off x="819150" y="552450"/>
            <a:ext cx="864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1" lang="he-IL">
                <a:solidFill>
                  <a:srgbClr val="2458C6"/>
                </a:solidFill>
                <a:latin typeface="Arial"/>
                <a:ea typeface="Arial"/>
                <a:cs typeface="Arial"/>
              </a:defRPr>
            </a:pPr>
            <a:r>
              <a:rPr sz="1350" b="1" lang="he-IL">
                <a:solidFill>
                  <a:srgbClr val="2458C6"/>
                </a:solidFill>
                <a:latin typeface="Arial"/>
                <a:ea typeface="Arial"/>
                <a:cs typeface="Arial"/>
              </a:rPr>
              <a:t>תהליך המחקר</a:t>
            </a:r>
          </a:p>
        </p:txBody>
      </p:sp>
      <p:sp>
        <p:nvSpPr>
          <p:cNvPr id="2" name="slide-title">
            <a:extLst xmlns:a="http://schemas.openxmlformats.org/drawingml/2006/main">
              <a:ext uri="{FF2B5EF4-FFF2-40B4-BE49-F238E27FC236}">
                <a16:creationId xmlns:a16="http://schemas.microsoft.com/office/drawing/2014/main" id="{02A442C8-3E6C-4387-92FB-8F8B9CF90AD9}"/>
              </a:ext>
            </a:extLst>
          </p:cNvPr>
          <p:cNvSpPr>
            <a:spLocks xmlns:a="http://schemas.openxmlformats.org/drawingml/2006/main" noGrp="1"/>
          </p:cNvSpPr>
          <p:nvPr/>
        </p:nvSpPr>
        <p:spPr>
          <a:xfrm xmlns:a="http://schemas.openxmlformats.org/drawingml/2006/main">
            <a:off x="819150" y="1000125"/>
            <a:ext cx="8648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3300" b="1" lang="he-IL">
                <a:solidFill>
                  <a:srgbClr val="171816"/>
                </a:solidFill>
                <a:latin typeface="Arial"/>
                <a:ea typeface="Arial"/>
                <a:cs typeface="Arial"/>
              </a:defRPr>
            </a:pPr>
            <a:r>
              <a:rPr sz="3300" b="1" lang="he-IL">
                <a:solidFill>
                  <a:srgbClr val="171816"/>
                </a:solidFill>
                <a:latin typeface="Arial"/>
                <a:ea typeface="Arial"/>
                <a:cs typeface="Arial"/>
              </a:rPr>
              <a:t>יותר רעיונות נפסלים מאשר מתקבלים</a:t>
            </a:r>
          </a:p>
        </p:txBody>
      </p:sp>
      <p:sp>
        <p:nvSpPr>
          <p:cNvPr id="3" name="research-lead">
            <a:extLst xmlns:a="http://schemas.openxmlformats.org/drawingml/2006/main">
              <a:ext uri="{FF2B5EF4-FFF2-40B4-BE49-F238E27FC236}">
                <a16:creationId xmlns:a16="http://schemas.microsoft.com/office/drawing/2014/main" id="{2875392D-5381-4A09-A710-8AF035B45621}"/>
              </a:ext>
            </a:extLst>
          </p:cNvPr>
          <p:cNvSpPr>
            <a:spLocks xmlns:a="http://schemas.openxmlformats.org/drawingml/2006/main" noGrp="1"/>
          </p:cNvSpPr>
          <p:nvPr/>
        </p:nvSpPr>
        <p:spPr>
          <a:xfrm xmlns:a="http://schemas.openxmlformats.org/drawingml/2006/main">
            <a:off x="1619250" y="2076450"/>
            <a:ext cx="7848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325" b="1" lang="he-IL">
                <a:solidFill>
                  <a:srgbClr val="171816"/>
                </a:solidFill>
                <a:latin typeface="Arial"/>
                <a:ea typeface="Arial"/>
                <a:cs typeface="Arial"/>
              </a:defRPr>
            </a:pPr>
            <a:r>
              <a:rPr sz="2325" b="1" lang="he-IL">
                <a:solidFill>
                  <a:srgbClr val="171816"/>
                </a:solidFill>
                <a:latin typeface="Arial"/>
                <a:ea typeface="Arial"/>
                <a:cs typeface="Arial"/>
              </a:rPr>
              <a:t>מחקר טוב אינו מנסה להוכיח שרעיון עובד. הוא מנסה לשבור אותו לפני שמסכנים כסף.</a:t>
            </a:r>
          </a:p>
        </p:txBody>
      </p:sp>
      <p:sp>
        <p:nvSpPr>
          <p:cNvPr id="4" name="">
            <a:extLst xmlns:a="http://schemas.openxmlformats.org/drawingml/2006/main">
              <a:ext uri="{FF2B5EF4-FFF2-40B4-BE49-F238E27FC236}">
                <a16:creationId xmlns:a16="http://schemas.microsoft.com/office/drawing/2014/main" id="{CD4851FE-4D3C-4EC9-982D-395F764D0D76}"/>
              </a:ext>
            </a:extLst>
          </p:cNvPr>
          <p:cNvSpPr>
            <a:spLocks xmlns:a="http://schemas.openxmlformats.org/drawingml/2006/main" noGrp="1"/>
          </p:cNvSpPr>
          <p:nvPr/>
        </p:nvSpPr>
        <p:spPr>
          <a:xfrm xmlns:a="http://schemas.openxmlformats.org/drawingml/2006/main">
            <a:off x="8782050" y="3876675"/>
            <a:ext cx="0" cy="5857875"/>
          </a:xfrm>
          <a:prstGeom xmlns:a="http://schemas.openxmlformats.org/drawingml/2006/main" prst="line">
            <a:avLst/>
          </a:prstGeom>
          <a:noFill xmlns:a="http://schemas.openxmlformats.org/drawingml/2006/main"/>
          <a:ln xmlns:a="http://schemas.openxmlformats.org/drawingml/2006/main" w="19050">
            <a:solidFill>
              <a:srgbClr val="D7D1C5"/>
            </a:solidFill>
            <a:prstDash val="solid"/>
          </a:ln>
        </p:spPr>
      </p:sp>
      <p:sp>
        <p:nvSpPr>
          <p:cNvPr id="5" name="research-dot-0">
            <a:extLst xmlns:a="http://schemas.openxmlformats.org/drawingml/2006/main">
              <a:ext uri="{FF2B5EF4-FFF2-40B4-BE49-F238E27FC236}">
                <a16:creationId xmlns:a16="http://schemas.microsoft.com/office/drawing/2014/main" id="{B2CAFC6C-F8E8-4053-BFFF-67232A71E239}"/>
              </a:ext>
            </a:extLst>
          </p:cNvPr>
          <p:cNvSpPr>
            <a:spLocks xmlns:a="http://schemas.openxmlformats.org/drawingml/2006/main" noGrp="1"/>
          </p:cNvSpPr>
          <p:nvPr/>
        </p:nvSpPr>
        <p:spPr>
          <a:xfrm xmlns:a="http://schemas.openxmlformats.org/drawingml/2006/main">
            <a:off x="8677275" y="3857625"/>
            <a:ext cx="209550" cy="209550"/>
          </a:xfrm>
          <a:prstGeom xmlns:a="http://schemas.openxmlformats.org/drawingml/2006/main" prst="roundRect">
            <a:avLst>
              <a:gd name="adj" fmla="val 50000"/>
            </a:avLst>
          </a:prstGeom>
          <a:solidFill xmlns:a="http://schemas.openxmlformats.org/drawingml/2006/main">
            <a:srgbClr val="2458C6"/>
          </a:solidFill>
          <a:ln xmlns:a="http://schemas.openxmlformats.org/drawingml/2006/main" w="0">
            <a:noFill/>
            <a:prstDash val="solid"/>
          </a:ln>
        </p:spPr>
      </p:sp>
      <p:sp>
        <p:nvSpPr>
          <p:cNvPr id="6" name="research-title-0">
            <a:extLst xmlns:a="http://schemas.openxmlformats.org/drawingml/2006/main">
              <a:ext uri="{FF2B5EF4-FFF2-40B4-BE49-F238E27FC236}">
                <a16:creationId xmlns:a16="http://schemas.microsoft.com/office/drawing/2014/main" id="{2EAF4720-4652-422D-8E98-0AEB67D76F0A}"/>
              </a:ext>
            </a:extLst>
          </p:cNvPr>
          <p:cNvSpPr>
            <a:spLocks xmlns:a="http://schemas.openxmlformats.org/drawingml/2006/main" noGrp="1"/>
          </p:cNvSpPr>
          <p:nvPr/>
        </p:nvSpPr>
        <p:spPr>
          <a:xfrm xmlns:a="http://schemas.openxmlformats.org/drawingml/2006/main">
            <a:off x="3143250" y="36195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00" b="1" lang="he-IL">
                <a:solidFill>
                  <a:srgbClr val="171816"/>
                </a:solidFill>
                <a:latin typeface="Arial"/>
                <a:ea typeface="Arial"/>
                <a:cs typeface="Arial"/>
              </a:defRPr>
            </a:pPr>
            <a:r>
              <a:rPr sz="2100" b="1" lang="he-IL">
                <a:solidFill>
                  <a:srgbClr val="171816"/>
                </a:solidFill>
                <a:latin typeface="Arial"/>
                <a:ea typeface="Arial"/>
                <a:cs typeface="Arial"/>
              </a:rPr>
              <a:t>רעיון</a:t>
            </a:r>
          </a:p>
        </p:txBody>
      </p:sp>
      <p:sp>
        <p:nvSpPr>
          <p:cNvPr id="7" name="research-detail-0">
            <a:extLst xmlns:a="http://schemas.openxmlformats.org/drawingml/2006/main">
              <a:ext uri="{FF2B5EF4-FFF2-40B4-BE49-F238E27FC236}">
                <a16:creationId xmlns:a16="http://schemas.microsoft.com/office/drawing/2014/main" id="{A1738FCF-9F51-4251-AE1A-48FE382814BA}"/>
              </a:ext>
            </a:extLst>
          </p:cNvPr>
          <p:cNvSpPr>
            <a:spLocks xmlns:a="http://schemas.openxmlformats.org/drawingml/2006/main" noGrp="1"/>
          </p:cNvSpPr>
          <p:nvPr/>
        </p:nvSpPr>
        <p:spPr>
          <a:xfrm xmlns:a="http://schemas.openxmlformats.org/drawingml/2006/main">
            <a:off x="2000250" y="4057650"/>
            <a:ext cx="609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575" b="0" lang="he-IL">
                <a:solidFill>
                  <a:srgbClr val="6E706B"/>
                </a:solidFill>
                <a:latin typeface="Arial"/>
                <a:ea typeface="Arial"/>
                <a:cs typeface="Arial"/>
              </a:defRPr>
            </a:pPr>
            <a:r>
              <a:rPr sz="1575" b="0" lang="he-IL">
                <a:solidFill>
                  <a:srgbClr val="6E706B"/>
                </a:solidFill>
                <a:latin typeface="Arial"/>
                <a:ea typeface="Arial"/>
                <a:cs typeface="Arial"/>
              </a:rPr>
              <a:t>טענה שאפשר להגדיר ולבדוק</a:t>
            </a:r>
          </a:p>
        </p:txBody>
      </p:sp>
      <p:sp>
        <p:nvSpPr>
          <p:cNvPr id="8" name="research-reject-0">
            <a:extLst xmlns:a="http://schemas.openxmlformats.org/drawingml/2006/main">
              <a:ext uri="{FF2B5EF4-FFF2-40B4-BE49-F238E27FC236}">
                <a16:creationId xmlns:a16="http://schemas.microsoft.com/office/drawing/2014/main" id="{27F3C668-7FED-4399-8BCA-3792F375DF67}"/>
              </a:ext>
            </a:extLst>
          </p:cNvPr>
          <p:cNvSpPr>
            <a:spLocks xmlns:a="http://schemas.openxmlformats.org/drawingml/2006/main" noGrp="1"/>
          </p:cNvSpPr>
          <p:nvPr/>
        </p:nvSpPr>
        <p:spPr>
          <a:xfrm xmlns:a="http://schemas.openxmlformats.org/drawingml/2006/main">
            <a:off x="990600" y="38481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200" b="0" lang="he-IL">
                <a:solidFill>
                  <a:srgbClr val="A05234"/>
                </a:solidFill>
                <a:latin typeface="Arial"/>
                <a:ea typeface="Arial"/>
                <a:cs typeface="Arial"/>
              </a:defRPr>
            </a:pPr>
            <a:r>
              <a:rPr sz="1200" b="0" lang="he-IL">
                <a:solidFill>
                  <a:srgbClr val="A05234"/>
                </a:solidFill>
                <a:latin typeface="Arial"/>
                <a:ea typeface="Arial"/>
                <a:cs typeface="Arial"/>
              </a:rPr>
              <a:t>נקודת פסילה</a:t>
            </a:r>
          </a:p>
        </p:txBody>
      </p:sp>
      <p:sp>
        <p:nvSpPr>
          <p:cNvPr id="9" name="research-dot-1">
            <a:extLst xmlns:a="http://schemas.openxmlformats.org/drawingml/2006/main">
              <a:ext uri="{FF2B5EF4-FFF2-40B4-BE49-F238E27FC236}">
                <a16:creationId xmlns:a16="http://schemas.microsoft.com/office/drawing/2014/main" id="{42FB15CB-7B4B-447F-BC08-69364D8E6CCB}"/>
              </a:ext>
            </a:extLst>
          </p:cNvPr>
          <p:cNvSpPr>
            <a:spLocks xmlns:a="http://schemas.openxmlformats.org/drawingml/2006/main" noGrp="1"/>
          </p:cNvSpPr>
          <p:nvPr/>
        </p:nvSpPr>
        <p:spPr>
          <a:xfrm xmlns:a="http://schemas.openxmlformats.org/drawingml/2006/main">
            <a:off x="8677275" y="5019675"/>
            <a:ext cx="209550" cy="209550"/>
          </a:xfrm>
          <a:prstGeom xmlns:a="http://schemas.openxmlformats.org/drawingml/2006/main" prst="roundRect">
            <a:avLst>
              <a:gd name="adj" fmla="val 50000"/>
            </a:avLst>
          </a:prstGeom>
          <a:solidFill xmlns:a="http://schemas.openxmlformats.org/drawingml/2006/main">
            <a:srgbClr val="2458C6"/>
          </a:solidFill>
          <a:ln xmlns:a="http://schemas.openxmlformats.org/drawingml/2006/main" w="0">
            <a:noFill/>
            <a:prstDash val="solid"/>
          </a:ln>
        </p:spPr>
      </p:sp>
      <p:sp>
        <p:nvSpPr>
          <p:cNvPr id="10" name="research-title-1">
            <a:extLst xmlns:a="http://schemas.openxmlformats.org/drawingml/2006/main">
              <a:ext uri="{FF2B5EF4-FFF2-40B4-BE49-F238E27FC236}">
                <a16:creationId xmlns:a16="http://schemas.microsoft.com/office/drawing/2014/main" id="{EB6087F6-11DE-4A60-A318-D3DA00D450A3}"/>
              </a:ext>
            </a:extLst>
          </p:cNvPr>
          <p:cNvSpPr>
            <a:spLocks xmlns:a="http://schemas.openxmlformats.org/drawingml/2006/main" noGrp="1"/>
          </p:cNvSpPr>
          <p:nvPr/>
        </p:nvSpPr>
        <p:spPr>
          <a:xfrm xmlns:a="http://schemas.openxmlformats.org/drawingml/2006/main">
            <a:off x="3143250" y="47815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00" b="1" lang="he-IL">
                <a:solidFill>
                  <a:srgbClr val="171816"/>
                </a:solidFill>
                <a:latin typeface="Arial"/>
                <a:ea typeface="Arial"/>
                <a:cs typeface="Arial"/>
              </a:defRPr>
            </a:pPr>
            <a:r>
              <a:rPr sz="2100" b="1" lang="he-IL">
                <a:solidFill>
                  <a:srgbClr val="171816"/>
                </a:solidFill>
                <a:latin typeface="Arial"/>
                <a:ea typeface="Arial"/>
                <a:cs typeface="Arial"/>
              </a:rPr>
              <a:t>חוקים מדויקים</a:t>
            </a:r>
          </a:p>
        </p:txBody>
      </p:sp>
      <p:sp>
        <p:nvSpPr>
          <p:cNvPr id="11" name="research-detail-1">
            <a:extLst xmlns:a="http://schemas.openxmlformats.org/drawingml/2006/main">
              <a:ext uri="{FF2B5EF4-FFF2-40B4-BE49-F238E27FC236}">
                <a16:creationId xmlns:a16="http://schemas.microsoft.com/office/drawing/2014/main" id="{7DD8BE39-EA82-48D7-AF05-BAD6E8B07D89}"/>
              </a:ext>
            </a:extLst>
          </p:cNvPr>
          <p:cNvSpPr>
            <a:spLocks xmlns:a="http://schemas.openxmlformats.org/drawingml/2006/main" noGrp="1"/>
          </p:cNvSpPr>
          <p:nvPr/>
        </p:nvSpPr>
        <p:spPr>
          <a:xfrm xmlns:a="http://schemas.openxmlformats.org/drawingml/2006/main">
            <a:off x="2000250" y="5219700"/>
            <a:ext cx="609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575" b="0" lang="he-IL">
                <a:solidFill>
                  <a:srgbClr val="6E706B"/>
                </a:solidFill>
                <a:latin typeface="Arial"/>
                <a:ea typeface="Arial"/>
                <a:cs typeface="Arial"/>
              </a:defRPr>
            </a:pPr>
            <a:r>
              <a:rPr sz="1575" b="0" lang="he-IL">
                <a:solidFill>
                  <a:srgbClr val="6E706B"/>
                </a:solidFill>
                <a:latin typeface="Arial"/>
                <a:ea typeface="Arial"/>
                <a:cs typeface="Arial"/>
              </a:rPr>
              <a:t>מה קונים, מתי יוצאים וכמה מקצים</a:t>
            </a:r>
          </a:p>
        </p:txBody>
      </p:sp>
      <p:sp>
        <p:nvSpPr>
          <p:cNvPr id="12" name="research-reject-1">
            <a:extLst xmlns:a="http://schemas.openxmlformats.org/drawingml/2006/main">
              <a:ext uri="{FF2B5EF4-FFF2-40B4-BE49-F238E27FC236}">
                <a16:creationId xmlns:a16="http://schemas.microsoft.com/office/drawing/2014/main" id="{21A3736A-33E4-43EC-B396-0568C3C546DE}"/>
              </a:ext>
            </a:extLst>
          </p:cNvPr>
          <p:cNvSpPr>
            <a:spLocks xmlns:a="http://schemas.openxmlformats.org/drawingml/2006/main" noGrp="1"/>
          </p:cNvSpPr>
          <p:nvPr/>
        </p:nvSpPr>
        <p:spPr>
          <a:xfrm xmlns:a="http://schemas.openxmlformats.org/drawingml/2006/main">
            <a:off x="990600" y="501015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200" b="0" lang="he-IL">
                <a:solidFill>
                  <a:srgbClr val="A05234"/>
                </a:solidFill>
                <a:latin typeface="Arial"/>
                <a:ea typeface="Arial"/>
                <a:cs typeface="Arial"/>
              </a:defRPr>
            </a:pPr>
            <a:r>
              <a:rPr sz="1200" b="0" lang="he-IL">
                <a:solidFill>
                  <a:srgbClr val="A05234"/>
                </a:solidFill>
                <a:latin typeface="Arial"/>
                <a:ea typeface="Arial"/>
                <a:cs typeface="Arial"/>
              </a:rPr>
              <a:t>נקודת פסילה</a:t>
            </a:r>
          </a:p>
        </p:txBody>
      </p:sp>
      <p:sp>
        <p:nvSpPr>
          <p:cNvPr id="13" name="research-dot-2">
            <a:extLst xmlns:a="http://schemas.openxmlformats.org/drawingml/2006/main">
              <a:ext uri="{FF2B5EF4-FFF2-40B4-BE49-F238E27FC236}">
                <a16:creationId xmlns:a16="http://schemas.microsoft.com/office/drawing/2014/main" id="{FDF84E25-A434-4C3B-BD89-5041CD8DC67D}"/>
              </a:ext>
            </a:extLst>
          </p:cNvPr>
          <p:cNvSpPr>
            <a:spLocks xmlns:a="http://schemas.openxmlformats.org/drawingml/2006/main" noGrp="1"/>
          </p:cNvSpPr>
          <p:nvPr/>
        </p:nvSpPr>
        <p:spPr>
          <a:xfrm xmlns:a="http://schemas.openxmlformats.org/drawingml/2006/main">
            <a:off x="8677275" y="6181725"/>
            <a:ext cx="209550" cy="209550"/>
          </a:xfrm>
          <a:prstGeom xmlns:a="http://schemas.openxmlformats.org/drawingml/2006/main" prst="roundRect">
            <a:avLst>
              <a:gd name="adj" fmla="val 50000"/>
            </a:avLst>
          </a:prstGeom>
          <a:solidFill xmlns:a="http://schemas.openxmlformats.org/drawingml/2006/main">
            <a:srgbClr val="2458C6"/>
          </a:solidFill>
          <a:ln xmlns:a="http://schemas.openxmlformats.org/drawingml/2006/main" w="0">
            <a:noFill/>
            <a:prstDash val="solid"/>
          </a:ln>
        </p:spPr>
      </p:sp>
      <p:sp>
        <p:nvSpPr>
          <p:cNvPr id="14" name="research-title-2">
            <a:extLst xmlns:a="http://schemas.openxmlformats.org/drawingml/2006/main">
              <a:ext uri="{FF2B5EF4-FFF2-40B4-BE49-F238E27FC236}">
                <a16:creationId xmlns:a16="http://schemas.microsoft.com/office/drawing/2014/main" id="{35BC79D5-089E-49B7-9813-358A08A26D55}"/>
              </a:ext>
            </a:extLst>
          </p:cNvPr>
          <p:cNvSpPr>
            <a:spLocks xmlns:a="http://schemas.openxmlformats.org/drawingml/2006/main" noGrp="1"/>
          </p:cNvSpPr>
          <p:nvPr/>
        </p:nvSpPr>
        <p:spPr>
          <a:xfrm xmlns:a="http://schemas.openxmlformats.org/drawingml/2006/main">
            <a:off x="3143250" y="59436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00" b="1" lang="he-IL">
                <a:solidFill>
                  <a:srgbClr val="171816"/>
                </a:solidFill>
                <a:latin typeface="Arial"/>
                <a:ea typeface="Arial"/>
                <a:cs typeface="Arial"/>
              </a:defRPr>
            </a:pPr>
            <a:r>
              <a:rPr sz="2100" b="1" lang="he-IL">
                <a:solidFill>
                  <a:srgbClr val="171816"/>
                </a:solidFill>
                <a:latin typeface="Arial"/>
                <a:ea typeface="Arial"/>
                <a:cs typeface="Arial"/>
              </a:rPr>
              <a:t>בדיקה היסטורית</a:t>
            </a:r>
          </a:p>
        </p:txBody>
      </p:sp>
      <p:sp>
        <p:nvSpPr>
          <p:cNvPr id="15" name="research-detail-2">
            <a:extLst xmlns:a="http://schemas.openxmlformats.org/drawingml/2006/main">
              <a:ext uri="{FF2B5EF4-FFF2-40B4-BE49-F238E27FC236}">
                <a16:creationId xmlns:a16="http://schemas.microsoft.com/office/drawing/2014/main" id="{0366CA90-D2A4-4726-8FC1-52F22FC3C4D1}"/>
              </a:ext>
            </a:extLst>
          </p:cNvPr>
          <p:cNvSpPr>
            <a:spLocks xmlns:a="http://schemas.openxmlformats.org/drawingml/2006/main" noGrp="1"/>
          </p:cNvSpPr>
          <p:nvPr/>
        </p:nvSpPr>
        <p:spPr>
          <a:xfrm xmlns:a="http://schemas.openxmlformats.org/drawingml/2006/main">
            <a:off x="2000250" y="6381750"/>
            <a:ext cx="609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575" b="0" lang="he-IL">
                <a:solidFill>
                  <a:srgbClr val="6E706B"/>
                </a:solidFill>
                <a:latin typeface="Arial"/>
                <a:ea typeface="Arial"/>
                <a:cs typeface="Arial"/>
              </a:defRPr>
            </a:pPr>
            <a:r>
              <a:rPr sz="1575" b="0" lang="he-IL">
                <a:solidFill>
                  <a:srgbClr val="6E706B"/>
                </a:solidFill>
                <a:latin typeface="Arial"/>
                <a:ea typeface="Arial"/>
                <a:cs typeface="Arial"/>
              </a:rPr>
              <a:t>ללא מידע שלא היה ידוע בזמן ההחלטה</a:t>
            </a:r>
          </a:p>
        </p:txBody>
      </p:sp>
      <p:sp>
        <p:nvSpPr>
          <p:cNvPr id="16" name="research-reject-2">
            <a:extLst xmlns:a="http://schemas.openxmlformats.org/drawingml/2006/main">
              <a:ext uri="{FF2B5EF4-FFF2-40B4-BE49-F238E27FC236}">
                <a16:creationId xmlns:a16="http://schemas.microsoft.com/office/drawing/2014/main" id="{1EB53C3A-6509-43A5-AD47-D470A30E5084}"/>
              </a:ext>
            </a:extLst>
          </p:cNvPr>
          <p:cNvSpPr>
            <a:spLocks xmlns:a="http://schemas.openxmlformats.org/drawingml/2006/main" noGrp="1"/>
          </p:cNvSpPr>
          <p:nvPr/>
        </p:nvSpPr>
        <p:spPr>
          <a:xfrm xmlns:a="http://schemas.openxmlformats.org/drawingml/2006/main">
            <a:off x="990600" y="61722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200" b="0" lang="he-IL">
                <a:solidFill>
                  <a:srgbClr val="A05234"/>
                </a:solidFill>
                <a:latin typeface="Arial"/>
                <a:ea typeface="Arial"/>
                <a:cs typeface="Arial"/>
              </a:defRPr>
            </a:pPr>
            <a:r>
              <a:rPr sz="1200" b="0" lang="he-IL">
                <a:solidFill>
                  <a:srgbClr val="A05234"/>
                </a:solidFill>
                <a:latin typeface="Arial"/>
                <a:ea typeface="Arial"/>
                <a:cs typeface="Arial"/>
              </a:rPr>
              <a:t>נקודת פסילה</a:t>
            </a:r>
          </a:p>
        </p:txBody>
      </p:sp>
      <p:sp>
        <p:nvSpPr>
          <p:cNvPr id="17" name="research-dot-3">
            <a:extLst xmlns:a="http://schemas.openxmlformats.org/drawingml/2006/main">
              <a:ext uri="{FF2B5EF4-FFF2-40B4-BE49-F238E27FC236}">
                <a16:creationId xmlns:a16="http://schemas.microsoft.com/office/drawing/2014/main" id="{53EB2115-8990-4F02-B002-593A63E3C685}"/>
              </a:ext>
            </a:extLst>
          </p:cNvPr>
          <p:cNvSpPr>
            <a:spLocks xmlns:a="http://schemas.openxmlformats.org/drawingml/2006/main" noGrp="1"/>
          </p:cNvSpPr>
          <p:nvPr/>
        </p:nvSpPr>
        <p:spPr>
          <a:xfrm xmlns:a="http://schemas.openxmlformats.org/drawingml/2006/main">
            <a:off x="8677275" y="7343775"/>
            <a:ext cx="209550" cy="209550"/>
          </a:xfrm>
          <a:prstGeom xmlns:a="http://schemas.openxmlformats.org/drawingml/2006/main" prst="roundRect">
            <a:avLst>
              <a:gd name="adj" fmla="val 50000"/>
            </a:avLst>
          </a:prstGeom>
          <a:solidFill xmlns:a="http://schemas.openxmlformats.org/drawingml/2006/main">
            <a:srgbClr val="2458C6"/>
          </a:solidFill>
          <a:ln xmlns:a="http://schemas.openxmlformats.org/drawingml/2006/main" w="0">
            <a:noFill/>
            <a:prstDash val="solid"/>
          </a:ln>
        </p:spPr>
      </p:sp>
      <p:sp>
        <p:nvSpPr>
          <p:cNvPr id="18" name="research-title-3">
            <a:extLst xmlns:a="http://schemas.openxmlformats.org/drawingml/2006/main">
              <a:ext uri="{FF2B5EF4-FFF2-40B4-BE49-F238E27FC236}">
                <a16:creationId xmlns:a16="http://schemas.microsoft.com/office/drawing/2014/main" id="{0C993A9B-65CF-46B5-A3D9-814095BFD663}"/>
              </a:ext>
            </a:extLst>
          </p:cNvPr>
          <p:cNvSpPr>
            <a:spLocks xmlns:a="http://schemas.openxmlformats.org/drawingml/2006/main" noGrp="1"/>
          </p:cNvSpPr>
          <p:nvPr/>
        </p:nvSpPr>
        <p:spPr>
          <a:xfrm xmlns:a="http://schemas.openxmlformats.org/drawingml/2006/main">
            <a:off x="3143250" y="71056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00" b="1" lang="he-IL">
                <a:solidFill>
                  <a:srgbClr val="171816"/>
                </a:solidFill>
                <a:latin typeface="Arial"/>
                <a:ea typeface="Arial"/>
                <a:cs typeface="Arial"/>
              </a:defRPr>
            </a:pPr>
            <a:r>
              <a:rPr sz="2100" b="1" lang="he-IL">
                <a:solidFill>
                  <a:srgbClr val="171816"/>
                </a:solidFill>
                <a:latin typeface="Arial"/>
                <a:ea typeface="Arial"/>
                <a:cs typeface="Arial"/>
              </a:rPr>
              <a:t>עלויות, נזילות וסיכון</a:t>
            </a:r>
          </a:p>
        </p:txBody>
      </p:sp>
      <p:sp>
        <p:nvSpPr>
          <p:cNvPr id="19" name="research-detail-3">
            <a:extLst xmlns:a="http://schemas.openxmlformats.org/drawingml/2006/main">
              <a:ext uri="{FF2B5EF4-FFF2-40B4-BE49-F238E27FC236}">
                <a16:creationId xmlns:a16="http://schemas.microsoft.com/office/drawing/2014/main" id="{6E08CD35-A20F-4D36-8BC8-9379E39850A9}"/>
              </a:ext>
            </a:extLst>
          </p:cNvPr>
          <p:cNvSpPr>
            <a:spLocks xmlns:a="http://schemas.openxmlformats.org/drawingml/2006/main" noGrp="1"/>
          </p:cNvSpPr>
          <p:nvPr/>
        </p:nvSpPr>
        <p:spPr>
          <a:xfrm xmlns:a="http://schemas.openxmlformats.org/drawingml/2006/main">
            <a:off x="2000250" y="7543800"/>
            <a:ext cx="609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575" b="0" lang="he-IL">
                <a:solidFill>
                  <a:srgbClr val="6E706B"/>
                </a:solidFill>
                <a:latin typeface="Arial"/>
                <a:ea typeface="Arial"/>
                <a:cs typeface="Arial"/>
              </a:defRPr>
            </a:pPr>
            <a:r>
              <a:rPr sz="1575" b="0" lang="he-IL">
                <a:solidFill>
                  <a:srgbClr val="6E706B"/>
                </a:solidFill>
                <a:latin typeface="Arial"/>
                <a:ea typeface="Arial"/>
                <a:cs typeface="Arial"/>
              </a:rPr>
              <a:t>האם היתרון נשאר בתנאים מציאותיים</a:t>
            </a:r>
          </a:p>
        </p:txBody>
      </p:sp>
      <p:sp>
        <p:nvSpPr>
          <p:cNvPr id="20" name="research-reject-3">
            <a:extLst xmlns:a="http://schemas.openxmlformats.org/drawingml/2006/main">
              <a:ext uri="{FF2B5EF4-FFF2-40B4-BE49-F238E27FC236}">
                <a16:creationId xmlns:a16="http://schemas.microsoft.com/office/drawing/2014/main" id="{4DBDEAC5-6494-451C-8E36-ACA4E1F79BAE}"/>
              </a:ext>
            </a:extLst>
          </p:cNvPr>
          <p:cNvSpPr>
            <a:spLocks xmlns:a="http://schemas.openxmlformats.org/drawingml/2006/main" noGrp="1"/>
          </p:cNvSpPr>
          <p:nvPr/>
        </p:nvSpPr>
        <p:spPr>
          <a:xfrm xmlns:a="http://schemas.openxmlformats.org/drawingml/2006/main">
            <a:off x="990600" y="733425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200" b="0" lang="he-IL">
                <a:solidFill>
                  <a:srgbClr val="A05234"/>
                </a:solidFill>
                <a:latin typeface="Arial"/>
                <a:ea typeface="Arial"/>
                <a:cs typeface="Arial"/>
              </a:defRPr>
            </a:pPr>
            <a:r>
              <a:rPr sz="1200" b="0" lang="he-IL">
                <a:solidFill>
                  <a:srgbClr val="A05234"/>
                </a:solidFill>
                <a:latin typeface="Arial"/>
                <a:ea typeface="Arial"/>
                <a:cs typeface="Arial"/>
              </a:rPr>
              <a:t>נקודת פסילה</a:t>
            </a:r>
          </a:p>
        </p:txBody>
      </p:sp>
      <p:sp>
        <p:nvSpPr>
          <p:cNvPr id="21" name="research-dot-4">
            <a:extLst xmlns:a="http://schemas.openxmlformats.org/drawingml/2006/main">
              <a:ext uri="{FF2B5EF4-FFF2-40B4-BE49-F238E27FC236}">
                <a16:creationId xmlns:a16="http://schemas.microsoft.com/office/drawing/2014/main" id="{9ED0FEC2-6E8E-484E-84A5-0EF8CA22EEDC}"/>
              </a:ext>
            </a:extLst>
          </p:cNvPr>
          <p:cNvSpPr>
            <a:spLocks xmlns:a="http://schemas.openxmlformats.org/drawingml/2006/main" noGrp="1"/>
          </p:cNvSpPr>
          <p:nvPr/>
        </p:nvSpPr>
        <p:spPr>
          <a:xfrm xmlns:a="http://schemas.openxmlformats.org/drawingml/2006/main">
            <a:off x="8677275" y="8505825"/>
            <a:ext cx="209550" cy="209550"/>
          </a:xfrm>
          <a:prstGeom xmlns:a="http://schemas.openxmlformats.org/drawingml/2006/main" prst="roundRect">
            <a:avLst>
              <a:gd name="adj" fmla="val 50000"/>
            </a:avLst>
          </a:prstGeom>
          <a:solidFill xmlns:a="http://schemas.openxmlformats.org/drawingml/2006/main">
            <a:srgbClr val="2E6A4F"/>
          </a:solidFill>
          <a:ln xmlns:a="http://schemas.openxmlformats.org/drawingml/2006/main" w="0">
            <a:noFill/>
            <a:prstDash val="solid"/>
          </a:ln>
        </p:spPr>
      </p:sp>
      <p:sp>
        <p:nvSpPr>
          <p:cNvPr id="22" name="research-title-4">
            <a:extLst xmlns:a="http://schemas.openxmlformats.org/drawingml/2006/main">
              <a:ext uri="{FF2B5EF4-FFF2-40B4-BE49-F238E27FC236}">
                <a16:creationId xmlns:a16="http://schemas.microsoft.com/office/drawing/2014/main" id="{8246AAFD-6C7E-49D1-A393-EF06A4FAC3A4}"/>
              </a:ext>
            </a:extLst>
          </p:cNvPr>
          <p:cNvSpPr>
            <a:spLocks xmlns:a="http://schemas.openxmlformats.org/drawingml/2006/main" noGrp="1"/>
          </p:cNvSpPr>
          <p:nvPr/>
        </p:nvSpPr>
        <p:spPr>
          <a:xfrm xmlns:a="http://schemas.openxmlformats.org/drawingml/2006/main">
            <a:off x="3143250" y="82677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00" b="1" lang="he-IL">
                <a:solidFill>
                  <a:srgbClr val="171816"/>
                </a:solidFill>
                <a:latin typeface="Arial"/>
                <a:ea typeface="Arial"/>
                <a:cs typeface="Arial"/>
              </a:defRPr>
            </a:pPr>
            <a:r>
              <a:rPr sz="2100" b="1" lang="he-IL">
                <a:solidFill>
                  <a:srgbClr val="171816"/>
                </a:solidFill>
                <a:latin typeface="Arial"/>
                <a:ea typeface="Arial"/>
                <a:cs typeface="Arial"/>
              </a:rPr>
              <a:t>חזרה גנרלית</a:t>
            </a:r>
          </a:p>
        </p:txBody>
      </p:sp>
      <p:sp>
        <p:nvSpPr>
          <p:cNvPr id="23" name="research-detail-4">
            <a:extLst xmlns:a="http://schemas.openxmlformats.org/drawingml/2006/main">
              <a:ext uri="{FF2B5EF4-FFF2-40B4-BE49-F238E27FC236}">
                <a16:creationId xmlns:a16="http://schemas.microsoft.com/office/drawing/2014/main" id="{CDBD72B2-945A-4A7F-80ED-2F8AE3C568D1}"/>
              </a:ext>
            </a:extLst>
          </p:cNvPr>
          <p:cNvSpPr>
            <a:spLocks xmlns:a="http://schemas.openxmlformats.org/drawingml/2006/main" noGrp="1"/>
          </p:cNvSpPr>
          <p:nvPr/>
        </p:nvSpPr>
        <p:spPr>
          <a:xfrm xmlns:a="http://schemas.openxmlformats.org/drawingml/2006/main">
            <a:off x="2000250" y="8705850"/>
            <a:ext cx="609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575" b="0" lang="he-IL">
                <a:solidFill>
                  <a:srgbClr val="6E706B"/>
                </a:solidFill>
                <a:latin typeface="Arial"/>
                <a:ea typeface="Arial"/>
                <a:cs typeface="Arial"/>
              </a:defRPr>
            </a:pPr>
            <a:r>
              <a:rPr sz="1575" b="0" lang="he-IL">
                <a:solidFill>
                  <a:srgbClr val="6E706B"/>
                </a:solidFill>
                <a:latin typeface="Arial"/>
                <a:ea typeface="Arial"/>
                <a:cs typeface="Arial"/>
              </a:rPr>
              <a:t>הפעלה מדומה לפני כסף חי</a:t>
            </a:r>
          </a:p>
        </p:txBody>
      </p:sp>
      <p:sp>
        <p:nvSpPr>
          <p:cNvPr id="24" name="research-dot-5">
            <a:extLst xmlns:a="http://schemas.openxmlformats.org/drawingml/2006/main">
              <a:ext uri="{FF2B5EF4-FFF2-40B4-BE49-F238E27FC236}">
                <a16:creationId xmlns:a16="http://schemas.microsoft.com/office/drawing/2014/main" id="{DF38C0B9-B625-4ECA-A204-0E25DE97DBB3}"/>
              </a:ext>
            </a:extLst>
          </p:cNvPr>
          <p:cNvSpPr>
            <a:spLocks xmlns:a="http://schemas.openxmlformats.org/drawingml/2006/main" noGrp="1"/>
          </p:cNvSpPr>
          <p:nvPr/>
        </p:nvSpPr>
        <p:spPr>
          <a:xfrm xmlns:a="http://schemas.openxmlformats.org/drawingml/2006/main">
            <a:off x="8677275" y="9667875"/>
            <a:ext cx="209550" cy="209550"/>
          </a:xfrm>
          <a:prstGeom xmlns:a="http://schemas.openxmlformats.org/drawingml/2006/main" prst="roundRect">
            <a:avLst>
              <a:gd name="adj" fmla="val 50000"/>
            </a:avLst>
          </a:prstGeom>
          <a:solidFill xmlns:a="http://schemas.openxmlformats.org/drawingml/2006/main">
            <a:srgbClr val="2E6A4F"/>
          </a:solidFill>
          <a:ln xmlns:a="http://schemas.openxmlformats.org/drawingml/2006/main" w="0">
            <a:noFill/>
            <a:prstDash val="solid"/>
          </a:ln>
        </p:spPr>
      </p:sp>
      <p:sp>
        <p:nvSpPr>
          <p:cNvPr id="25" name="research-title-5">
            <a:extLst xmlns:a="http://schemas.openxmlformats.org/drawingml/2006/main">
              <a:ext uri="{FF2B5EF4-FFF2-40B4-BE49-F238E27FC236}">
                <a16:creationId xmlns:a16="http://schemas.microsoft.com/office/drawing/2014/main" id="{83779457-7F64-4431-8295-5DE512620D0C}"/>
              </a:ext>
            </a:extLst>
          </p:cNvPr>
          <p:cNvSpPr>
            <a:spLocks xmlns:a="http://schemas.openxmlformats.org/drawingml/2006/main" noGrp="1"/>
          </p:cNvSpPr>
          <p:nvPr/>
        </p:nvSpPr>
        <p:spPr>
          <a:xfrm xmlns:a="http://schemas.openxmlformats.org/drawingml/2006/main">
            <a:off x="3143250" y="94297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00" b="1" lang="he-IL">
                <a:solidFill>
                  <a:srgbClr val="171816"/>
                </a:solidFill>
                <a:latin typeface="Arial"/>
                <a:ea typeface="Arial"/>
                <a:cs typeface="Arial"/>
              </a:defRPr>
            </a:pPr>
            <a:r>
              <a:rPr sz="2100" b="1" lang="he-IL">
                <a:solidFill>
                  <a:srgbClr val="171816"/>
                </a:solidFill>
                <a:latin typeface="Arial"/>
                <a:ea typeface="Arial"/>
                <a:cs typeface="Arial"/>
              </a:rPr>
              <a:t>הפעלה הדרגתית</a:t>
            </a:r>
          </a:p>
        </p:txBody>
      </p:sp>
      <p:sp>
        <p:nvSpPr>
          <p:cNvPr id="26" name="research-detail-5">
            <a:extLst xmlns:a="http://schemas.openxmlformats.org/drawingml/2006/main">
              <a:ext uri="{FF2B5EF4-FFF2-40B4-BE49-F238E27FC236}">
                <a16:creationId xmlns:a16="http://schemas.microsoft.com/office/drawing/2014/main" id="{246E332C-7361-4C45-9ED2-6A097F010D1F}"/>
              </a:ext>
            </a:extLst>
          </p:cNvPr>
          <p:cNvSpPr>
            <a:spLocks xmlns:a="http://schemas.openxmlformats.org/drawingml/2006/main" noGrp="1"/>
          </p:cNvSpPr>
          <p:nvPr/>
        </p:nvSpPr>
        <p:spPr>
          <a:xfrm xmlns:a="http://schemas.openxmlformats.org/drawingml/2006/main">
            <a:off x="2000250" y="9867900"/>
            <a:ext cx="609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575" b="0" lang="he-IL">
                <a:solidFill>
                  <a:srgbClr val="6E706B"/>
                </a:solidFill>
                <a:latin typeface="Arial"/>
                <a:ea typeface="Arial"/>
                <a:cs typeface="Arial"/>
              </a:defRPr>
            </a:pPr>
            <a:r>
              <a:rPr sz="1575" b="0" lang="he-IL">
                <a:solidFill>
                  <a:srgbClr val="6E706B"/>
                </a:solidFill>
                <a:latin typeface="Arial"/>
                <a:ea typeface="Arial"/>
                <a:cs typeface="Arial"/>
              </a:rPr>
              <a:t>מעט הון, ניטור ובקרה</a:t>
            </a:r>
          </a:p>
        </p:txBody>
      </p:sp>
      <p:sp>
        <p:nvSpPr>
          <p:cNvPr id="27" name="research-separation">
            <a:extLst xmlns:a="http://schemas.openxmlformats.org/drawingml/2006/main">
              <a:ext uri="{FF2B5EF4-FFF2-40B4-BE49-F238E27FC236}">
                <a16:creationId xmlns:a16="http://schemas.microsoft.com/office/drawing/2014/main" id="{3B62F66F-B34F-4DA3-8C3B-7D7282C57F8A}"/>
              </a:ext>
            </a:extLst>
          </p:cNvPr>
          <p:cNvSpPr>
            <a:spLocks xmlns:a="http://schemas.openxmlformats.org/drawingml/2006/main" noGrp="1"/>
          </p:cNvSpPr>
          <p:nvPr/>
        </p:nvSpPr>
        <p:spPr>
          <a:xfrm xmlns:a="http://schemas.openxmlformats.org/drawingml/2006/main">
            <a:off x="1238250" y="10629900"/>
            <a:ext cx="8001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00" b="1" lang="he-IL">
                <a:solidFill>
                  <a:srgbClr val="2E6A4F"/>
                </a:solidFill>
                <a:latin typeface="Arial"/>
                <a:ea typeface="Arial"/>
                <a:cs typeface="Arial"/>
              </a:defRPr>
            </a:pPr>
            <a:r>
              <a:rPr sz="1800" b="1" lang="he-IL">
                <a:solidFill>
                  <a:srgbClr val="2E6A4F"/>
                </a:solidFill>
                <a:latin typeface="Arial"/>
                <a:ea typeface="Arial"/>
                <a:cs typeface="Arial"/>
              </a:rPr>
              <a:t>מחקר ופיתוח, תשתית, ניהול סיכונים ובקרה משתפרים לאורך זמן.</a:t>
            </a:r>
          </a:p>
          <a:p xmlns:a="http://schemas.openxmlformats.org/drawingml/2006/main">
            <a:pPr algn="r" rtl="1">
              <a:defRPr sz="1800" b="1" lang="he-IL">
                <a:solidFill>
                  <a:srgbClr val="2E6A4F"/>
                </a:solidFill>
                <a:latin typeface="Arial"/>
                <a:ea typeface="Arial"/>
                <a:cs typeface="Arial"/>
              </a:defRPr>
            </a:pPr>
            <a:r>
              <a:rPr sz="1800" b="1" lang="he-IL">
                <a:solidFill>
                  <a:srgbClr val="2E6A4F"/>
                </a:solidFill>
                <a:latin typeface="Arial"/>
                <a:ea typeface="Arial"/>
                <a:cs typeface="Arial"/>
              </a:rPr>
              <a:t>כל שינוי נבדק ומתועד לפני יישום.</a:t>
            </a:r>
          </a:p>
        </p:txBody>
      </p:sp>
      <p:sp>
        <p:nvSpPr>
          <p:cNvPr id="28" name="">
            <a:extLst xmlns:a="http://schemas.openxmlformats.org/drawingml/2006/main">
              <a:ext uri="{FF2B5EF4-FFF2-40B4-BE49-F238E27FC236}">
                <a16:creationId xmlns:a16="http://schemas.microsoft.com/office/drawing/2014/main" id="{1863370D-7554-463A-A70F-0CFCBDDB2158}"/>
              </a:ext>
            </a:extLst>
          </p:cNvPr>
          <p:cNvSpPr>
            <a:spLocks xmlns:a="http://schemas.openxmlformats.org/drawingml/2006/main" noGrp="1"/>
          </p:cNvSpPr>
          <p:nvPr/>
        </p:nvSpPr>
        <p:spPr>
          <a:xfrm xmlns:a="http://schemas.openxmlformats.org/drawingml/2006/main">
            <a:off x="819150" y="12230100"/>
            <a:ext cx="8648700" cy="0"/>
          </a:xfrm>
          <a:prstGeom xmlns:a="http://schemas.openxmlformats.org/drawingml/2006/main" prst="line">
            <a:avLst/>
          </a:prstGeom>
          <a:noFill xmlns:a="http://schemas.openxmlformats.org/drawingml/2006/main"/>
          <a:ln xmlns:a="http://schemas.openxmlformats.org/drawingml/2006/main" w="9525">
            <a:solidFill>
              <a:srgbClr val="D7D1C5"/>
            </a:solidFill>
            <a:prstDash val="solid"/>
          </a:ln>
        </p:spPr>
      </p:sp>
      <p:sp>
        <p:nvSpPr>
          <p:cNvPr id="29" name="footer-6">
            <a:extLst xmlns:a="http://schemas.openxmlformats.org/drawingml/2006/main">
              <a:ext uri="{FF2B5EF4-FFF2-40B4-BE49-F238E27FC236}">
                <a16:creationId xmlns:a16="http://schemas.microsoft.com/office/drawing/2014/main" id="{9B186EF6-82ED-4531-92F8-58172728BFD7}"/>
              </a:ext>
            </a:extLst>
          </p:cNvPr>
          <p:cNvSpPr>
            <a:spLocks xmlns:a="http://schemas.openxmlformats.org/drawingml/2006/main" noGrp="1"/>
          </p:cNvSpPr>
          <p:nvPr/>
        </p:nvSpPr>
        <p:spPr>
          <a:xfrm xmlns:a="http://schemas.openxmlformats.org/drawingml/2006/main">
            <a:off x="819150" y="12382500"/>
            <a:ext cx="8648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125" b="0" lang="he-IL">
                <a:solidFill>
                  <a:srgbClr val="6E706B"/>
                </a:solidFill>
                <a:latin typeface="Arial"/>
                <a:ea typeface="Arial"/>
                <a:cs typeface="Arial"/>
              </a:defRPr>
            </a:pPr>
            <a:r>
              <a:rPr sz="1125" b="0" lang="he-IL">
                <a:solidFill>
                  <a:srgbClr val="6E706B"/>
                </a:solidFill>
                <a:latin typeface="Arial"/>
                <a:ea typeface="Arial"/>
                <a:cs typeface="Arial"/>
              </a:rPr>
              <a:t>מסמך היכרות פרטי  ·  06</a:t>
            </a:r>
          </a:p>
        </p:txBody>
      </p:sp>
    </p:spTree>
    <p:extLst>
      <p:ext uri="{BB962C8B-B14F-4D97-AF65-F5344CB8AC3E}">
        <p14:creationId xmlns:p14="http://schemas.microsoft.com/office/powerpoint/2010/main" val="221533376"/>
      </p:ext>
    </p:extLst>
  </p:cSld>
</p:sld>
</file>

<file path=ppt/slides/slide7.xml><?xml version="1.0" encoding="utf-8"?>
<p:sld xmlns:p="http://schemas.openxmlformats.org/presentationml/2006/main">
  <p:cSld>
    <p:bg>
      <p:bgPr>
        <a:solidFill xmlns:a="http://schemas.openxmlformats.org/drawingml/2006/main">
          <a:srgbClr val="F5F1E9"/>
        </a:solidFill>
      </p:bgPr>
    </p:bg>
    <p:spTree>
      <p:nvGrpSpPr>
        <p:cNvPr id="1" name=""/>
        <p:cNvGrpSpPr/>
        <p:nvPr/>
      </p:nvGrpSpPr>
      <p:grpSpPr>
        <a:xfrm xmlns:a="http://schemas.openxmlformats.org/drawingml/2006/main"/>
      </p:grpSpPr>
      <p:sp>
        <p:nvSpPr>
          <p:cNvPr id="20" name="eyebrow">
            <a:extLst xmlns:a="http://schemas.openxmlformats.org/drawingml/2006/main">
              <a:ext uri="{FF2B5EF4-FFF2-40B4-BE49-F238E27FC236}">
                <a16:creationId xmlns:a16="http://schemas.microsoft.com/office/drawing/2014/main" id="{F33C49D3-4758-48E2-BE60-05A9212BAF2B}"/>
              </a:ext>
            </a:extLst>
          </p:cNvPr>
          <p:cNvSpPr>
            <a:spLocks xmlns:a="http://schemas.openxmlformats.org/drawingml/2006/main" noGrp="1"/>
          </p:cNvSpPr>
          <p:nvPr/>
        </p:nvSpPr>
        <p:spPr>
          <a:xfrm xmlns:a="http://schemas.openxmlformats.org/drawingml/2006/main">
            <a:off x="819150" y="552450"/>
            <a:ext cx="864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1" lang="he-IL">
                <a:solidFill>
                  <a:srgbClr val="2458C6"/>
                </a:solidFill>
                <a:latin typeface="Arial"/>
                <a:ea typeface="Arial"/>
                <a:cs typeface="Arial"/>
              </a:defRPr>
            </a:pPr>
            <a:r>
              <a:rPr sz="1350" b="1" lang="he-IL">
                <a:solidFill>
                  <a:srgbClr val="2458C6"/>
                </a:solidFill>
                <a:latin typeface="Arial"/>
                <a:ea typeface="Arial"/>
                <a:cs typeface="Arial"/>
              </a:rPr>
              <a:t>עבודה משותפת</a:t>
            </a:r>
          </a:p>
        </p:txBody>
      </p:sp>
      <p:sp>
        <p:nvSpPr>
          <p:cNvPr id="2" name="slide-title">
            <a:extLst xmlns:a="http://schemas.openxmlformats.org/drawingml/2006/main">
              <a:ext uri="{FF2B5EF4-FFF2-40B4-BE49-F238E27FC236}">
                <a16:creationId xmlns:a16="http://schemas.microsoft.com/office/drawing/2014/main" id="{C4759FE7-8212-467A-8549-914AFF77530C}"/>
              </a:ext>
            </a:extLst>
          </p:cNvPr>
          <p:cNvSpPr>
            <a:spLocks xmlns:a="http://schemas.openxmlformats.org/drawingml/2006/main" noGrp="1"/>
          </p:cNvSpPr>
          <p:nvPr/>
        </p:nvSpPr>
        <p:spPr>
          <a:xfrm xmlns:a="http://schemas.openxmlformats.org/drawingml/2006/main">
            <a:off x="819150" y="1009650"/>
            <a:ext cx="8648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3600" b="1" lang="he-IL">
                <a:solidFill>
                  <a:srgbClr val="171816"/>
                </a:solidFill>
                <a:latin typeface="Arial"/>
                <a:ea typeface="Arial"/>
                <a:cs typeface="Arial"/>
              </a:defRPr>
            </a:pPr>
            <a:r>
              <a:rPr sz="3600" b="1" lang="he-IL">
                <a:solidFill>
                  <a:srgbClr val="171816"/>
                </a:solidFill>
                <a:latin typeface="Arial"/>
                <a:ea typeface="Arial"/>
                <a:cs typeface="Arial"/>
              </a:rPr>
              <a:t>מתחילים מהמשפחה, לא מהמוצר</a:t>
            </a:r>
          </a:p>
        </p:txBody>
      </p:sp>
      <p:sp>
        <p:nvSpPr>
          <p:cNvPr id="3" name="client-number-0">
            <a:extLst xmlns:a="http://schemas.openxmlformats.org/drawingml/2006/main">
              <a:ext uri="{FF2B5EF4-FFF2-40B4-BE49-F238E27FC236}">
                <a16:creationId xmlns:a16="http://schemas.microsoft.com/office/drawing/2014/main" id="{6AA154EF-8FC1-40D9-A590-499687B7EB55}"/>
              </a:ext>
            </a:extLst>
          </p:cNvPr>
          <p:cNvSpPr>
            <a:spLocks xmlns:a="http://schemas.openxmlformats.org/drawingml/2006/main" noGrp="1"/>
          </p:cNvSpPr>
          <p:nvPr/>
        </p:nvSpPr>
        <p:spPr>
          <a:xfrm xmlns:a="http://schemas.openxmlformats.org/drawingml/2006/main">
            <a:off x="8172450" y="2571750"/>
            <a:ext cx="1200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100" b="1">
                <a:solidFill>
                  <a:srgbClr val="2458C6"/>
                </a:solidFill>
                <a:latin typeface="Arial"/>
                <a:ea typeface="Arial"/>
                <a:cs typeface="Arial"/>
              </a:defRPr>
            </a:pPr>
            <a:r>
              <a:rPr sz="2100" b="1">
                <a:solidFill>
                  <a:srgbClr val="2458C6"/>
                </a:solidFill>
                <a:latin typeface="Arial"/>
                <a:ea typeface="Arial"/>
                <a:cs typeface="Arial"/>
              </a:rPr>
              <a:t>01</a:t>
            </a:r>
          </a:p>
        </p:txBody>
      </p:sp>
      <p:sp>
        <p:nvSpPr>
          <p:cNvPr id="4" name="client-label-0">
            <a:extLst xmlns:a="http://schemas.openxmlformats.org/drawingml/2006/main">
              <a:ext uri="{FF2B5EF4-FFF2-40B4-BE49-F238E27FC236}">
                <a16:creationId xmlns:a16="http://schemas.microsoft.com/office/drawing/2014/main" id="{1AE47B5B-5633-40EE-9070-307F57B3D21B}"/>
              </a:ext>
            </a:extLst>
          </p:cNvPr>
          <p:cNvSpPr>
            <a:spLocks xmlns:a="http://schemas.openxmlformats.org/drawingml/2006/main" noGrp="1"/>
          </p:cNvSpPr>
          <p:nvPr/>
        </p:nvSpPr>
        <p:spPr>
          <a:xfrm xmlns:a="http://schemas.openxmlformats.org/drawingml/2006/main">
            <a:off x="2428875" y="2552700"/>
            <a:ext cx="523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250" b="1" lang="he-IL">
                <a:solidFill>
                  <a:srgbClr val="171816"/>
                </a:solidFill>
                <a:latin typeface="Arial"/>
                <a:ea typeface="Arial"/>
                <a:cs typeface="Arial"/>
              </a:defRPr>
            </a:pPr>
            <a:r>
              <a:rPr sz="2250" b="1" lang="he-IL">
                <a:solidFill>
                  <a:srgbClr val="171816"/>
                </a:solidFill>
                <a:latin typeface="Arial"/>
                <a:ea typeface="Arial"/>
                <a:cs typeface="Arial"/>
              </a:rPr>
              <a:t>מטרות ונזילות</a:t>
            </a:r>
          </a:p>
        </p:txBody>
      </p:sp>
      <p:sp>
        <p:nvSpPr>
          <p:cNvPr id="5" name="">
            <a:extLst xmlns:a="http://schemas.openxmlformats.org/drawingml/2006/main">
              <a:ext uri="{FF2B5EF4-FFF2-40B4-BE49-F238E27FC236}">
                <a16:creationId xmlns:a16="http://schemas.microsoft.com/office/drawing/2014/main" id="{520EE011-3C17-44B0-A29B-6C29DC6EB419}"/>
              </a:ext>
            </a:extLst>
          </p:cNvPr>
          <p:cNvSpPr>
            <a:spLocks xmlns:a="http://schemas.openxmlformats.org/drawingml/2006/main" noGrp="1"/>
          </p:cNvSpPr>
          <p:nvPr/>
        </p:nvSpPr>
        <p:spPr>
          <a:xfrm xmlns:a="http://schemas.openxmlformats.org/drawingml/2006/main">
            <a:off x="2428875" y="3238500"/>
            <a:ext cx="6953250" cy="0"/>
          </a:xfrm>
          <a:prstGeom xmlns:a="http://schemas.openxmlformats.org/drawingml/2006/main" prst="line">
            <a:avLst/>
          </a:prstGeom>
          <a:noFill xmlns:a="http://schemas.openxmlformats.org/drawingml/2006/main"/>
          <a:ln xmlns:a="http://schemas.openxmlformats.org/drawingml/2006/main" w="9525">
            <a:solidFill>
              <a:srgbClr val="D7D1C5"/>
            </a:solidFill>
            <a:prstDash val="solid"/>
          </a:ln>
        </p:spPr>
      </p:sp>
      <p:sp>
        <p:nvSpPr>
          <p:cNvPr id="6" name="client-number-1">
            <a:extLst xmlns:a="http://schemas.openxmlformats.org/drawingml/2006/main">
              <a:ext uri="{FF2B5EF4-FFF2-40B4-BE49-F238E27FC236}">
                <a16:creationId xmlns:a16="http://schemas.microsoft.com/office/drawing/2014/main" id="{D2248363-3252-48E2-8198-B91B9A2889CD}"/>
              </a:ext>
            </a:extLst>
          </p:cNvPr>
          <p:cNvSpPr>
            <a:spLocks xmlns:a="http://schemas.openxmlformats.org/drawingml/2006/main" noGrp="1"/>
          </p:cNvSpPr>
          <p:nvPr/>
        </p:nvSpPr>
        <p:spPr>
          <a:xfrm xmlns:a="http://schemas.openxmlformats.org/drawingml/2006/main">
            <a:off x="8172450" y="3695700"/>
            <a:ext cx="1200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100" b="1">
                <a:solidFill>
                  <a:srgbClr val="2458C6"/>
                </a:solidFill>
                <a:latin typeface="Arial"/>
                <a:ea typeface="Arial"/>
                <a:cs typeface="Arial"/>
              </a:defRPr>
            </a:pPr>
            <a:r>
              <a:rPr sz="2100" b="1">
                <a:solidFill>
                  <a:srgbClr val="2458C6"/>
                </a:solidFill>
                <a:latin typeface="Arial"/>
                <a:ea typeface="Arial"/>
                <a:cs typeface="Arial"/>
              </a:rPr>
              <a:t>02</a:t>
            </a:r>
          </a:p>
        </p:txBody>
      </p:sp>
      <p:sp>
        <p:nvSpPr>
          <p:cNvPr id="7" name="client-label-1">
            <a:extLst xmlns:a="http://schemas.openxmlformats.org/drawingml/2006/main">
              <a:ext uri="{FF2B5EF4-FFF2-40B4-BE49-F238E27FC236}">
                <a16:creationId xmlns:a16="http://schemas.microsoft.com/office/drawing/2014/main" id="{F6651CA2-DC64-4ABD-A976-C42A76C053A4}"/>
              </a:ext>
            </a:extLst>
          </p:cNvPr>
          <p:cNvSpPr>
            <a:spLocks xmlns:a="http://schemas.openxmlformats.org/drawingml/2006/main" noGrp="1"/>
          </p:cNvSpPr>
          <p:nvPr/>
        </p:nvSpPr>
        <p:spPr>
          <a:xfrm xmlns:a="http://schemas.openxmlformats.org/drawingml/2006/main">
            <a:off x="2428875" y="3676650"/>
            <a:ext cx="523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250" b="1" lang="he-IL">
                <a:solidFill>
                  <a:srgbClr val="171816"/>
                </a:solidFill>
                <a:latin typeface="Arial"/>
                <a:ea typeface="Arial"/>
                <a:cs typeface="Arial"/>
              </a:defRPr>
            </a:pPr>
            <a:r>
              <a:rPr sz="2250" b="1" lang="he-IL">
                <a:solidFill>
                  <a:srgbClr val="171816"/>
                </a:solidFill>
                <a:latin typeface="Arial"/>
                <a:ea typeface="Arial"/>
                <a:cs typeface="Arial"/>
              </a:rPr>
              <a:t>גבולות סיכון</a:t>
            </a:r>
          </a:p>
        </p:txBody>
      </p:sp>
      <p:sp>
        <p:nvSpPr>
          <p:cNvPr id="8" name="">
            <a:extLst xmlns:a="http://schemas.openxmlformats.org/drawingml/2006/main">
              <a:ext uri="{FF2B5EF4-FFF2-40B4-BE49-F238E27FC236}">
                <a16:creationId xmlns:a16="http://schemas.microsoft.com/office/drawing/2014/main" id="{A0E117E2-651C-44D1-8F86-A052755757A0}"/>
              </a:ext>
            </a:extLst>
          </p:cNvPr>
          <p:cNvSpPr>
            <a:spLocks xmlns:a="http://schemas.openxmlformats.org/drawingml/2006/main" noGrp="1"/>
          </p:cNvSpPr>
          <p:nvPr/>
        </p:nvSpPr>
        <p:spPr>
          <a:xfrm xmlns:a="http://schemas.openxmlformats.org/drawingml/2006/main">
            <a:off x="2428875" y="4362450"/>
            <a:ext cx="6953250" cy="0"/>
          </a:xfrm>
          <a:prstGeom xmlns:a="http://schemas.openxmlformats.org/drawingml/2006/main" prst="line">
            <a:avLst/>
          </a:prstGeom>
          <a:noFill xmlns:a="http://schemas.openxmlformats.org/drawingml/2006/main"/>
          <a:ln xmlns:a="http://schemas.openxmlformats.org/drawingml/2006/main" w="9525">
            <a:solidFill>
              <a:srgbClr val="D7D1C5"/>
            </a:solidFill>
            <a:prstDash val="solid"/>
          </a:ln>
        </p:spPr>
      </p:sp>
      <p:sp>
        <p:nvSpPr>
          <p:cNvPr id="9" name="client-number-2">
            <a:extLst xmlns:a="http://schemas.openxmlformats.org/drawingml/2006/main">
              <a:ext uri="{FF2B5EF4-FFF2-40B4-BE49-F238E27FC236}">
                <a16:creationId xmlns:a16="http://schemas.microsoft.com/office/drawing/2014/main" id="{B078656A-B41E-4783-98F0-A32CD4B6EB27}"/>
              </a:ext>
            </a:extLst>
          </p:cNvPr>
          <p:cNvSpPr>
            <a:spLocks xmlns:a="http://schemas.openxmlformats.org/drawingml/2006/main" noGrp="1"/>
          </p:cNvSpPr>
          <p:nvPr/>
        </p:nvSpPr>
        <p:spPr>
          <a:xfrm xmlns:a="http://schemas.openxmlformats.org/drawingml/2006/main">
            <a:off x="8172450" y="4819650"/>
            <a:ext cx="1200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100" b="1">
                <a:solidFill>
                  <a:srgbClr val="2458C6"/>
                </a:solidFill>
                <a:latin typeface="Arial"/>
                <a:ea typeface="Arial"/>
                <a:cs typeface="Arial"/>
              </a:defRPr>
            </a:pPr>
            <a:r>
              <a:rPr sz="2100" b="1">
                <a:solidFill>
                  <a:srgbClr val="2458C6"/>
                </a:solidFill>
                <a:latin typeface="Arial"/>
                <a:ea typeface="Arial"/>
                <a:cs typeface="Arial"/>
              </a:rPr>
              <a:t>03</a:t>
            </a:r>
          </a:p>
        </p:txBody>
      </p:sp>
      <p:sp>
        <p:nvSpPr>
          <p:cNvPr id="10" name="client-label-2">
            <a:extLst xmlns:a="http://schemas.openxmlformats.org/drawingml/2006/main">
              <a:ext uri="{FF2B5EF4-FFF2-40B4-BE49-F238E27FC236}">
                <a16:creationId xmlns:a16="http://schemas.microsoft.com/office/drawing/2014/main" id="{1E701698-2CA7-4CDA-9005-27C2EB581C39}"/>
              </a:ext>
            </a:extLst>
          </p:cNvPr>
          <p:cNvSpPr>
            <a:spLocks xmlns:a="http://schemas.openxmlformats.org/drawingml/2006/main" noGrp="1"/>
          </p:cNvSpPr>
          <p:nvPr/>
        </p:nvSpPr>
        <p:spPr>
          <a:xfrm xmlns:a="http://schemas.openxmlformats.org/drawingml/2006/main">
            <a:off x="2428875" y="4800600"/>
            <a:ext cx="523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250" b="1" lang="he-IL">
                <a:solidFill>
                  <a:srgbClr val="171816"/>
                </a:solidFill>
                <a:latin typeface="Arial"/>
                <a:ea typeface="Arial"/>
                <a:cs typeface="Arial"/>
              </a:defRPr>
            </a:pPr>
            <a:r>
              <a:rPr sz="2250" b="1" lang="he-IL">
                <a:solidFill>
                  <a:srgbClr val="171816"/>
                </a:solidFill>
                <a:latin typeface="Arial"/>
                <a:ea typeface="Arial"/>
                <a:cs typeface="Arial"/>
              </a:rPr>
              <a:t>בחירת מנועים</a:t>
            </a:r>
          </a:p>
        </p:txBody>
      </p:sp>
      <p:sp>
        <p:nvSpPr>
          <p:cNvPr id="11" name="">
            <a:extLst xmlns:a="http://schemas.openxmlformats.org/drawingml/2006/main">
              <a:ext uri="{FF2B5EF4-FFF2-40B4-BE49-F238E27FC236}">
                <a16:creationId xmlns:a16="http://schemas.microsoft.com/office/drawing/2014/main" id="{2F0530DA-DECE-49D4-A5A8-4F081D0F7286}"/>
              </a:ext>
            </a:extLst>
          </p:cNvPr>
          <p:cNvSpPr>
            <a:spLocks xmlns:a="http://schemas.openxmlformats.org/drawingml/2006/main" noGrp="1"/>
          </p:cNvSpPr>
          <p:nvPr/>
        </p:nvSpPr>
        <p:spPr>
          <a:xfrm xmlns:a="http://schemas.openxmlformats.org/drawingml/2006/main">
            <a:off x="2428875" y="5486400"/>
            <a:ext cx="6953250" cy="0"/>
          </a:xfrm>
          <a:prstGeom xmlns:a="http://schemas.openxmlformats.org/drawingml/2006/main" prst="line">
            <a:avLst/>
          </a:prstGeom>
          <a:noFill xmlns:a="http://schemas.openxmlformats.org/drawingml/2006/main"/>
          <a:ln xmlns:a="http://schemas.openxmlformats.org/drawingml/2006/main" w="9525">
            <a:solidFill>
              <a:srgbClr val="D7D1C5"/>
            </a:solidFill>
            <a:prstDash val="solid"/>
          </a:ln>
        </p:spPr>
      </p:sp>
      <p:sp>
        <p:nvSpPr>
          <p:cNvPr id="12" name="client-number-3">
            <a:extLst xmlns:a="http://schemas.openxmlformats.org/drawingml/2006/main">
              <a:ext uri="{FF2B5EF4-FFF2-40B4-BE49-F238E27FC236}">
                <a16:creationId xmlns:a16="http://schemas.microsoft.com/office/drawing/2014/main" id="{844737A0-4B92-4660-9851-815EC7125D23}"/>
              </a:ext>
            </a:extLst>
          </p:cNvPr>
          <p:cNvSpPr>
            <a:spLocks xmlns:a="http://schemas.openxmlformats.org/drawingml/2006/main" noGrp="1"/>
          </p:cNvSpPr>
          <p:nvPr/>
        </p:nvSpPr>
        <p:spPr>
          <a:xfrm xmlns:a="http://schemas.openxmlformats.org/drawingml/2006/main">
            <a:off x="8172450" y="5943600"/>
            <a:ext cx="1200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100" b="1">
                <a:solidFill>
                  <a:srgbClr val="2E6A4F"/>
                </a:solidFill>
                <a:latin typeface="Arial"/>
                <a:ea typeface="Arial"/>
                <a:cs typeface="Arial"/>
              </a:defRPr>
            </a:pPr>
            <a:r>
              <a:rPr sz="2100" b="1">
                <a:solidFill>
                  <a:srgbClr val="2E6A4F"/>
                </a:solidFill>
                <a:latin typeface="Arial"/>
                <a:ea typeface="Arial"/>
                <a:cs typeface="Arial"/>
              </a:rPr>
              <a:t>04</a:t>
            </a:r>
          </a:p>
        </p:txBody>
      </p:sp>
      <p:sp>
        <p:nvSpPr>
          <p:cNvPr id="13" name="client-label-3">
            <a:extLst xmlns:a="http://schemas.openxmlformats.org/drawingml/2006/main">
              <a:ext uri="{FF2B5EF4-FFF2-40B4-BE49-F238E27FC236}">
                <a16:creationId xmlns:a16="http://schemas.microsoft.com/office/drawing/2014/main" id="{0A417F01-A06C-495B-AA4F-1268FEB3750F}"/>
              </a:ext>
            </a:extLst>
          </p:cNvPr>
          <p:cNvSpPr>
            <a:spLocks xmlns:a="http://schemas.openxmlformats.org/drawingml/2006/main" noGrp="1"/>
          </p:cNvSpPr>
          <p:nvPr/>
        </p:nvSpPr>
        <p:spPr>
          <a:xfrm xmlns:a="http://schemas.openxmlformats.org/drawingml/2006/main">
            <a:off x="2428875" y="5924550"/>
            <a:ext cx="523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250" b="1" lang="he-IL">
                <a:solidFill>
                  <a:srgbClr val="171816"/>
                </a:solidFill>
                <a:latin typeface="Arial"/>
                <a:ea typeface="Arial"/>
                <a:cs typeface="Arial"/>
              </a:defRPr>
            </a:pPr>
            <a:r>
              <a:rPr sz="2250" b="1" lang="he-IL">
                <a:solidFill>
                  <a:srgbClr val="171816"/>
                </a:solidFill>
                <a:latin typeface="Arial"/>
                <a:ea typeface="Arial"/>
                <a:cs typeface="Arial"/>
              </a:rPr>
              <a:t>הפעלה הדרגתית ובקרה</a:t>
            </a:r>
          </a:p>
        </p:txBody>
      </p:sp>
      <p:sp>
        <p:nvSpPr>
          <p:cNvPr id="14" name="status-block">
            <a:extLst xmlns:a="http://schemas.openxmlformats.org/drawingml/2006/main">
              <a:ext uri="{FF2B5EF4-FFF2-40B4-BE49-F238E27FC236}">
                <a16:creationId xmlns:a16="http://schemas.microsoft.com/office/drawing/2014/main" id="{D7E609E8-6D75-41BC-B21F-5923734C7216}"/>
              </a:ext>
            </a:extLst>
          </p:cNvPr>
          <p:cNvSpPr>
            <a:spLocks xmlns:a="http://schemas.openxmlformats.org/drawingml/2006/main" noGrp="1"/>
          </p:cNvSpPr>
          <p:nvPr/>
        </p:nvSpPr>
        <p:spPr>
          <a:xfrm xmlns:a="http://schemas.openxmlformats.org/drawingml/2006/main">
            <a:off x="819150" y="7239000"/>
            <a:ext cx="8648700" cy="2133600"/>
          </a:xfrm>
          <a:prstGeom xmlns:a="http://schemas.openxmlformats.org/drawingml/2006/main" prst="rect">
            <a:avLst/>
          </a:prstGeom>
          <a:solidFill xmlns:a="http://schemas.openxmlformats.org/drawingml/2006/main">
            <a:srgbClr val="FBF9F5"/>
          </a:solidFill>
          <a:ln xmlns:a="http://schemas.openxmlformats.org/drawingml/2006/main" w="9525">
            <a:solidFill>
              <a:srgbClr val="D7D1C5"/>
            </a:solidFill>
            <a:prstDash val="solid"/>
          </a:ln>
        </p:spPr>
      </p:sp>
      <p:sp>
        <p:nvSpPr>
          <p:cNvPr id="15" name="status-heading">
            <a:extLst xmlns:a="http://schemas.openxmlformats.org/drawingml/2006/main">
              <a:ext uri="{FF2B5EF4-FFF2-40B4-BE49-F238E27FC236}">
                <a16:creationId xmlns:a16="http://schemas.microsoft.com/office/drawing/2014/main" id="{7FC919DB-5C83-4621-97C8-0E26A2729258}"/>
              </a:ext>
            </a:extLst>
          </p:cNvPr>
          <p:cNvSpPr>
            <a:spLocks xmlns:a="http://schemas.openxmlformats.org/drawingml/2006/main" noGrp="1"/>
          </p:cNvSpPr>
          <p:nvPr/>
        </p:nvSpPr>
        <p:spPr>
          <a:xfrm xmlns:a="http://schemas.openxmlformats.org/drawingml/2006/main">
            <a:off x="1428750" y="7620000"/>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00" b="1" lang="he-IL">
                <a:solidFill>
                  <a:srgbClr val="2458C6"/>
                </a:solidFill>
                <a:latin typeface="Arial"/>
                <a:ea typeface="Arial"/>
                <a:cs typeface="Arial"/>
              </a:defRPr>
            </a:pPr>
            <a:r>
              <a:rPr sz="2100" b="1" lang="he-IL">
                <a:solidFill>
                  <a:srgbClr val="2458C6"/>
                </a:solidFill>
                <a:latin typeface="Arial"/>
                <a:ea typeface="Arial"/>
                <a:cs typeface="Arial"/>
              </a:rPr>
              <a:t>איפה הדברים עומדים היום</a:t>
            </a:r>
          </a:p>
        </p:txBody>
      </p:sp>
      <p:sp>
        <p:nvSpPr>
          <p:cNvPr id="16" name="status-copy">
            <a:extLst xmlns:a="http://schemas.openxmlformats.org/drawingml/2006/main">
              <a:ext uri="{FF2B5EF4-FFF2-40B4-BE49-F238E27FC236}">
                <a16:creationId xmlns:a16="http://schemas.microsoft.com/office/drawing/2014/main" id="{85D376E5-621B-4217-8CE3-1283753110B9}"/>
              </a:ext>
            </a:extLst>
          </p:cNvPr>
          <p:cNvSpPr>
            <a:spLocks xmlns:a="http://schemas.openxmlformats.org/drawingml/2006/main" noGrp="1"/>
          </p:cNvSpPr>
          <p:nvPr/>
        </p:nvSpPr>
        <p:spPr>
          <a:xfrm xmlns:a="http://schemas.openxmlformats.org/drawingml/2006/main">
            <a:off x="1428750" y="8267700"/>
            <a:ext cx="7429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defRPr sz="1725" b="0" lang="he-IL">
                <a:solidFill>
                  <a:srgbClr val="171816"/>
                </a:solidFill>
                <a:latin typeface="Arial"/>
                <a:ea typeface="Arial"/>
                <a:cs typeface="Arial"/>
              </a:defRPr>
            </a:pPr>
            <a:r>
              <a:rPr sz="1725" b="0" lang="he-IL">
                <a:solidFill>
                  <a:srgbClr val="171816"/>
                </a:solidFill>
                <a:latin typeface="Arial"/>
                <a:ea typeface="Arial"/>
                <a:cs typeface="Arial"/>
              </a:rPr>
              <a:t>המערכת המלאה פועלת מאז [חודש ושנה]. התקופה עדיין קצרה מכדי להציג אותה כהוכחת ביצועים. השלב הנוכחי מתמקד בהפעלה מדודה, תיעוד ובקרה.</a:t>
            </a:r>
          </a:p>
        </p:txBody>
      </p:sp>
      <p:sp>
        <p:nvSpPr>
          <p:cNvPr id="17" name="cta-bg">
            <a:extLst xmlns:a="http://schemas.openxmlformats.org/drawingml/2006/main">
              <a:ext uri="{FF2B5EF4-FFF2-40B4-BE49-F238E27FC236}">
                <a16:creationId xmlns:a16="http://schemas.microsoft.com/office/drawing/2014/main" id="{66D04371-D8BB-4146-90A3-B66C2D7692A1}"/>
              </a:ext>
            </a:extLst>
          </p:cNvPr>
          <p:cNvSpPr>
            <a:spLocks xmlns:a="http://schemas.openxmlformats.org/drawingml/2006/main" noGrp="1"/>
          </p:cNvSpPr>
          <p:nvPr/>
        </p:nvSpPr>
        <p:spPr>
          <a:xfrm xmlns:a="http://schemas.openxmlformats.org/drawingml/2006/main">
            <a:off x="0" y="9858375"/>
            <a:ext cx="10287000" cy="3000375"/>
          </a:xfrm>
          <a:prstGeom xmlns:a="http://schemas.openxmlformats.org/drawingml/2006/main" prst="rect">
            <a:avLst/>
          </a:prstGeom>
          <a:solidFill xmlns:a="http://schemas.openxmlformats.org/drawingml/2006/main">
            <a:srgbClr val="171816"/>
          </a:solidFill>
          <a:ln xmlns:a="http://schemas.openxmlformats.org/drawingml/2006/main" w="0">
            <a:noFill/>
            <a:prstDash val="solid"/>
          </a:ln>
        </p:spPr>
      </p:sp>
      <p:sp>
        <p:nvSpPr>
          <p:cNvPr id="18" name="cta-title">
            <a:extLst xmlns:a="http://schemas.openxmlformats.org/drawingml/2006/main">
              <a:ext uri="{FF2B5EF4-FFF2-40B4-BE49-F238E27FC236}">
                <a16:creationId xmlns:a16="http://schemas.microsoft.com/office/drawing/2014/main" id="{FEC646CF-F701-4BEC-BF08-C361B9283E48}"/>
              </a:ext>
            </a:extLst>
          </p:cNvPr>
          <p:cNvSpPr>
            <a:spLocks xmlns:a="http://schemas.openxmlformats.org/drawingml/2006/main" noGrp="1"/>
          </p:cNvSpPr>
          <p:nvPr/>
        </p:nvSpPr>
        <p:spPr>
          <a:xfrm xmlns:a="http://schemas.openxmlformats.org/drawingml/2006/main">
            <a:off x="819150" y="10382250"/>
            <a:ext cx="8648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3150" b="1" lang="he-IL">
                <a:solidFill>
                  <a:srgbClr val="FFFFFF"/>
                </a:solidFill>
                <a:latin typeface="Arial"/>
                <a:ea typeface="Arial"/>
                <a:cs typeface="Arial"/>
              </a:defRPr>
            </a:pPr>
            <a:r>
              <a:rPr sz="3150" b="1" lang="he-IL">
                <a:solidFill>
                  <a:srgbClr val="FFFFFF"/>
                </a:solidFill>
                <a:latin typeface="Arial"/>
                <a:ea typeface="Arial"/>
                <a:cs typeface="Arial"/>
              </a:rPr>
              <a:t>אם הגישה רלוונטית,</a:t>
            </a:r>
          </a:p>
          <a:p xmlns:a="http://schemas.openxmlformats.org/drawingml/2006/main">
            <a:pPr algn="r" rtl="1">
              <a:defRPr sz="3150" b="1" lang="he-IL">
                <a:solidFill>
                  <a:srgbClr val="FFFFFF"/>
                </a:solidFill>
                <a:latin typeface="Arial"/>
                <a:ea typeface="Arial"/>
                <a:cs typeface="Arial"/>
              </a:defRPr>
            </a:pPr>
            <a:r>
              <a:rPr sz="3150" b="1" lang="he-IL">
                <a:solidFill>
                  <a:srgbClr val="FFFFFF"/>
                </a:solidFill>
                <a:latin typeface="Arial"/>
                <a:ea typeface="Arial"/>
                <a:cs typeface="Arial"/>
              </a:rPr>
              <a:t>אשמח לשיחת היכרות.</a:t>
            </a:r>
          </a:p>
        </p:txBody>
      </p:sp>
      <p:sp>
        <p:nvSpPr>
          <p:cNvPr id="19" name="cta-contact">
            <a:extLst xmlns:a="http://schemas.openxmlformats.org/drawingml/2006/main">
              <a:ext uri="{FF2B5EF4-FFF2-40B4-BE49-F238E27FC236}">
                <a16:creationId xmlns:a16="http://schemas.microsoft.com/office/drawing/2014/main" id="{A7B2AC01-C75F-4C71-B5EB-DA0D3BA13F63}"/>
              </a:ext>
            </a:extLst>
          </p:cNvPr>
          <p:cNvSpPr>
            <a:spLocks xmlns:a="http://schemas.openxmlformats.org/drawingml/2006/main" noGrp="1"/>
          </p:cNvSpPr>
          <p:nvPr/>
        </p:nvSpPr>
        <p:spPr>
          <a:xfrm xmlns:a="http://schemas.openxmlformats.org/drawingml/2006/main">
            <a:off x="819150" y="11811000"/>
            <a:ext cx="864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500" b="0" lang="he-IL">
                <a:solidFill>
                  <a:srgbClr val="D7D8D4"/>
                </a:solidFill>
                <a:latin typeface="Arial"/>
                <a:ea typeface="Arial"/>
                <a:cs typeface="Arial"/>
              </a:defRPr>
            </a:pPr>
            <a:r>
              <a:rPr sz="1500" b="0" lang="he-IL">
                <a:solidFill>
                  <a:srgbClr val="D7D8D4"/>
                </a:solidFill>
                <a:latin typeface="Arial"/>
                <a:ea typeface="Arial"/>
                <a:cs typeface="Arial"/>
              </a:rPr>
              <a:t>[שם מלא]  ·  [טלפון]  ·  [דוא"ל]</a:t>
            </a:r>
          </a:p>
        </p:txBody>
      </p:sp>
    </p:spTree>
    <p:extLst>
      <p:ext uri="{BB962C8B-B14F-4D97-AF65-F5344CB8AC3E}">
        <p14:creationId xmlns:p14="http://schemas.microsoft.com/office/powerpoint/2010/main" val="11367138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2026-08-14T20:10:35.0960000Z</dcterms:created>
  <dcterms:modified xsi:type="dcterms:W3CDTF">2026-08-14T20:10:35.0960000Z</dcterms:modified>
</coreProperties>
</file>